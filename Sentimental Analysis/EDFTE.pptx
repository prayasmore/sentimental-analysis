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58" r:id="rId4"/>
    <p:sldId id="259" r:id="rId5"/>
    <p:sldId id="286" r:id="rId6"/>
    <p:sldId id="260" r:id="rId7"/>
    <p:sldId id="294" r:id="rId8"/>
    <p:sldId id="283" r:id="rId9"/>
    <p:sldId id="262" r:id="rId10"/>
    <p:sldId id="287" r:id="rId11"/>
    <p:sldId id="269" r:id="rId12"/>
    <p:sldId id="290" r:id="rId13"/>
    <p:sldId id="291" r:id="rId14"/>
    <p:sldId id="292" r:id="rId15"/>
    <p:sldId id="289" r:id="rId16"/>
    <p:sldId id="264" r:id="rId17"/>
    <p:sldId id="280" r:id="rId18"/>
    <p:sldId id="297" r:id="rId19"/>
    <p:sldId id="293" r:id="rId20"/>
    <p:sldId id="276" r:id="rId21"/>
    <p:sldId id="277" r:id="rId22"/>
    <p:sldId id="275"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0" d="100"/>
          <a:sy n="60" d="100"/>
        </p:scale>
        <p:origin x="-1104" y="-3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940800" y="4206240"/>
            <a:ext cx="1280160" cy="457200"/>
          </a:xfrm>
        </p:spPr>
        <p:txBody>
          <a:bodyPr/>
          <a:lstStyle/>
          <a:p>
            <a:fld id="{E9AB1619-24DE-4F9D-8B10-74E05BEF234B}" type="datetimeFigureOut">
              <a:rPr lang="en-IN" smtClean="0"/>
              <a:t>25-04-2019</a:t>
            </a:fld>
            <a:endParaRPr lang="en-IN"/>
          </a:p>
        </p:txBody>
      </p:sp>
      <p:sp>
        <p:nvSpPr>
          <p:cNvPr id="17" name="Footer Placeholder 16"/>
          <p:cNvSpPr>
            <a:spLocks noGrp="1"/>
          </p:cNvSpPr>
          <p:nvPr>
            <p:ph type="ftr" sz="quarter" idx="11"/>
          </p:nvPr>
        </p:nvSpPr>
        <p:spPr>
          <a:xfrm>
            <a:off x="7213600" y="4205288"/>
            <a:ext cx="1727200" cy="457200"/>
          </a:xfrm>
        </p:spPr>
        <p:txBody>
          <a:bodyPr/>
          <a:lstStyle/>
          <a:p>
            <a:endParaRPr lang="en-IN"/>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C359D7D9-F924-47E1-8959-C402780188D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25-04-2019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9AB1619-24DE-4F9D-8B10-74E05BEF234B}" type="datetimeFigureOut">
              <a:rPr lang="en-IN" smtClean="0"/>
              <a:t>25-04-2019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25-04-2019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E9AB1619-24DE-4F9D-8B10-74E05BEF234B}" type="datetimeFigureOut">
              <a:rPr lang="en-IN" smtClean="0"/>
              <a:t>25-04-2019</a:t>
            </a:fld>
            <a:endParaRPr lang="en-IN"/>
          </a:p>
        </p:txBody>
      </p:sp>
      <p:sp>
        <p:nvSpPr>
          <p:cNvPr id="27" name="Slide Number Placeholder 26"/>
          <p:cNvSpPr>
            <a:spLocks noGrp="1"/>
          </p:cNvSpPr>
          <p:nvPr>
            <p:ph type="sldNum" sz="quarter" idx="11"/>
          </p:nvPr>
        </p:nvSpPr>
        <p:spPr/>
        <p:txBody>
          <a:bodyPr rtlCol="0"/>
          <a:lstStyle/>
          <a:p>
            <a:fld id="{C359D7D9-F924-47E1-8959-C402780188D9}"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8778240" y="612648"/>
            <a:ext cx="1276352" cy="457200"/>
          </a:xfrm>
        </p:spPr>
        <p:txBody>
          <a:bodyPr/>
          <a:lstStyle/>
          <a:p>
            <a:fld id="{E9AB1619-24DE-4F9D-8B10-74E05BEF234B}" type="datetimeFigureOut">
              <a:rPr lang="en-IN" smtClean="0"/>
              <a:t>25-04-2019</a:t>
            </a:fld>
            <a:endParaRPr lang="en-IN"/>
          </a:p>
        </p:txBody>
      </p:sp>
      <p:sp>
        <p:nvSpPr>
          <p:cNvPr id="4" name="Footer Placeholder 3"/>
          <p:cNvSpPr>
            <a:spLocks noGrp="1"/>
          </p:cNvSpPr>
          <p:nvPr>
            <p:ph type="ftr" sz="quarter" idx="11"/>
          </p:nvPr>
        </p:nvSpPr>
        <p:spPr>
          <a:xfrm>
            <a:off x="7010400" y="612648"/>
            <a:ext cx="1767840" cy="457200"/>
          </a:xfrm>
        </p:spPr>
        <p:txBody>
          <a:bodyPr/>
          <a:lstStyle/>
          <a:p>
            <a:endParaRPr lang="en-IN"/>
          </a:p>
        </p:txBody>
      </p:sp>
      <p:sp>
        <p:nvSpPr>
          <p:cNvPr id="5" name="Slide Number Placeholder 4"/>
          <p:cNvSpPr>
            <a:spLocks noGrp="1"/>
          </p:cNvSpPr>
          <p:nvPr>
            <p:ph type="sldNum" sz="quarter" idx="12"/>
          </p:nvPr>
        </p:nvSpPr>
        <p:spPr>
          <a:xfrm>
            <a:off x="10899648" y="2272"/>
            <a:ext cx="1016000" cy="365760"/>
          </a:xfrm>
        </p:spPr>
        <p:txBody>
          <a:bodyPr/>
          <a:lstStyle/>
          <a:p>
            <a:fld id="{C359D7D9-F924-47E1-8959-C402780188D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AB1619-24DE-4F9D-8B10-74E05BEF234B}" type="datetimeFigureOut">
              <a:rPr lang="en-IN" smtClean="0"/>
              <a:t>25-04-2019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25-04-2019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9AB1619-24DE-4F9D-8B10-74E05BEF234B}" type="datetimeFigureOut">
              <a:rPr lang="en-IN" smtClean="0"/>
              <a:t>25-04-2019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25-04-2019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25-04-2019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E9AB1619-24DE-4F9D-8B10-74E05BEF234B}" type="datetimeFigureOut">
              <a:rPr lang="en-IN" smtClean="0"/>
              <a:t>25-04-2019</a:t>
            </a:fld>
            <a:endParaRPr lang="en-IN"/>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C359D7D9-F924-47E1-8959-C402780188D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9846" y="899625"/>
            <a:ext cx="9144000" cy="1826899"/>
          </a:xfrm>
        </p:spPr>
        <p:txBody>
          <a:bodyPr>
            <a:normAutofit/>
          </a:bodyPr>
          <a:lstStyle/>
          <a:p>
            <a:r>
              <a:rPr lang="en-US" sz="5400" dirty="0">
                <a:latin typeface="Algerian" panose="04020705040A02060702" pitchFamily="82" charset="0"/>
              </a:rPr>
              <a:t>Emotion Detection From Tweets And Emoticons</a:t>
            </a:r>
            <a:endParaRPr lang="en-IN" sz="5400" dirty="0">
              <a:latin typeface="Algerian" panose="04020705040A02060702" pitchFamily="82" charset="0"/>
              <a:cs typeface="Times New Roman" panose="02020603050405020304" pitchFamily="18" charset="0"/>
            </a:endParaRPr>
          </a:p>
        </p:txBody>
      </p:sp>
      <p:sp>
        <p:nvSpPr>
          <p:cNvPr id="3" name="Subtitle 2"/>
          <p:cNvSpPr>
            <a:spLocks noGrp="1"/>
          </p:cNvSpPr>
          <p:nvPr>
            <p:ph type="subTitle" idx="1"/>
          </p:nvPr>
        </p:nvSpPr>
        <p:spPr>
          <a:xfrm>
            <a:off x="2719754" y="3947375"/>
            <a:ext cx="9144000" cy="2910625"/>
          </a:xfrm>
        </p:spPr>
        <p:txBody>
          <a:bodyPr>
            <a:normAutofit/>
          </a:bodyPr>
          <a:lstStyle/>
          <a:p>
            <a:r>
              <a:rPr lang="en-US" b="1" dirty="0"/>
              <a:t>  		</a:t>
            </a:r>
          </a:p>
          <a:p>
            <a:r>
              <a:rPr lang="en-US" b="1" dirty="0"/>
              <a:t>                                                      Made by-</a:t>
            </a:r>
          </a:p>
          <a:p>
            <a:pPr algn="r"/>
            <a:r>
              <a:rPr lang="en-US" dirty="0"/>
              <a:t>				                     Jain Rajat Ashok(22)</a:t>
            </a:r>
          </a:p>
          <a:p>
            <a:pPr algn="r"/>
            <a:r>
              <a:rPr lang="en-US" dirty="0"/>
              <a:t>					  Dubey Arun Kumar Vyas (14)</a:t>
            </a:r>
          </a:p>
          <a:p>
            <a:pPr lvl="0" algn="r"/>
            <a:r>
              <a:rPr lang="en-US" dirty="0"/>
              <a:t>					 Kshatriya Sawan </a:t>
            </a:r>
            <a:r>
              <a:rPr lang="en-US" dirty="0" err="1"/>
              <a:t>Ranjan</a:t>
            </a:r>
            <a:r>
              <a:rPr lang="en-US" dirty="0"/>
              <a:t>(32)</a:t>
            </a:r>
          </a:p>
          <a:p>
            <a:pPr algn="r"/>
            <a:r>
              <a:rPr lang="en-US" dirty="0"/>
              <a:t>					Shukla </a:t>
            </a:r>
            <a:r>
              <a:rPr lang="en-US" dirty="0" err="1"/>
              <a:t>Pratyush</a:t>
            </a:r>
            <a:r>
              <a:rPr lang="en-US" dirty="0"/>
              <a:t> Suresh(58)</a:t>
            </a:r>
          </a:p>
          <a:p>
            <a:pPr algn="r"/>
            <a:endParaRPr lang="en-IN" dirty="0"/>
          </a:p>
        </p:txBody>
      </p:sp>
    </p:spTree>
    <p:extLst>
      <p:ext uri="{BB962C8B-B14F-4D97-AF65-F5344CB8AC3E}">
        <p14:creationId xmlns:p14="http://schemas.microsoft.com/office/powerpoint/2010/main" val="28332743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93" y="381001"/>
            <a:ext cx="10972800" cy="1066800"/>
          </a:xfrm>
        </p:spPr>
        <p:txBody>
          <a:bodyPr>
            <a:normAutofit/>
          </a:bodyPr>
          <a:lstStyle/>
          <a:p>
            <a:r>
              <a:rPr lang="en-US" sz="3600" b="1" dirty="0" smtClean="0">
                <a:solidFill>
                  <a:schemeClr val="accent6"/>
                </a:solidFill>
                <a:latin typeface="Arial" pitchFamily="34" charset="0"/>
                <a:cs typeface="Arial" pitchFamily="34" charset="0"/>
              </a:rPr>
              <a:t>Why Twitter Sentiment Analysis?</a:t>
            </a:r>
            <a:endParaRPr lang="en-US" sz="3600"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22030" y="1512277"/>
            <a:ext cx="11359662" cy="5181599"/>
          </a:xfrm>
        </p:spPr>
        <p:txBody>
          <a:bodyPr>
            <a:normAutofit/>
          </a:bodyPr>
          <a:lstStyle/>
          <a:p>
            <a:pPr lvl="1">
              <a:buFont typeface="Wingdings" pitchFamily="2" charset="2"/>
              <a:buChar char="§"/>
              <a:tabLst>
                <a:tab pos="180000" algn="l"/>
              </a:tabLst>
            </a:pPr>
            <a:r>
              <a:rPr lang="en-US" sz="2000" dirty="0">
                <a:solidFill>
                  <a:schemeClr val="tx1"/>
                </a:solidFill>
                <a:latin typeface="Arial" pitchFamily="34" charset="0"/>
                <a:cs typeface="Arial" pitchFamily="34" charset="0"/>
              </a:rPr>
              <a:t>Micro blogging sites have millions of people sharing their thoughts daily because of its characteristic short and simple manner of expression. We propose and investigate a paradigm to mine the sentiment from a popular real-time micro blogging service, Twitter, where users post real time reactions to and opinions about “everything”.</a:t>
            </a:r>
          </a:p>
          <a:p>
            <a:pPr marL="411480" lvl="1" indent="0">
              <a:buNone/>
              <a:tabLst>
                <a:tab pos="180000" algn="l"/>
              </a:tabLst>
            </a:pPr>
            <a:endParaRPr lang="en-US" sz="2000" dirty="0">
              <a:solidFill>
                <a:schemeClr val="tx1"/>
              </a:solidFill>
              <a:latin typeface="Arial" pitchFamily="34" charset="0"/>
              <a:cs typeface="Arial" pitchFamily="34" charset="0"/>
            </a:endParaRPr>
          </a:p>
          <a:p>
            <a:pPr lvl="1">
              <a:buFont typeface="Wingdings" pitchFamily="2" charset="2"/>
              <a:buChar char="§"/>
              <a:tabLst>
                <a:tab pos="180000" algn="l"/>
              </a:tabLst>
            </a:pPr>
            <a:r>
              <a:rPr lang="en-US" sz="2000" dirty="0">
                <a:solidFill>
                  <a:schemeClr val="tx1"/>
                </a:solidFill>
                <a:latin typeface="Arial" pitchFamily="34" charset="0"/>
                <a:cs typeface="Arial" pitchFamily="34" charset="0"/>
              </a:rPr>
              <a:t> Social networking sites like twitter, Facebook, etc. are the great source of communication for  internet users. So these become an important source for understanding the opinions, views or emotions of people. </a:t>
            </a:r>
          </a:p>
          <a:p>
            <a:pPr lvl="1">
              <a:buFont typeface="Wingdings" pitchFamily="2" charset="2"/>
              <a:buChar char="§"/>
              <a:tabLst>
                <a:tab pos="180000" algn="l"/>
              </a:tabLst>
            </a:pPr>
            <a:endParaRPr lang="en-US" sz="2000" dirty="0">
              <a:solidFill>
                <a:schemeClr val="tx1"/>
              </a:solidFill>
              <a:latin typeface="Arial" pitchFamily="34" charset="0"/>
              <a:cs typeface="Arial" pitchFamily="34" charset="0"/>
            </a:endParaRPr>
          </a:p>
          <a:p>
            <a:pPr lvl="1">
              <a:buFont typeface="Wingdings" pitchFamily="2" charset="2"/>
              <a:buChar char="§"/>
              <a:tabLst>
                <a:tab pos="180000" algn="l"/>
              </a:tabLst>
            </a:pPr>
            <a:r>
              <a:rPr lang="en-US" sz="2000" dirty="0">
                <a:solidFill>
                  <a:schemeClr val="tx1"/>
                </a:solidFill>
                <a:latin typeface="Arial" pitchFamily="34" charset="0"/>
                <a:cs typeface="Arial" pitchFamily="34" charset="0"/>
              </a:rPr>
              <a:t>We extract data, i.e. tweets from Twitter in real time and apply machine learning techniques to convert them into a useful form and then use it for building sentiment classifier. Given a piece of written text, the problem is to categorize the text into one specific sentiment polarity i.e. positive, negative or neutral</a:t>
            </a:r>
            <a:r>
              <a:rPr lang="en-US" sz="1800" dirty="0">
                <a:solidFill>
                  <a:schemeClr val="tx1"/>
                </a:solidFill>
                <a:latin typeface="Arial" pitchFamily="34" charset="0"/>
                <a:cs typeface="Arial" pitchFamily="34" charset="0"/>
              </a:rPr>
              <a:t>.</a:t>
            </a:r>
            <a:endParaRPr lang="en-IN" sz="1800" dirty="0">
              <a:solidFill>
                <a:schemeClr val="tx1"/>
              </a:solidFill>
              <a:latin typeface="Arial" pitchFamily="34" charset="0"/>
              <a:cs typeface="Arial" pitchFamily="34" charset="0"/>
            </a:endParaRPr>
          </a:p>
          <a:p>
            <a:pPr marL="109728" indent="0">
              <a:buNone/>
            </a:pPr>
            <a:endParaRPr lang="en-US" dirty="0"/>
          </a:p>
        </p:txBody>
      </p:sp>
    </p:spTree>
    <p:extLst>
      <p:ext uri="{BB962C8B-B14F-4D97-AF65-F5344CB8AC3E}">
        <p14:creationId xmlns:p14="http://schemas.microsoft.com/office/powerpoint/2010/main" val="2823781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16" y="463062"/>
            <a:ext cx="10972800" cy="1066800"/>
          </a:xfrm>
        </p:spPr>
        <p:txBody>
          <a:bodyPr>
            <a:normAutofit/>
          </a:bodyPr>
          <a:lstStyle/>
          <a:p>
            <a:r>
              <a:rPr lang="en-US" sz="3600" b="1" dirty="0">
                <a:solidFill>
                  <a:schemeClr val="accent6"/>
                </a:solidFill>
                <a:latin typeface="Arial" pitchFamily="34" charset="0"/>
                <a:cs typeface="Arial" pitchFamily="34" charset="0"/>
              </a:rPr>
              <a:t>Problem Statement</a:t>
            </a:r>
            <a:endParaRPr lang="en-IN" sz="3600"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27538" y="1592932"/>
            <a:ext cx="10972800" cy="4325112"/>
          </a:xfrm>
        </p:spPr>
        <p:txBody>
          <a:bodyPr/>
          <a:lstStyle/>
          <a:p>
            <a:pPr marL="109728" indent="0">
              <a:buNone/>
            </a:pPr>
            <a:r>
              <a:rPr lang="en-US" dirty="0">
                <a:solidFill>
                  <a:schemeClr val="accent6"/>
                </a:solidFill>
              </a:rPr>
              <a:t>•</a:t>
            </a:r>
            <a:r>
              <a:rPr lang="en-US" dirty="0"/>
              <a:t> </a:t>
            </a:r>
            <a:r>
              <a:rPr lang="en-US" sz="2600" b="1" dirty="0"/>
              <a:t>Text Level Analysis:</a:t>
            </a:r>
          </a:p>
          <a:p>
            <a:pPr>
              <a:buFont typeface="Wingdings" pitchFamily="2" charset="2"/>
              <a:buChar char="ü"/>
            </a:pPr>
            <a:r>
              <a:rPr lang="en-US" sz="2600" dirty="0"/>
              <a:t>   Given a message, we decide whether the message is of positive  negative or neutral sentiment. </a:t>
            </a:r>
          </a:p>
          <a:p>
            <a:pPr marL="109728" indent="0">
              <a:buNone/>
            </a:pPr>
            <a:endParaRPr lang="en-US" sz="2600" dirty="0"/>
          </a:p>
          <a:p>
            <a:pPr>
              <a:buFont typeface="Wingdings" pitchFamily="2" charset="2"/>
              <a:buChar char="ü"/>
            </a:pPr>
            <a:r>
              <a:rPr lang="en-US" sz="2600" dirty="0"/>
              <a:t>   For messages conveying both a positive, negative sentiment, whichever is the stronger sentiment should be chosen.</a:t>
            </a:r>
          </a:p>
          <a:p>
            <a:pPr marL="109728" indent="0">
              <a:buNone/>
            </a:pPr>
            <a:endParaRPr lang="en-US" sz="2600" dirty="0"/>
          </a:p>
          <a:p>
            <a:pPr marL="109728" indent="0">
              <a:buNone/>
            </a:pPr>
            <a:r>
              <a:rPr lang="en-US" sz="2600" dirty="0">
                <a:solidFill>
                  <a:schemeClr val="accent6"/>
                </a:solidFill>
              </a:rPr>
              <a:t>•</a:t>
            </a:r>
            <a:r>
              <a:rPr lang="en-US" sz="2600" b="1" dirty="0"/>
              <a:t>Emojis Level Analysis :</a:t>
            </a:r>
          </a:p>
          <a:p>
            <a:pPr marL="109728" indent="0">
              <a:buNone/>
            </a:pPr>
            <a:r>
              <a:rPr lang="en-US" sz="2600" dirty="0"/>
              <a:t>	Given a Emoji whether that instance is positive, negative in that context.</a:t>
            </a:r>
          </a:p>
          <a:p>
            <a:pPr marL="0" indent="0">
              <a:buNone/>
            </a:pPr>
            <a:endParaRPr lang="en-IN" dirty="0"/>
          </a:p>
        </p:txBody>
      </p:sp>
    </p:spTree>
    <p:extLst>
      <p:ext uri="{BB962C8B-B14F-4D97-AF65-F5344CB8AC3E}">
        <p14:creationId xmlns:p14="http://schemas.microsoft.com/office/powerpoint/2010/main" val="421204281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754" y="662353"/>
            <a:ext cx="10972800" cy="1066800"/>
          </a:xfrm>
        </p:spPr>
        <p:txBody>
          <a:bodyPr/>
          <a:lstStyle/>
          <a:p>
            <a:r>
              <a:rPr lang="en-US" b="1" dirty="0">
                <a:solidFill>
                  <a:schemeClr val="accent6"/>
                </a:solidFill>
                <a:latin typeface="Arial" pitchFamily="34" charset="0"/>
                <a:cs typeface="Arial" pitchFamily="34" charset="0"/>
              </a:rPr>
              <a:t>Objective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50984" y="1921178"/>
            <a:ext cx="11207262" cy="4325112"/>
          </a:xfrm>
        </p:spPr>
        <p:txBody>
          <a:bodyPr>
            <a:normAutofit/>
          </a:bodyPr>
          <a:lstStyle/>
          <a:p>
            <a:pPr>
              <a:buFont typeface="Wingdings" pitchFamily="2" charset="2"/>
              <a:buChar char="§"/>
            </a:pPr>
            <a:r>
              <a:rPr lang="en-US" sz="2600" dirty="0">
                <a:latin typeface="Arial" pitchFamily="34" charset="0"/>
                <a:cs typeface="Arial" pitchFamily="34" charset="0"/>
              </a:rPr>
              <a:t>Using algorithm to classify text and emoticons into positive, </a:t>
            </a:r>
            <a:r>
              <a:rPr lang="en-US" sz="2600" dirty="0" smtClean="0">
                <a:latin typeface="Arial" pitchFamily="34" charset="0"/>
                <a:cs typeface="Arial" pitchFamily="34" charset="0"/>
              </a:rPr>
              <a:t>negative.</a:t>
            </a:r>
            <a:endParaRPr lang="en-US" sz="2600" dirty="0">
              <a:latin typeface="Arial" pitchFamily="34" charset="0"/>
              <a:cs typeface="Arial" pitchFamily="34" charset="0"/>
            </a:endParaRPr>
          </a:p>
          <a:p>
            <a:pPr marL="109728" indent="0">
              <a:buNone/>
            </a:pPr>
            <a:endParaRPr lang="en-US" sz="2600" dirty="0">
              <a:latin typeface="Arial" pitchFamily="34" charset="0"/>
              <a:cs typeface="Arial" pitchFamily="34" charset="0"/>
            </a:endParaRPr>
          </a:p>
          <a:p>
            <a:pPr>
              <a:buFont typeface="Wingdings" pitchFamily="2" charset="2"/>
              <a:buChar char="§"/>
            </a:pPr>
            <a:r>
              <a:rPr lang="en-US" sz="2600" dirty="0">
                <a:latin typeface="Arial" pitchFamily="34" charset="0"/>
                <a:cs typeface="Arial" pitchFamily="34" charset="0"/>
              </a:rPr>
              <a:t>Sentiment analysis extracts information from the opinions and emotions of people in regards to entities, events and their attributes. </a:t>
            </a:r>
          </a:p>
          <a:p>
            <a:pPr marL="109728" indent="0">
              <a:buNone/>
            </a:pPr>
            <a:r>
              <a:rPr lang="en-US" sz="2600" dirty="0">
                <a:latin typeface="Arial" pitchFamily="34" charset="0"/>
                <a:cs typeface="Arial" pitchFamily="34" charset="0"/>
              </a:rPr>
              <a:t> </a:t>
            </a:r>
          </a:p>
          <a:p>
            <a:pPr>
              <a:buFont typeface="Wingdings" pitchFamily="2" charset="2"/>
              <a:buChar char="§"/>
            </a:pPr>
            <a:r>
              <a:rPr lang="en-US" sz="2400" dirty="0">
                <a:latin typeface="Arial" pitchFamily="34" charset="0"/>
                <a:cs typeface="Arial" pitchFamily="34" charset="0"/>
              </a:rPr>
              <a:t>The learning algorithm will then learn what our emotions are from statistical data and then determine the emotion.</a:t>
            </a:r>
          </a:p>
          <a:p>
            <a:pPr>
              <a:buFont typeface="Wingdings" pitchFamily="2" charset="2"/>
              <a:buChar char="§"/>
            </a:pPr>
            <a:endParaRPr lang="en-US" sz="2600" dirty="0">
              <a:latin typeface="Arial" pitchFamily="34" charset="0"/>
              <a:cs typeface="Arial" pitchFamily="34" charset="0"/>
            </a:endParaRPr>
          </a:p>
        </p:txBody>
      </p:sp>
    </p:spTree>
    <p:extLst>
      <p:ext uri="{BB962C8B-B14F-4D97-AF65-F5344CB8AC3E}">
        <p14:creationId xmlns:p14="http://schemas.microsoft.com/office/powerpoint/2010/main" val="261969086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2459" y="1314691"/>
            <a:ext cx="213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6840" y="1974985"/>
            <a:ext cx="8364093" cy="1162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0134" y="3819301"/>
            <a:ext cx="1987731"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6840" y="4528547"/>
            <a:ext cx="8364095" cy="14671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itle 6"/>
          <p:cNvSpPr>
            <a:spLocks noGrp="1"/>
          </p:cNvSpPr>
          <p:nvPr>
            <p:ph type="title"/>
          </p:nvPr>
        </p:nvSpPr>
        <p:spPr>
          <a:xfrm>
            <a:off x="350058" y="527052"/>
            <a:ext cx="10972800" cy="1069848"/>
          </a:xfrm>
        </p:spPr>
        <p:txBody>
          <a:bodyPr/>
          <a:lstStyle/>
          <a:p>
            <a:r>
              <a:rPr lang="en-US" sz="3600" b="1" dirty="0">
                <a:solidFill>
                  <a:schemeClr val="accent6"/>
                </a:solidFill>
                <a:latin typeface="Arial" pitchFamily="34" charset="0"/>
                <a:cs typeface="Arial" pitchFamily="34" charset="0"/>
              </a:rPr>
              <a:t>Example:</a:t>
            </a:r>
            <a:endParaRPr lang="en-US" b="1" dirty="0">
              <a:solidFill>
                <a:schemeClr val="accent6"/>
              </a:solidFill>
              <a:latin typeface="Arial" pitchFamily="34" charset="0"/>
              <a:cs typeface="Arial" pitchFamily="34" charset="0"/>
            </a:endParaRPr>
          </a:p>
        </p:txBody>
      </p:sp>
    </p:spTree>
    <p:extLst>
      <p:ext uri="{BB962C8B-B14F-4D97-AF65-F5344CB8AC3E}">
        <p14:creationId xmlns:p14="http://schemas.microsoft.com/office/powerpoint/2010/main" val="381091579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3" y="627185"/>
            <a:ext cx="10972800" cy="1066800"/>
          </a:xfrm>
        </p:spPr>
        <p:txBody>
          <a:bodyPr/>
          <a:lstStyle/>
          <a:p>
            <a:r>
              <a:rPr lang="en-US" b="1" dirty="0">
                <a:solidFill>
                  <a:schemeClr val="accent6"/>
                </a:solidFill>
                <a:latin typeface="Arial" pitchFamily="34" charset="0"/>
                <a:cs typeface="Arial" pitchFamily="34" charset="0"/>
              </a:rPr>
              <a:t>Scope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18796" y="1481359"/>
            <a:ext cx="11441722" cy="4585131"/>
          </a:xfrm>
        </p:spPr>
        <p:txBody>
          <a:bodyPr>
            <a:normAutofit fontScale="32500" lnSpcReduction="20000"/>
          </a:bodyPr>
          <a:lstStyle/>
          <a:p>
            <a:pPr marL="0" indent="0">
              <a:buNone/>
            </a:pPr>
            <a:endParaRPr lang="en-US" sz="6400" dirty="0">
              <a:latin typeface="Arial" pitchFamily="34" charset="0"/>
              <a:cs typeface="Arial" pitchFamily="34" charset="0"/>
            </a:endParaRPr>
          </a:p>
          <a:p>
            <a:pPr marL="857250" indent="-857250"/>
            <a:r>
              <a:rPr lang="en-US" sz="7400" dirty="0">
                <a:latin typeface="Arial" pitchFamily="34" charset="0"/>
                <a:cs typeface="Arial" pitchFamily="34" charset="0"/>
              </a:rPr>
              <a:t>The amount of relevant data is much larger for twitter, as compared to traditional blogging sites. </a:t>
            </a:r>
          </a:p>
          <a:p>
            <a:pPr marL="0" indent="0">
              <a:buNone/>
            </a:pPr>
            <a:endParaRPr lang="en-US" sz="7400" dirty="0">
              <a:latin typeface="Arial" pitchFamily="34" charset="0"/>
              <a:cs typeface="Arial" pitchFamily="34" charset="0"/>
            </a:endParaRPr>
          </a:p>
          <a:p>
            <a:pPr marL="857250" indent="-857250"/>
            <a:r>
              <a:rPr lang="en-US" sz="7400" dirty="0">
                <a:latin typeface="Arial" pitchFamily="34" charset="0"/>
                <a:cs typeface="Arial" pitchFamily="34" charset="0"/>
              </a:rPr>
              <a:t>Moreover, the response on twitter is more prompt and also more general</a:t>
            </a:r>
          </a:p>
          <a:p>
            <a:pPr marL="0" indent="0">
              <a:buNone/>
            </a:pPr>
            <a:endParaRPr lang="en-US" sz="7400" dirty="0">
              <a:latin typeface="Arial" pitchFamily="34" charset="0"/>
              <a:cs typeface="Arial" pitchFamily="34" charset="0"/>
            </a:endParaRPr>
          </a:p>
          <a:p>
            <a:pPr marL="857250" indent="-857250"/>
            <a:r>
              <a:rPr lang="en-US" sz="7400" dirty="0">
                <a:latin typeface="Arial" pitchFamily="34" charset="0"/>
                <a:cs typeface="Arial" pitchFamily="34" charset="0"/>
              </a:rPr>
              <a:t>This could be done by analyzing overall public sentiment towards that firm with respect to time and using economics tools for finding the public sentiment. </a:t>
            </a:r>
          </a:p>
          <a:p>
            <a:pPr marL="0" indent="0">
              <a:buNone/>
            </a:pPr>
            <a:endParaRPr lang="en-US" sz="7400" dirty="0">
              <a:latin typeface="Arial" pitchFamily="34" charset="0"/>
              <a:cs typeface="Arial" pitchFamily="34" charset="0"/>
            </a:endParaRPr>
          </a:p>
          <a:p>
            <a:pPr marL="857250" indent="-857250"/>
            <a:r>
              <a:rPr lang="en-US" sz="7400" dirty="0">
                <a:latin typeface="Arial" pitchFamily="34" charset="0"/>
                <a:cs typeface="Arial" pitchFamily="34" charset="0"/>
              </a:rPr>
              <a:t>Firms can also estimate how well their product is responding in the market, which areas of the market is it having a favorable response and in which a negative response.</a:t>
            </a:r>
            <a:endParaRPr lang="en-IN" sz="7400" dirty="0">
              <a:latin typeface="Arial" pitchFamily="34" charset="0"/>
              <a:cs typeface="Arial" pitchFamily="34" charset="0"/>
            </a:endParaRPr>
          </a:p>
        </p:txBody>
      </p:sp>
    </p:spTree>
    <p:extLst>
      <p:ext uri="{BB962C8B-B14F-4D97-AF65-F5344CB8AC3E}">
        <p14:creationId xmlns:p14="http://schemas.microsoft.com/office/powerpoint/2010/main" val="3348905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8458"/>
            <a:ext cx="10972800" cy="979714"/>
          </a:xfrm>
        </p:spPr>
        <p:txBody>
          <a:bodyPr>
            <a:normAutofit/>
          </a:bodyPr>
          <a:lstStyle/>
          <a:p>
            <a:r>
              <a:rPr lang="en-US" b="1" dirty="0">
                <a:solidFill>
                  <a:schemeClr val="accent6"/>
                </a:solidFill>
                <a:latin typeface="Arial" pitchFamily="34" charset="0"/>
                <a:cs typeface="Arial" pitchFamily="34" charset="0"/>
              </a:rPr>
              <a:t>Motivation :</a:t>
            </a:r>
            <a:endParaRPr lang="en-IN" dirty="0"/>
          </a:p>
        </p:txBody>
      </p:sp>
      <p:sp>
        <p:nvSpPr>
          <p:cNvPr id="3" name="Content Placeholder 2"/>
          <p:cNvSpPr>
            <a:spLocks noGrp="1"/>
          </p:cNvSpPr>
          <p:nvPr>
            <p:ph idx="1"/>
          </p:nvPr>
        </p:nvSpPr>
        <p:spPr>
          <a:xfrm>
            <a:off x="656896" y="1839521"/>
            <a:ext cx="10972800" cy="4325112"/>
          </a:xfrm>
        </p:spPr>
        <p:txBody>
          <a:bodyPr/>
          <a:lstStyle/>
          <a:p>
            <a:r>
              <a:rPr lang="en-US" dirty="0">
                <a:latin typeface="Arial" pitchFamily="34" charset="0"/>
                <a:cs typeface="Arial" pitchFamily="34" charset="0"/>
              </a:rPr>
              <a:t>Sentimental analysis is a hot topic of research.</a:t>
            </a:r>
          </a:p>
          <a:p>
            <a:pPr marL="109728" indent="0">
              <a:buNone/>
            </a:pPr>
            <a:endParaRPr lang="en-US" dirty="0">
              <a:latin typeface="Arial" pitchFamily="34" charset="0"/>
              <a:cs typeface="Arial" pitchFamily="34" charset="0"/>
            </a:endParaRPr>
          </a:p>
          <a:p>
            <a:r>
              <a:rPr lang="en-US" dirty="0">
                <a:latin typeface="Arial" pitchFamily="34" charset="0"/>
                <a:cs typeface="Arial" pitchFamily="34" charset="0"/>
              </a:rPr>
              <a:t>Use of electronic media is increasing day by day.</a:t>
            </a:r>
          </a:p>
          <a:p>
            <a:pPr marL="109728" indent="0">
              <a:buNone/>
            </a:pPr>
            <a:endParaRPr lang="en-US" dirty="0">
              <a:latin typeface="Arial" pitchFamily="34" charset="0"/>
              <a:cs typeface="Arial" pitchFamily="34" charset="0"/>
            </a:endParaRPr>
          </a:p>
          <a:p>
            <a:r>
              <a:rPr lang="en-US" dirty="0">
                <a:latin typeface="Arial" pitchFamily="34" charset="0"/>
                <a:cs typeface="Arial" pitchFamily="34" charset="0"/>
              </a:rPr>
              <a:t>It can lead to more accurate tools for extracting semantic information.</a:t>
            </a:r>
          </a:p>
          <a:p>
            <a:pPr marL="109728" indent="0">
              <a:buNone/>
            </a:pPr>
            <a:endParaRPr lang="en-US" dirty="0">
              <a:latin typeface="Arial" pitchFamily="34" charset="0"/>
              <a:cs typeface="Arial" pitchFamily="34" charset="0"/>
            </a:endParaRPr>
          </a:p>
          <a:p>
            <a:r>
              <a:rPr lang="en-US" dirty="0">
                <a:latin typeface="Arial" pitchFamily="34" charset="0"/>
                <a:cs typeface="Arial" pitchFamily="34" charset="0"/>
              </a:rPr>
              <a:t>It provide means for empirically studying properties of social interaction.</a:t>
            </a:r>
          </a:p>
          <a:p>
            <a:pPr marL="109728" indent="0">
              <a:buNone/>
            </a:pPr>
            <a:endParaRPr lang="en-IN" dirty="0"/>
          </a:p>
        </p:txBody>
      </p:sp>
    </p:spTree>
    <p:extLst>
      <p:ext uri="{BB962C8B-B14F-4D97-AF65-F5344CB8AC3E}">
        <p14:creationId xmlns:p14="http://schemas.microsoft.com/office/powerpoint/2010/main" val="30817988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37882" y="762000"/>
            <a:ext cx="11144518" cy="603161"/>
          </a:xfrm>
        </p:spPr>
        <p:txBody>
          <a:bodyPr>
            <a:normAutofit fontScale="90000"/>
          </a:bodyPr>
          <a:lstStyle/>
          <a:p>
            <a:r>
              <a:rPr lang="en-US" b="1" dirty="0">
                <a:solidFill>
                  <a:schemeClr val="accent6"/>
                </a:solidFill>
                <a:latin typeface="Arial" pitchFamily="34" charset="0"/>
                <a:cs typeface="Arial" pitchFamily="34" charset="0"/>
              </a:rPr>
              <a:t>Literature Review :</a:t>
            </a:r>
            <a:endParaRPr lang="en-IN" b="1" dirty="0">
              <a:solidFill>
                <a:schemeClr val="accent6"/>
              </a:solidFill>
              <a:latin typeface="Arial" pitchFamily="34" charset="0"/>
              <a:cs typeface="Arial" pitchFamily="34" charset="0"/>
            </a:endParaRPr>
          </a:p>
        </p:txBody>
      </p:sp>
      <p:graphicFrame>
        <p:nvGraphicFramePr>
          <p:cNvPr id="7" name="Content Placeholder 5"/>
          <p:cNvGraphicFramePr>
            <a:graphicFrameLocks/>
          </p:cNvGraphicFramePr>
          <p:nvPr>
            <p:extLst>
              <p:ext uri="{D42A27DB-BD31-4B8C-83A1-F6EECF244321}">
                <p14:modId xmlns:p14="http://schemas.microsoft.com/office/powerpoint/2010/main" val="646398791"/>
              </p:ext>
            </p:extLst>
          </p:nvPr>
        </p:nvGraphicFramePr>
        <p:xfrm>
          <a:off x="438219" y="1669939"/>
          <a:ext cx="11144181" cy="4234033"/>
        </p:xfrm>
        <a:graphic>
          <a:graphicData uri="http://schemas.openxmlformats.org/drawingml/2006/table">
            <a:tbl>
              <a:tblPr firstRow="1" bandRow="1">
                <a:tableStyleId>{5C22544A-7EE6-4342-B048-85BDC9FD1C3A}</a:tableStyleId>
              </a:tblPr>
              <a:tblGrid>
                <a:gridCol w="1133004">
                  <a:extLst>
                    <a:ext uri="{9D8B030D-6E8A-4147-A177-3AD203B41FA5}">
                      <a16:colId xmlns="" xmlns:a16="http://schemas.microsoft.com/office/drawing/2014/main" val="20000"/>
                    </a:ext>
                  </a:extLst>
                </a:gridCol>
                <a:gridCol w="2884867">
                  <a:extLst>
                    <a:ext uri="{9D8B030D-6E8A-4147-A177-3AD203B41FA5}">
                      <a16:colId xmlns="" xmlns:a16="http://schemas.microsoft.com/office/drawing/2014/main" val="20001"/>
                    </a:ext>
                  </a:extLst>
                </a:gridCol>
                <a:gridCol w="2807595">
                  <a:extLst>
                    <a:ext uri="{9D8B030D-6E8A-4147-A177-3AD203B41FA5}">
                      <a16:colId xmlns="" xmlns:a16="http://schemas.microsoft.com/office/drawing/2014/main" val="20002"/>
                    </a:ext>
                  </a:extLst>
                </a:gridCol>
                <a:gridCol w="2777438">
                  <a:extLst>
                    <a:ext uri="{9D8B030D-6E8A-4147-A177-3AD203B41FA5}">
                      <a16:colId xmlns="" xmlns:a16="http://schemas.microsoft.com/office/drawing/2014/main" val="20003"/>
                    </a:ext>
                  </a:extLst>
                </a:gridCol>
                <a:gridCol w="1541277">
                  <a:extLst>
                    <a:ext uri="{9D8B030D-6E8A-4147-A177-3AD203B41FA5}">
                      <a16:colId xmlns="" xmlns:a16="http://schemas.microsoft.com/office/drawing/2014/main" val="20004"/>
                    </a:ext>
                  </a:extLst>
                </a:gridCol>
              </a:tblGrid>
              <a:tr h="508793">
                <a:tc>
                  <a:txBody>
                    <a:bodyPr/>
                    <a:lstStyle/>
                    <a:p>
                      <a:pPr algn="ctr"/>
                      <a:r>
                        <a:rPr lang="en-US" dirty="0"/>
                        <a:t>Year</a:t>
                      </a:r>
                      <a:endParaRPr lang="en-IN" dirty="0"/>
                    </a:p>
                  </a:txBody>
                  <a:tcPr marL="86273" marR="86273"/>
                </a:tc>
                <a:tc>
                  <a:txBody>
                    <a:bodyPr/>
                    <a:lstStyle/>
                    <a:p>
                      <a:pPr algn="ctr"/>
                      <a:r>
                        <a:rPr lang="en-US" dirty="0"/>
                        <a:t>Tittle</a:t>
                      </a:r>
                      <a:endParaRPr lang="en-IN" dirty="0"/>
                    </a:p>
                  </a:txBody>
                  <a:tcPr marL="86273" marR="86273"/>
                </a:tc>
                <a:tc>
                  <a:txBody>
                    <a:bodyPr/>
                    <a:lstStyle/>
                    <a:p>
                      <a:pPr algn="ctr"/>
                      <a:r>
                        <a:rPr lang="en-US" dirty="0"/>
                        <a:t>Author</a:t>
                      </a:r>
                      <a:endParaRPr lang="en-IN" dirty="0"/>
                    </a:p>
                  </a:txBody>
                  <a:tcPr marL="86273" marR="86273"/>
                </a:tc>
                <a:tc>
                  <a:txBody>
                    <a:bodyPr/>
                    <a:lstStyle/>
                    <a:p>
                      <a:pPr algn="ctr"/>
                      <a:r>
                        <a:rPr lang="en-US" dirty="0"/>
                        <a:t>Methods/Algorithm</a:t>
                      </a:r>
                      <a:r>
                        <a:rPr lang="en-US" baseline="0" dirty="0"/>
                        <a:t> used</a:t>
                      </a:r>
                      <a:endParaRPr lang="en-IN" dirty="0"/>
                    </a:p>
                  </a:txBody>
                  <a:tcPr marL="86273" marR="86273"/>
                </a:tc>
                <a:tc>
                  <a:txBody>
                    <a:bodyPr/>
                    <a:lstStyle/>
                    <a:p>
                      <a:pPr algn="ctr"/>
                      <a:r>
                        <a:rPr lang="en-US" dirty="0"/>
                        <a:t>Publication</a:t>
                      </a:r>
                      <a:endParaRPr lang="en-IN" dirty="0"/>
                    </a:p>
                  </a:txBody>
                  <a:tcPr marL="86273" marR="86273"/>
                </a:tc>
                <a:extLst>
                  <a:ext uri="{0D108BD9-81ED-4DB2-BD59-A6C34878D82A}">
                    <a16:rowId xmlns="" xmlns:a16="http://schemas.microsoft.com/office/drawing/2014/main" val="10000"/>
                  </a:ext>
                </a:extLst>
              </a:tr>
              <a:tr h="1195533">
                <a:tc>
                  <a:txBody>
                    <a:bodyPr/>
                    <a:lstStyle/>
                    <a:p>
                      <a:r>
                        <a:rPr lang="en-IN" dirty="0"/>
                        <a:t>2016</a:t>
                      </a:r>
                    </a:p>
                  </a:txBody>
                  <a:tcPr marL="86273" marR="86273"/>
                </a:tc>
                <a:tc>
                  <a:txBody>
                    <a:bodyPr/>
                    <a:lstStyle/>
                    <a:p>
                      <a:r>
                        <a:rPr lang="en-IN" dirty="0"/>
                        <a:t>Text Sentiment Analysis Based on Long Short-Term Memory </a:t>
                      </a:r>
                    </a:p>
                  </a:txBody>
                  <a:tcPr marL="86273" marR="86273"/>
                </a:tc>
                <a:tc>
                  <a:txBody>
                    <a:bodyPr/>
                    <a:lstStyle/>
                    <a:p>
                      <a:r>
                        <a:rPr lang="en-IN" dirty="0"/>
                        <a:t>Dan Li, Jiang Qian </a:t>
                      </a:r>
                    </a:p>
                  </a:txBody>
                  <a:tcPr marL="86273" marR="862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Recurrent Neural Network Long Short-Term</a:t>
                      </a:r>
                      <a:r>
                        <a:rPr lang="en-US" sz="1800" baseline="0" dirty="0"/>
                        <a:t> </a:t>
                      </a:r>
                      <a:r>
                        <a:rPr lang="en-US" sz="1800" dirty="0"/>
                        <a:t>Memory (RNN-LSTM)</a:t>
                      </a:r>
                      <a:endParaRPr lang="en-IN" sz="1800" dirty="0"/>
                    </a:p>
                  </a:txBody>
                  <a:tcPr marL="86273" marR="86273"/>
                </a:tc>
                <a:tc>
                  <a:txBody>
                    <a:bodyPr/>
                    <a:lstStyle/>
                    <a:p>
                      <a:r>
                        <a:rPr lang="en-IN" dirty="0"/>
                        <a:t>IEEE</a:t>
                      </a:r>
                    </a:p>
                  </a:txBody>
                  <a:tcPr marL="86273" marR="86273"/>
                </a:tc>
                <a:extLst>
                  <a:ext uri="{0D108BD9-81ED-4DB2-BD59-A6C34878D82A}">
                    <a16:rowId xmlns="" xmlns:a16="http://schemas.microsoft.com/office/drawing/2014/main" val="10001"/>
                  </a:ext>
                </a:extLst>
              </a:tr>
              <a:tr h="994622">
                <a:tc>
                  <a:txBody>
                    <a:bodyPr/>
                    <a:lstStyle/>
                    <a:p>
                      <a:r>
                        <a:rPr lang="en-IN" dirty="0"/>
                        <a:t>2018</a:t>
                      </a:r>
                    </a:p>
                  </a:txBody>
                  <a:tcPr marL="86273" marR="86273"/>
                </a:tc>
                <a:tc>
                  <a:txBody>
                    <a:bodyPr/>
                    <a:lstStyle/>
                    <a:p>
                      <a:r>
                        <a:rPr lang="en-IN" dirty="0"/>
                        <a:t>Sentiment Analysis with Long Short-Term Memory networks</a:t>
                      </a:r>
                    </a:p>
                  </a:txBody>
                  <a:tcPr marL="86273" marR="86273"/>
                </a:tc>
                <a:tc>
                  <a:txBody>
                    <a:bodyPr/>
                    <a:lstStyle/>
                    <a:p>
                      <a:r>
                        <a:rPr lang="en-IN" dirty="0"/>
                        <a:t> </a:t>
                      </a:r>
                      <a:r>
                        <a:rPr lang="en-IN" dirty="0" err="1"/>
                        <a:t>Fenna</a:t>
                      </a:r>
                      <a:r>
                        <a:rPr lang="en-IN" dirty="0"/>
                        <a:t> </a:t>
                      </a:r>
                      <a:r>
                        <a:rPr lang="en-IN" dirty="0" err="1"/>
                        <a:t>Miedema</a:t>
                      </a:r>
                      <a:endParaRPr lang="en-IN" dirty="0"/>
                    </a:p>
                  </a:txBody>
                  <a:tcPr marL="86273" marR="862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 Long Short-Term</a:t>
                      </a:r>
                      <a:r>
                        <a:rPr lang="en-US" sz="1800" baseline="0" dirty="0"/>
                        <a:t> </a:t>
                      </a:r>
                      <a:r>
                        <a:rPr lang="en-US" sz="1800" dirty="0"/>
                        <a:t>Memory (LSTM)</a:t>
                      </a:r>
                      <a:endParaRPr lang="en-IN" sz="1800" dirty="0"/>
                    </a:p>
                    <a:p>
                      <a:endParaRPr lang="en-IN" dirty="0"/>
                    </a:p>
                  </a:txBody>
                  <a:tcPr marL="86273" marR="86273"/>
                </a:tc>
                <a:tc>
                  <a:txBody>
                    <a:bodyPr/>
                    <a:lstStyle/>
                    <a:p>
                      <a:r>
                        <a:rPr lang="en-IN" dirty="0"/>
                        <a:t>IEEE</a:t>
                      </a:r>
                    </a:p>
                  </a:txBody>
                  <a:tcPr marL="86273" marR="86273"/>
                </a:tc>
                <a:extLst>
                  <a:ext uri="{0D108BD9-81ED-4DB2-BD59-A6C34878D82A}">
                    <a16:rowId xmlns="" xmlns:a16="http://schemas.microsoft.com/office/drawing/2014/main" val="10002"/>
                  </a:ext>
                </a:extLst>
              </a:tr>
              <a:tr h="1403798">
                <a:tc>
                  <a:txBody>
                    <a:bodyPr/>
                    <a:lstStyle/>
                    <a:p>
                      <a:r>
                        <a:rPr lang="en-IN" dirty="0"/>
                        <a:t>2013</a:t>
                      </a:r>
                    </a:p>
                  </a:txBody>
                  <a:tcPr marL="86273" marR="86273"/>
                </a:tc>
                <a:tc>
                  <a:txBody>
                    <a:bodyPr/>
                    <a:lstStyle/>
                    <a:p>
                      <a:r>
                        <a:rPr lang="en-US" dirty="0"/>
                        <a:t>Sentiment Analysis in Twitter using Machine</a:t>
                      </a:r>
                    </a:p>
                    <a:p>
                      <a:r>
                        <a:rPr lang="en-US" dirty="0"/>
                        <a:t>Learning Techniques</a:t>
                      </a:r>
                      <a:endParaRPr lang="en-IN" dirty="0"/>
                    </a:p>
                  </a:txBody>
                  <a:tcPr marL="86273" marR="86273"/>
                </a:tc>
                <a:tc>
                  <a:txBody>
                    <a:bodyPr/>
                    <a:lstStyle/>
                    <a:p>
                      <a:r>
                        <a:rPr lang="en-IN" dirty="0" err="1"/>
                        <a:t>Neethu</a:t>
                      </a:r>
                      <a:r>
                        <a:rPr lang="en-IN" dirty="0"/>
                        <a:t> M S, </a:t>
                      </a:r>
                      <a:r>
                        <a:rPr lang="en-IN" dirty="0" err="1"/>
                        <a:t>Rajasree</a:t>
                      </a:r>
                      <a:r>
                        <a:rPr lang="en-IN" dirty="0"/>
                        <a:t> R</a:t>
                      </a:r>
                    </a:p>
                  </a:txBody>
                  <a:tcPr marL="86273" marR="86273"/>
                </a:tc>
                <a:tc>
                  <a:txBody>
                    <a:bodyPr/>
                    <a:lstStyle/>
                    <a:p>
                      <a:r>
                        <a:rPr lang="en-US" b="0" dirty="0"/>
                        <a:t>Naive Bayes</a:t>
                      </a:r>
                      <a:r>
                        <a:rPr lang="en-US" b="0" baseline="0" dirty="0"/>
                        <a:t> </a:t>
                      </a:r>
                      <a:r>
                        <a:rPr lang="en-US" b="0" dirty="0"/>
                        <a:t>(NB), Maximum Entropy (ME), and Support Vector Machines</a:t>
                      </a:r>
                      <a:r>
                        <a:rPr lang="en-US" b="0" baseline="0" dirty="0"/>
                        <a:t> </a:t>
                      </a:r>
                      <a:r>
                        <a:rPr lang="en-US" b="0" dirty="0"/>
                        <a:t>(SVM)</a:t>
                      </a:r>
                      <a:endParaRPr lang="en-IN" b="0" dirty="0"/>
                    </a:p>
                  </a:txBody>
                  <a:tcPr marL="86273" marR="86273"/>
                </a:tc>
                <a:tc>
                  <a:txBody>
                    <a:bodyPr/>
                    <a:lstStyle/>
                    <a:p>
                      <a:r>
                        <a:rPr lang="en-IN" dirty="0"/>
                        <a:t>IEEE</a:t>
                      </a:r>
                    </a:p>
                  </a:txBody>
                  <a:tcPr marL="86273" marR="86273"/>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56669016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592016"/>
            <a:ext cx="10972800" cy="1066800"/>
          </a:xfrm>
        </p:spPr>
        <p:txBody>
          <a:bodyPr/>
          <a:lstStyle/>
          <a:p>
            <a:r>
              <a:rPr lang="en-US" b="1" dirty="0">
                <a:solidFill>
                  <a:schemeClr val="accent6"/>
                </a:solidFill>
                <a:latin typeface="Arial" pitchFamily="34" charset="0"/>
                <a:cs typeface="Arial" pitchFamily="34" charset="0"/>
              </a:rPr>
              <a:t>PROPOSED SYSTEM </a:t>
            </a:r>
            <a:endParaRPr lang="en-IN" b="1" dirty="0">
              <a:solidFill>
                <a:schemeClr val="accent6"/>
              </a:solidFill>
              <a:latin typeface="Arial" pitchFamily="34" charset="0"/>
              <a:cs typeface="Arial"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1085" y="1647750"/>
            <a:ext cx="9136238" cy="4680895"/>
          </a:xfrm>
        </p:spPr>
      </p:pic>
    </p:spTree>
    <p:extLst>
      <p:ext uri="{BB962C8B-B14F-4D97-AF65-F5344CB8AC3E}">
        <p14:creationId xmlns:p14="http://schemas.microsoft.com/office/powerpoint/2010/main" val="42604707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90955"/>
            <a:ext cx="10972800" cy="1324708"/>
          </a:xfrm>
        </p:spPr>
        <p:txBody>
          <a:bodyPr>
            <a:normAutofit fontScale="90000"/>
          </a:bodyPr>
          <a:lstStyle/>
          <a:p>
            <a:r>
              <a:rPr lang="en-US" sz="3600" b="1" dirty="0">
                <a:latin typeface="Arial" pitchFamily="34" charset="0"/>
                <a:cs typeface="Arial" pitchFamily="34" charset="0"/>
              </a:rPr>
              <a:t/>
            </a:r>
            <a:br>
              <a:rPr lang="en-US" sz="3600" b="1" dirty="0">
                <a:latin typeface="Arial" pitchFamily="34" charset="0"/>
                <a:cs typeface="Arial" pitchFamily="34" charset="0"/>
              </a:rPr>
            </a:br>
            <a:r>
              <a:rPr lang="en-US" sz="3600" b="1" dirty="0">
                <a:latin typeface="Arial" pitchFamily="34" charset="0"/>
                <a:cs typeface="Arial" pitchFamily="34" charset="0"/>
              </a:rPr>
              <a:t/>
            </a:r>
            <a:br>
              <a:rPr lang="en-US" sz="3600" b="1" dirty="0">
                <a:latin typeface="Arial" pitchFamily="34" charset="0"/>
                <a:cs typeface="Arial" pitchFamily="34" charset="0"/>
              </a:rPr>
            </a:br>
            <a:r>
              <a:rPr lang="en-US" sz="3600" b="1" dirty="0">
                <a:latin typeface="Arial" pitchFamily="34" charset="0"/>
                <a:cs typeface="Arial" pitchFamily="34" charset="0"/>
              </a:rPr>
              <a:t/>
            </a:r>
            <a:br>
              <a:rPr lang="en-US" sz="3600" b="1" dirty="0">
                <a:latin typeface="Arial" pitchFamily="34" charset="0"/>
                <a:cs typeface="Arial" pitchFamily="34" charset="0"/>
              </a:rPr>
            </a:br>
            <a:r>
              <a:rPr lang="en-US" sz="3600" b="1" dirty="0">
                <a:latin typeface="Arial" pitchFamily="34" charset="0"/>
                <a:cs typeface="Arial" pitchFamily="34" charset="0"/>
              </a:rPr>
              <a:t>Use case:</a:t>
            </a:r>
            <a:endParaRPr lang="en-US" b="1" dirty="0">
              <a:latin typeface="Arial" pitchFamily="34" charset="0"/>
              <a:cs typeface="Arial" pitchFamily="34"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57200"/>
            <a:ext cx="5251938" cy="640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5242590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7"/>
                                        </p:tgtEl>
                                        <p:attrNameLst>
                                          <p:attrName>style.visibility</p:attrName>
                                        </p:attrNameLst>
                                      </p:cBhvr>
                                      <p:to>
                                        <p:strVal val="visible"/>
                                      </p:to>
                                    </p:set>
                                    <p:anim calcmode="lin" valueType="num">
                                      <p:cBhvr additive="base">
                                        <p:cTn id="11" dur="500" fill="hold"/>
                                        <p:tgtEl>
                                          <p:spTgt spid="1027"/>
                                        </p:tgtEl>
                                        <p:attrNameLst>
                                          <p:attrName>ppt_x</p:attrName>
                                        </p:attrNameLst>
                                      </p:cBhvr>
                                      <p:tavLst>
                                        <p:tav tm="0">
                                          <p:val>
                                            <p:strVal val="#ppt_x"/>
                                          </p:val>
                                        </p:tav>
                                        <p:tav tm="100000">
                                          <p:val>
                                            <p:strVal val="#ppt_x"/>
                                          </p:val>
                                        </p:tav>
                                      </p:tavLst>
                                    </p:anim>
                                    <p:anim calcmode="lin" valueType="num">
                                      <p:cBhvr additive="base">
                                        <p:cTn id="12"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139" y="463063"/>
            <a:ext cx="11176000" cy="896814"/>
          </a:xfrm>
        </p:spPr>
        <p:txBody>
          <a:bodyPr/>
          <a:lstStyle/>
          <a:p>
            <a:r>
              <a:rPr lang="en-US" b="1" dirty="0">
                <a:solidFill>
                  <a:schemeClr val="accent6"/>
                </a:solidFill>
                <a:latin typeface="Arial" pitchFamily="34" charset="0"/>
                <a:cs typeface="Arial" pitchFamily="34" charset="0"/>
              </a:rPr>
              <a:t>Methods and Algorithm</a:t>
            </a:r>
            <a:endParaRPr lang="en-IN" b="1" dirty="0">
              <a:solidFill>
                <a:schemeClr val="accent6"/>
              </a:solidFill>
              <a:latin typeface="Arial" pitchFamily="34" charset="0"/>
              <a:cs typeface="Arial" pitchFamily="34" charset="0"/>
            </a:endParaRPr>
          </a:p>
        </p:txBody>
      </p:sp>
      <p:sp>
        <p:nvSpPr>
          <p:cNvPr id="4" name="Content Placeholder 3"/>
          <p:cNvSpPr>
            <a:spLocks noGrp="1"/>
          </p:cNvSpPr>
          <p:nvPr>
            <p:ph sz="quarter" idx="2"/>
          </p:nvPr>
        </p:nvSpPr>
        <p:spPr>
          <a:xfrm>
            <a:off x="910127" y="2239108"/>
            <a:ext cx="10179904" cy="3423139"/>
          </a:xfrm>
        </p:spPr>
        <p:txBody>
          <a:bodyPr>
            <a:normAutofit/>
          </a:bodyPr>
          <a:lstStyle/>
          <a:p>
            <a:pPr>
              <a:buFont typeface="Wingdings" pitchFamily="2" charset="2"/>
              <a:buChar char="§"/>
            </a:pPr>
            <a:r>
              <a:rPr lang="en-US" dirty="0"/>
              <a:t>A </a:t>
            </a:r>
            <a:r>
              <a:rPr lang="en-US" b="1" dirty="0"/>
              <a:t>Recurrent Neural Network</a:t>
            </a:r>
            <a:r>
              <a:rPr lang="en-US" dirty="0"/>
              <a:t> (</a:t>
            </a:r>
            <a:r>
              <a:rPr lang="en-US" b="1" dirty="0"/>
              <a:t>RNN</a:t>
            </a:r>
            <a:r>
              <a:rPr lang="en-US" dirty="0"/>
              <a:t>) is a class of artificial neural network where connections between nodes form a directed graph along a sequence. </a:t>
            </a:r>
          </a:p>
          <a:p>
            <a:pPr marL="109728" indent="0">
              <a:buNone/>
            </a:pPr>
            <a:endParaRPr lang="en-US" sz="1800" dirty="0"/>
          </a:p>
          <a:p>
            <a:pPr>
              <a:buFont typeface="Wingdings" pitchFamily="2" charset="2"/>
              <a:buChar char="§"/>
            </a:pPr>
            <a:r>
              <a:rPr lang="en-US" dirty="0"/>
              <a:t>Unlike </a:t>
            </a:r>
            <a:r>
              <a:rPr lang="en-US" b="1" dirty="0"/>
              <a:t>feed forward </a:t>
            </a:r>
            <a:r>
              <a:rPr lang="en-US" dirty="0"/>
              <a:t>neural networks , RNNs can use their internal state (memory) to process sequences of inputs. This makes them applicable to tasks such as  handwriting recognition</a:t>
            </a:r>
            <a:r>
              <a:rPr lang="en-US" baseline="30000" dirty="0"/>
              <a:t> </a:t>
            </a:r>
            <a:r>
              <a:rPr lang="en-US" dirty="0"/>
              <a:t>or speech recognition.</a:t>
            </a:r>
          </a:p>
          <a:p>
            <a:pPr>
              <a:buFont typeface="Wingdings" pitchFamily="2" charset="2"/>
              <a:buChar char="§"/>
            </a:pPr>
            <a:endParaRPr lang="en-US" sz="1800" dirty="0"/>
          </a:p>
        </p:txBody>
      </p:sp>
    </p:spTree>
    <p:extLst>
      <p:ext uri="{BB962C8B-B14F-4D97-AF65-F5344CB8AC3E}">
        <p14:creationId xmlns:p14="http://schemas.microsoft.com/office/powerpoint/2010/main" val="40659938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70" y="674077"/>
            <a:ext cx="10972800" cy="873369"/>
          </a:xfrm>
        </p:spPr>
        <p:txBody>
          <a:bodyPr>
            <a:normAutofit/>
          </a:bodyPr>
          <a:lstStyle/>
          <a:p>
            <a:r>
              <a:rPr lang="en-US" sz="3200" b="1" dirty="0">
                <a:solidFill>
                  <a:schemeClr val="accent6"/>
                </a:solidFill>
                <a:latin typeface="Arial" pitchFamily="34" charset="0"/>
                <a:cs typeface="Arial" pitchFamily="34" charset="0"/>
              </a:rPr>
              <a:t>Why not Feed forward NN? Why RNN?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1" y="1453662"/>
            <a:ext cx="10351476" cy="4923692"/>
          </a:xfrm>
        </p:spPr>
      </p:pic>
    </p:spTree>
    <p:extLst>
      <p:ext uri="{BB962C8B-B14F-4D97-AF65-F5344CB8AC3E}">
        <p14:creationId xmlns:p14="http://schemas.microsoft.com/office/powerpoint/2010/main" val="5354678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246" y="720970"/>
            <a:ext cx="10972800" cy="1066800"/>
          </a:xfrm>
        </p:spPr>
        <p:txBody>
          <a:bodyPr/>
          <a:lstStyle/>
          <a:p>
            <a:r>
              <a:rPr lang="en-US" dirty="0"/>
              <a:t>How to overcome this problem?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0953" y="1735015"/>
            <a:ext cx="10046677" cy="4267200"/>
          </a:xfrm>
        </p:spPr>
      </p:pic>
    </p:spTree>
    <p:extLst>
      <p:ext uri="{BB962C8B-B14F-4D97-AF65-F5344CB8AC3E}">
        <p14:creationId xmlns:p14="http://schemas.microsoft.com/office/powerpoint/2010/main" val="295232404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877" y="767862"/>
            <a:ext cx="10972800" cy="1066800"/>
          </a:xfrm>
        </p:spPr>
        <p:txBody>
          <a:bodyPr/>
          <a:lstStyle/>
          <a:p>
            <a:r>
              <a:rPr lang="en-US" sz="3200" dirty="0">
                <a:solidFill>
                  <a:schemeClr val="accent6"/>
                </a:solidFill>
                <a:latin typeface="Arial" pitchFamily="34" charset="0"/>
                <a:cs typeface="Arial" pitchFamily="34" charset="0"/>
              </a:rPr>
              <a:t>RNN</a:t>
            </a:r>
          </a:p>
        </p:txBody>
      </p:sp>
      <p:sp>
        <p:nvSpPr>
          <p:cNvPr id="3" name="Content Placeholder 2"/>
          <p:cNvSpPr>
            <a:spLocks noGrp="1"/>
          </p:cNvSpPr>
          <p:nvPr>
            <p:ph idx="1"/>
          </p:nvPr>
        </p:nvSpPr>
        <p:spPr>
          <a:xfrm>
            <a:off x="704193" y="1918348"/>
            <a:ext cx="10972800" cy="4325112"/>
          </a:xfrm>
        </p:spPr>
        <p:txBody>
          <a:bodyPr>
            <a:normAutofit/>
          </a:bodyPr>
          <a:lstStyle/>
          <a:p>
            <a:r>
              <a:rPr lang="en-US" sz="2400" dirty="0">
                <a:latin typeface="Arial" pitchFamily="34" charset="0"/>
                <a:cs typeface="Arial" pitchFamily="34" charset="0"/>
              </a:rPr>
              <a:t>Recurrent neural network is a type of ANN designed to recognize patterns in sequence of data such as text, handwriting, spoken word, data emerging from sensors, stock market and many more.</a:t>
            </a:r>
          </a:p>
          <a:p>
            <a:endParaRPr lang="en-US" sz="2400" dirty="0">
              <a:latin typeface="Arial" pitchFamily="34" charset="0"/>
              <a:cs typeface="Arial" pitchFamily="34" charset="0"/>
            </a:endParaRPr>
          </a:p>
          <a:p>
            <a:r>
              <a:rPr lang="en-US" sz="2400" dirty="0">
                <a:latin typeface="Arial" pitchFamily="34" charset="0"/>
                <a:cs typeface="Arial" pitchFamily="34" charset="0"/>
              </a:rPr>
              <a:t>But there are limitation</a:t>
            </a:r>
          </a:p>
          <a:p>
            <a:pPr marL="109728" indent="0">
              <a:buNone/>
            </a:pPr>
            <a:endParaRPr lang="en-US" sz="2400" dirty="0">
              <a:latin typeface="Arial" pitchFamily="34" charset="0"/>
              <a:cs typeface="Arial" pitchFamily="34" charset="0"/>
            </a:endParaRPr>
          </a:p>
          <a:p>
            <a:r>
              <a:rPr lang="en-US" sz="2400" dirty="0">
                <a:latin typeface="Arial" pitchFamily="34" charset="0"/>
                <a:cs typeface="Arial" pitchFamily="34" charset="0"/>
              </a:rPr>
              <a:t>Sometimes it can be difficult to train standard RNNs to solve problems that require learning long-term dependencies.</a:t>
            </a:r>
          </a:p>
        </p:txBody>
      </p:sp>
    </p:spTree>
    <p:extLst>
      <p:ext uri="{BB962C8B-B14F-4D97-AF65-F5344CB8AC3E}">
        <p14:creationId xmlns:p14="http://schemas.microsoft.com/office/powerpoint/2010/main" val="172830075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853" y="832339"/>
            <a:ext cx="10363200" cy="5884984"/>
          </a:xfrm>
        </p:spPr>
        <p:txBody>
          <a:bodyPr/>
          <a:lstStyle/>
          <a:p>
            <a:pPr marL="388620" indent="-342900">
              <a:buFont typeface="Wingdings" pitchFamily="2" charset="2"/>
              <a:buChar char="§"/>
            </a:pPr>
            <a:r>
              <a:rPr lang="en-US" sz="2000" b="1" dirty="0">
                <a:latin typeface="Arial" pitchFamily="34" charset="0"/>
                <a:cs typeface="Arial" pitchFamily="34" charset="0"/>
              </a:rPr>
              <a:t>LSTMs(Long Short Term Memory) </a:t>
            </a:r>
            <a:r>
              <a:rPr lang="en-US" sz="2000" dirty="0">
                <a:latin typeface="Arial" pitchFamily="34" charset="0"/>
                <a:cs typeface="Arial" pitchFamily="34" charset="0"/>
              </a:rPr>
              <a:t>networks are a special kind of RNN, capable of learning long-term dependencies using LSTM units called a 'memory cell'. These cells can maintain information in memory for long periods of time.</a:t>
            </a:r>
          </a:p>
          <a:p>
            <a:pPr marL="388620" indent="-342900">
              <a:buFont typeface="Wingdings" pitchFamily="2" charset="2"/>
              <a:buChar char="§"/>
            </a:pPr>
            <a:endParaRPr lang="en-US" sz="2000" dirty="0">
              <a:latin typeface="Arial" pitchFamily="34" charset="0"/>
              <a:cs typeface="Arial" pitchFamily="34" charset="0"/>
            </a:endParaRPr>
          </a:p>
          <a:p>
            <a:pPr marL="388620" indent="-342900">
              <a:buFont typeface="Wingdings" pitchFamily="2" charset="2"/>
              <a:buChar char="§"/>
            </a:pPr>
            <a:r>
              <a:rPr lang="en-US" sz="2000" dirty="0">
                <a:latin typeface="Arial" pitchFamily="34" charset="0"/>
                <a:cs typeface="Arial" pitchFamily="34" charset="0"/>
              </a:rPr>
              <a:t>LSTMs are a type of network that has a memory that "remembers" previous data from the input and makes decisions based on that knowledge. </a:t>
            </a:r>
          </a:p>
          <a:p>
            <a:pPr marL="388620" indent="-342900">
              <a:buFont typeface="Wingdings" pitchFamily="2" charset="2"/>
              <a:buChar char="§"/>
            </a:pPr>
            <a:endParaRPr lang="en-US" sz="2000" dirty="0">
              <a:latin typeface="Arial" pitchFamily="34" charset="0"/>
              <a:cs typeface="Arial" pitchFamily="34" charset="0"/>
            </a:endParaRPr>
          </a:p>
          <a:p>
            <a:pPr marL="388620" indent="-342900">
              <a:buFont typeface="Wingdings" pitchFamily="2" charset="2"/>
              <a:buChar char="§"/>
            </a:pPr>
            <a:endParaRPr lang="en-US" dirty="0">
              <a:latin typeface="Arial" pitchFamily="34" charset="0"/>
              <a:cs typeface="Arial" pitchFamily="34" charset="0"/>
            </a:endParaRP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596" y="2932386"/>
            <a:ext cx="6011589" cy="313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315198" y="3900889"/>
            <a:ext cx="3468415" cy="1200329"/>
          </a:xfrm>
          <a:prstGeom prst="rect">
            <a:avLst/>
          </a:prstGeom>
          <a:noFill/>
        </p:spPr>
        <p:txBody>
          <a:bodyPr wrap="square" rtlCol="0">
            <a:spAutoFit/>
          </a:bodyPr>
          <a:lstStyle/>
          <a:p>
            <a:r>
              <a:rPr lang="en-US" dirty="0" smtClean="0"/>
              <a:t>Lstm Is used in products like</a:t>
            </a:r>
          </a:p>
          <a:p>
            <a:pPr marL="285750" indent="-285750">
              <a:buFont typeface="Arial" pitchFamily="34" charset="0"/>
              <a:buChar char="•"/>
            </a:pPr>
            <a:r>
              <a:rPr lang="en-US" dirty="0" smtClean="0"/>
              <a:t>Google Translate</a:t>
            </a:r>
          </a:p>
          <a:p>
            <a:pPr marL="285750" indent="-285750">
              <a:buFont typeface="Arial" pitchFamily="34" charset="0"/>
              <a:buChar char="•"/>
            </a:pPr>
            <a:r>
              <a:rPr lang="en-US" dirty="0" smtClean="0"/>
              <a:t>Apple Siri</a:t>
            </a:r>
          </a:p>
          <a:p>
            <a:pPr marL="285750" indent="-285750">
              <a:buFont typeface="Arial" pitchFamily="34" charset="0"/>
              <a:buChar char="•"/>
            </a:pPr>
            <a:r>
              <a:rPr lang="en-US" dirty="0" smtClean="0"/>
              <a:t>Amazon Alexa</a:t>
            </a:r>
            <a:endParaRPr lang="en-US" dirty="0"/>
          </a:p>
        </p:txBody>
      </p:sp>
    </p:spTree>
    <p:extLst>
      <p:ext uri="{BB962C8B-B14F-4D97-AF65-F5344CB8AC3E}">
        <p14:creationId xmlns:p14="http://schemas.microsoft.com/office/powerpoint/2010/main" val="164577755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360" y="574432"/>
            <a:ext cx="10363200" cy="656491"/>
          </a:xfrm>
        </p:spPr>
        <p:txBody>
          <a:bodyPr>
            <a:normAutofit/>
          </a:bodyPr>
          <a:lstStyle/>
          <a:p>
            <a:r>
              <a:rPr lang="en-US" sz="3200" b="1" dirty="0">
                <a:solidFill>
                  <a:schemeClr val="accent6"/>
                </a:solidFill>
                <a:effectLst/>
                <a:latin typeface="Arial" pitchFamily="34" charset="0"/>
                <a:cs typeface="Arial" pitchFamily="34" charset="0"/>
              </a:rPr>
              <a:t>Implementation </a:t>
            </a:r>
            <a:r>
              <a:rPr lang="en-US" sz="3200" dirty="0">
                <a:solidFill>
                  <a:schemeClr val="accent6"/>
                </a:solidFill>
                <a:effectLst/>
                <a:latin typeface="Arial" pitchFamily="34" charset="0"/>
                <a:cs typeface="Arial" pitchFamily="34" charset="0"/>
              </a:rPr>
              <a:t> </a:t>
            </a:r>
            <a:r>
              <a:rPr lang="en-US" sz="3200" dirty="0" smtClean="0">
                <a:solidFill>
                  <a:schemeClr val="accent6"/>
                </a:solidFill>
                <a:effectLst/>
                <a:latin typeface="Arial" pitchFamily="34" charset="0"/>
                <a:cs typeface="Arial" pitchFamily="34" charset="0"/>
              </a:rPr>
              <a:t>and  Results</a:t>
            </a:r>
            <a:endParaRPr lang="en-IN" sz="3200" b="1" dirty="0">
              <a:solidFill>
                <a:schemeClr val="accent6"/>
              </a:solidFill>
              <a:effectLst/>
              <a:latin typeface="Arial" pitchFamily="34" charset="0"/>
              <a:cs typeface="Arial" pitchFamily="34" charset="0"/>
            </a:endParaRPr>
          </a:p>
        </p:txBody>
      </p:sp>
      <p:sp>
        <p:nvSpPr>
          <p:cNvPr id="3" name="Text Placeholder 2"/>
          <p:cNvSpPr>
            <a:spLocks noGrp="1"/>
          </p:cNvSpPr>
          <p:nvPr>
            <p:ph type="body" idx="1"/>
          </p:nvPr>
        </p:nvSpPr>
        <p:spPr>
          <a:xfrm>
            <a:off x="257907" y="1301263"/>
            <a:ext cx="11687907" cy="5322276"/>
          </a:xfrm>
        </p:spPr>
        <p:txBody>
          <a:bodyPr>
            <a:normAutofit/>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818" y="1902435"/>
            <a:ext cx="5076825" cy="42957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7102" y="1873860"/>
            <a:ext cx="5086350" cy="4324350"/>
          </a:xfrm>
          <a:prstGeom prst="rect">
            <a:avLst/>
          </a:prstGeom>
        </p:spPr>
      </p:pic>
    </p:spTree>
    <p:extLst>
      <p:ext uri="{BB962C8B-B14F-4D97-AF65-F5344CB8AC3E}">
        <p14:creationId xmlns:p14="http://schemas.microsoft.com/office/powerpoint/2010/main" val="199082416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nodePh="1">
                                  <p:stCondLst>
                                    <p:cond delay="0"/>
                                  </p:stCondLst>
                                  <p:endCondLst>
                                    <p:cond evt="begin" delay="0">
                                      <p:tn val="11"/>
                                    </p:cond>
                                  </p:end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754" y="1610091"/>
            <a:ext cx="4876800" cy="39624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819" y="1610091"/>
            <a:ext cx="5295900" cy="39624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5620798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262" y="835572"/>
            <a:ext cx="11114690" cy="551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66529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8258" y="807388"/>
            <a:ext cx="6298803" cy="5577645"/>
          </a:xfrm>
          <a:prstGeom prst="rect">
            <a:avLst/>
          </a:prstGeom>
        </p:spPr>
      </p:pic>
    </p:spTree>
    <p:extLst>
      <p:ext uri="{BB962C8B-B14F-4D97-AF65-F5344CB8AC3E}">
        <p14:creationId xmlns:p14="http://schemas.microsoft.com/office/powerpoint/2010/main" val="134368889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16170"/>
            <a:ext cx="10972800" cy="1066800"/>
          </a:xfrm>
        </p:spPr>
        <p:txBody>
          <a:bodyPr/>
          <a:lstStyle/>
          <a:p>
            <a:r>
              <a:rPr lang="en-US" b="1" dirty="0">
                <a:solidFill>
                  <a:schemeClr val="accent6"/>
                </a:solidFill>
                <a:latin typeface="Arial" pitchFamily="34" charset="0"/>
                <a:cs typeface="Arial" pitchFamily="34" charset="0"/>
              </a:rPr>
              <a:t>Applications</a:t>
            </a:r>
          </a:p>
        </p:txBody>
      </p:sp>
      <p:sp>
        <p:nvSpPr>
          <p:cNvPr id="3" name="Content Placeholder 2"/>
          <p:cNvSpPr>
            <a:spLocks noGrp="1"/>
          </p:cNvSpPr>
          <p:nvPr>
            <p:ph idx="1"/>
          </p:nvPr>
        </p:nvSpPr>
        <p:spPr>
          <a:xfrm>
            <a:off x="609600" y="1441939"/>
            <a:ext cx="10972800" cy="5132598"/>
          </a:xfrm>
        </p:spPr>
        <p:txBody>
          <a:bodyPr/>
          <a:lstStyle/>
          <a:p>
            <a:pPr>
              <a:buFont typeface="Wingdings" pitchFamily="2" charset="2"/>
              <a:buChar char="§"/>
            </a:pPr>
            <a:r>
              <a:rPr lang="en-US" b="1" dirty="0"/>
              <a:t>Used in Movie reviews</a:t>
            </a:r>
          </a:p>
          <a:p>
            <a:pPr marL="109728" indent="0">
              <a:buNone/>
            </a:pP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1170" y="2019300"/>
            <a:ext cx="8335108" cy="4322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018020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27"/>
                                        </p:tgtEl>
                                        <p:attrNameLst>
                                          <p:attrName>style.visibility</p:attrName>
                                        </p:attrNameLst>
                                      </p:cBhvr>
                                      <p:to>
                                        <p:strVal val="visible"/>
                                      </p:to>
                                    </p:set>
                                    <p:anim calcmode="lin" valueType="num">
                                      <p:cBhvr additive="base">
                                        <p:cTn id="17" dur="500" fill="hold"/>
                                        <p:tgtEl>
                                          <p:spTgt spid="1027"/>
                                        </p:tgtEl>
                                        <p:attrNameLst>
                                          <p:attrName>ppt_x</p:attrName>
                                        </p:attrNameLst>
                                      </p:cBhvr>
                                      <p:tavLst>
                                        <p:tav tm="0">
                                          <p:val>
                                            <p:strVal val="#ppt_x"/>
                                          </p:val>
                                        </p:tav>
                                        <p:tav tm="100000">
                                          <p:val>
                                            <p:strVal val="#ppt_x"/>
                                          </p:val>
                                        </p:tav>
                                      </p:tavLst>
                                    </p:anim>
                                    <p:anim calcmode="lin" valueType="num">
                                      <p:cBhvr additive="base">
                                        <p:cTn id="1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6" y="920262"/>
            <a:ext cx="10972800" cy="1066800"/>
          </a:xfrm>
        </p:spPr>
        <p:txBody>
          <a:bodyPr>
            <a:normAutofit/>
          </a:bodyPr>
          <a:lstStyle/>
          <a:p>
            <a:pPr marL="342900" indent="-342900">
              <a:buFont typeface="Wingdings" pitchFamily="2" charset="2"/>
              <a:buChar char="§"/>
            </a:pPr>
            <a:r>
              <a:rPr lang="en-US" sz="2400" b="1" dirty="0"/>
              <a:t>Knowing public opinion for political leader or their notions about rules and regulations</a:t>
            </a:r>
            <a:endParaRPr lang="en-US" sz="2400"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324709" y="2133600"/>
            <a:ext cx="9050214" cy="4278923"/>
          </a:xfrm>
          <a:prstGeom prst="rect">
            <a:avLst/>
          </a:prstGeom>
        </p:spPr>
      </p:pic>
    </p:spTree>
    <p:extLst>
      <p:ext uri="{BB962C8B-B14F-4D97-AF65-F5344CB8AC3E}">
        <p14:creationId xmlns:p14="http://schemas.microsoft.com/office/powerpoint/2010/main" val="154153707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0" y="873369"/>
            <a:ext cx="10972800" cy="1066800"/>
          </a:xfrm>
        </p:spPr>
        <p:txBody>
          <a:bodyPr/>
          <a:lstStyle/>
          <a:p>
            <a:r>
              <a:rPr lang="en-US" b="1" dirty="0">
                <a:solidFill>
                  <a:schemeClr val="accent6"/>
                </a:solidFill>
                <a:latin typeface="Arial" pitchFamily="34" charset="0"/>
                <a:cs typeface="Arial" pitchFamily="34" charset="0"/>
              </a:rPr>
              <a:t>Future Work</a:t>
            </a:r>
            <a:endParaRPr lang="en-US"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27538" y="2319762"/>
            <a:ext cx="10972800" cy="4325112"/>
          </a:xfrm>
        </p:spPr>
        <p:txBody>
          <a:bodyPr/>
          <a:lstStyle/>
          <a:p>
            <a:pPr marL="0">
              <a:lnSpc>
                <a:spcPct val="100000"/>
              </a:lnSpc>
            </a:pPr>
            <a:r>
              <a:rPr lang="en-US" spc="10" dirty="0">
                <a:solidFill>
                  <a:srgbClr val="2E2E2E"/>
                </a:solidFill>
                <a:latin typeface="Arial"/>
                <a:cs typeface="Arial"/>
              </a:rPr>
              <a:t>Using different other models and algorithms.</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Temporal analysis can be added as a future work in the project.</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Consideration of </a:t>
            </a:r>
            <a:r>
              <a:rPr lang="en-US" spc="10" dirty="0" err="1">
                <a:solidFill>
                  <a:srgbClr val="2E2E2E"/>
                </a:solidFill>
                <a:latin typeface="Arial"/>
                <a:cs typeface="Arial"/>
              </a:rPr>
              <a:t>Retweets</a:t>
            </a:r>
            <a:r>
              <a:rPr lang="en-US" spc="10" dirty="0">
                <a:solidFill>
                  <a:srgbClr val="2E2E2E"/>
                </a:solidFill>
                <a:latin typeface="Arial"/>
                <a:cs typeface="Arial"/>
              </a:rPr>
              <a:t> as a factor.</a:t>
            </a:r>
            <a:endParaRPr lang="en-US" dirty="0">
              <a:latin typeface="Arial"/>
              <a:cs typeface="Arial"/>
            </a:endParaRPr>
          </a:p>
          <a:p>
            <a:pPr marL="109728" indent="0">
              <a:buNone/>
            </a:pPr>
            <a:endParaRPr lang="en-US" dirty="0"/>
          </a:p>
        </p:txBody>
      </p:sp>
    </p:spTree>
    <p:extLst>
      <p:ext uri="{BB962C8B-B14F-4D97-AF65-F5344CB8AC3E}">
        <p14:creationId xmlns:p14="http://schemas.microsoft.com/office/powerpoint/2010/main" val="94482373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675" y="484188"/>
            <a:ext cx="7231063" cy="555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430018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832</TotalTime>
  <Words>699</Words>
  <Application>Microsoft Office PowerPoint</Application>
  <PresentationFormat>Custom</PresentationFormat>
  <Paragraphs>99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Urban</vt:lpstr>
      <vt:lpstr>Emotion Detection From Tweets And Emoticons</vt:lpstr>
      <vt:lpstr>Why Twitter Sentiment Analysis?</vt:lpstr>
      <vt:lpstr>Problem Statement</vt:lpstr>
      <vt:lpstr>Objective </vt:lpstr>
      <vt:lpstr>Example:</vt:lpstr>
      <vt:lpstr>Scope :</vt:lpstr>
      <vt:lpstr>Motivation :</vt:lpstr>
      <vt:lpstr>Literature Review :</vt:lpstr>
      <vt:lpstr>PROPOSED SYSTEM </vt:lpstr>
      <vt:lpstr>   Use case:</vt:lpstr>
      <vt:lpstr>Methods and Algorithm</vt:lpstr>
      <vt:lpstr>Why not Feed forward NN? Why RNN?</vt:lpstr>
      <vt:lpstr>How to overcome this problem?</vt:lpstr>
      <vt:lpstr>RNN</vt:lpstr>
      <vt:lpstr>PowerPoint Presentation</vt:lpstr>
      <vt:lpstr>Implementation  and  Results</vt:lpstr>
      <vt:lpstr>PowerPoint Presentation</vt:lpstr>
      <vt:lpstr>PowerPoint Presentation</vt:lpstr>
      <vt:lpstr>PowerPoint Presentation</vt:lpstr>
      <vt:lpstr>Applications</vt:lpstr>
      <vt:lpstr>Knowing public opinion for political leader or their notions about rules and regulations</vt:lpstr>
      <vt:lpstr>Future Work</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From Tweets And Emoticons</dc:title>
  <dc:creator>Sawan Kshatriya</dc:creator>
  <cp:lastModifiedBy>user</cp:lastModifiedBy>
  <cp:revision>69</cp:revision>
  <dcterms:created xsi:type="dcterms:W3CDTF">2018-10-18T12:19:38Z</dcterms:created>
  <dcterms:modified xsi:type="dcterms:W3CDTF">2019-04-25T18:27:50Z</dcterms:modified>
</cp:coreProperties>
</file>