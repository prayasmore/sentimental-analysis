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9" r:id="rId4"/>
    <p:sldId id="260" r:id="rId5"/>
    <p:sldId id="261" r:id="rId6"/>
    <p:sldId id="258" r:id="rId7"/>
    <p:sldId id="262" r:id="rId8"/>
    <p:sldId id="263" r:id="rId9"/>
    <p:sldId id="264" r:id="rId10"/>
    <p:sldId id="265" r:id="rId11"/>
    <p:sldId id="270" r:id="rId12"/>
    <p:sldId id="266" r:id="rId13"/>
    <p:sldId id="267" r:id="rId14"/>
    <p:sldId id="268" r:id="rId15"/>
    <p:sldId id="26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71"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5F20CA4B-9512-45DF-8744-D87E7A3C7E73}" type="datetimeFigureOut">
              <a:rPr lang="en-US" smtClean="0"/>
              <a:t>19/08/2018</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25428CB9-3CC3-4E5A-A9FC-82C7FBC7085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20CA4B-9512-45DF-8744-D87E7A3C7E73}" type="datetimeFigureOut">
              <a:rPr lang="en-US" smtClean="0"/>
              <a:t>19/08/2018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F20CA4B-9512-45DF-8744-D87E7A3C7E73}" type="datetimeFigureOut">
              <a:rPr lang="en-US" smtClean="0"/>
              <a:t>19/08/2018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F20CA4B-9512-45DF-8744-D87E7A3C7E73}" type="datetimeFigureOut">
              <a:rPr lang="en-US" smtClean="0"/>
              <a:t>19/08/2018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5F20CA4B-9512-45DF-8744-D87E7A3C7E73}" type="datetimeFigureOut">
              <a:rPr lang="en-US" smtClean="0"/>
              <a:t>19/08/2018</a:t>
            </a:fld>
            <a:endParaRPr lang="en-US"/>
          </a:p>
        </p:txBody>
      </p:sp>
      <p:sp>
        <p:nvSpPr>
          <p:cNvPr id="27" name="Slide Number Placeholder 26"/>
          <p:cNvSpPr>
            <a:spLocks noGrp="1"/>
          </p:cNvSpPr>
          <p:nvPr>
            <p:ph type="sldNum" sz="quarter" idx="11"/>
          </p:nvPr>
        </p:nvSpPr>
        <p:spPr/>
        <p:txBody>
          <a:bodyPr rtlCol="0"/>
          <a:lstStyle/>
          <a:p>
            <a:fld id="{25428CB9-3CC3-4E5A-A9FC-82C7FBC7085E}"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5F20CA4B-9512-45DF-8744-D87E7A3C7E73}" type="datetimeFigureOut">
              <a:rPr lang="en-US" smtClean="0"/>
              <a:t>19/08/2018</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25428CB9-3CC3-4E5A-A9FC-82C7FBC7085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20CA4B-9512-45DF-8744-D87E7A3C7E73}" type="datetimeFigureOut">
              <a:rPr lang="en-US" smtClean="0"/>
              <a:t>19/08/2018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F20CA4B-9512-45DF-8744-D87E7A3C7E73}" type="datetimeFigureOut">
              <a:rPr lang="en-US" smtClean="0"/>
              <a:t>19/08/2018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F20CA4B-9512-45DF-8744-D87E7A3C7E73}" type="datetimeFigureOut">
              <a:rPr lang="en-US" smtClean="0"/>
              <a:t>19/08/2018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20CA4B-9512-45DF-8744-D87E7A3C7E73}" type="datetimeFigureOut">
              <a:rPr lang="en-US" smtClean="0"/>
              <a:t>19/08/2018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20CA4B-9512-45DF-8744-D87E7A3C7E73}" type="datetimeFigureOut">
              <a:rPr lang="en-US" smtClean="0"/>
              <a:t>19/08/2018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28CB9-3CC3-4E5A-A9FC-82C7FBC7085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F20CA4B-9512-45DF-8744-D87E7A3C7E73}" type="datetimeFigureOut">
              <a:rPr lang="en-US" smtClean="0"/>
              <a:t>19/08/2018</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25428CB9-3CC3-4E5A-A9FC-82C7FBC7085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609600"/>
            <a:ext cx="7175351" cy="1793167"/>
          </a:xfrm>
        </p:spPr>
        <p:txBody>
          <a:bodyPr>
            <a:normAutofit/>
          </a:bodyPr>
          <a:lstStyle/>
          <a:p>
            <a:pPr marL="182880" indent="0">
              <a:buNone/>
            </a:pPr>
            <a:r>
              <a:rPr lang="en-US" sz="3600" dirty="0" smtClean="0"/>
              <a:t>Emotion Detection From Tweets And Emoticons</a:t>
            </a:r>
            <a:endParaRPr lang="en-US" sz="3600" dirty="0"/>
          </a:p>
        </p:txBody>
      </p:sp>
      <p:sp>
        <p:nvSpPr>
          <p:cNvPr id="3" name="Subtitle 2"/>
          <p:cNvSpPr>
            <a:spLocks noGrp="1"/>
          </p:cNvSpPr>
          <p:nvPr>
            <p:ph type="subTitle" idx="1"/>
          </p:nvPr>
        </p:nvSpPr>
        <p:spPr>
          <a:xfrm>
            <a:off x="3962400" y="4114800"/>
            <a:ext cx="4953000" cy="1752600"/>
          </a:xfrm>
        </p:spPr>
        <p:txBody>
          <a:bodyPr>
            <a:normAutofit fontScale="92500" lnSpcReduction="10000"/>
          </a:bodyPr>
          <a:lstStyle/>
          <a:p>
            <a:r>
              <a:rPr lang="en-US" b="1" dirty="0" smtClean="0"/>
              <a:t>Made by-</a:t>
            </a:r>
          </a:p>
          <a:p>
            <a:r>
              <a:rPr lang="en-US" dirty="0" smtClean="0"/>
              <a:t>Jain Rajat Ashok(22)</a:t>
            </a:r>
          </a:p>
          <a:p>
            <a:r>
              <a:rPr lang="en-US" dirty="0" err="1"/>
              <a:t>Dubey</a:t>
            </a:r>
            <a:r>
              <a:rPr lang="en-US" dirty="0"/>
              <a:t> </a:t>
            </a:r>
            <a:r>
              <a:rPr lang="en-US" dirty="0" smtClean="0"/>
              <a:t>Arun Kumar </a:t>
            </a:r>
            <a:r>
              <a:rPr lang="en-US" dirty="0" err="1" smtClean="0"/>
              <a:t>Vyas</a:t>
            </a:r>
            <a:r>
              <a:rPr lang="en-US" dirty="0" smtClean="0"/>
              <a:t> (14)</a:t>
            </a:r>
          </a:p>
          <a:p>
            <a:pPr lvl="0"/>
            <a:r>
              <a:rPr lang="en-US" dirty="0" smtClean="0"/>
              <a:t>Kshatriya </a:t>
            </a:r>
            <a:r>
              <a:rPr lang="en-US" dirty="0" err="1" smtClean="0"/>
              <a:t>Sawan</a:t>
            </a:r>
            <a:r>
              <a:rPr lang="en-US" dirty="0" smtClean="0"/>
              <a:t> </a:t>
            </a:r>
            <a:r>
              <a:rPr lang="en-US" dirty="0" err="1" smtClean="0"/>
              <a:t>Ranjan</a:t>
            </a:r>
            <a:r>
              <a:rPr lang="en-US" dirty="0" smtClean="0"/>
              <a:t>(32)</a:t>
            </a:r>
          </a:p>
          <a:p>
            <a:r>
              <a:rPr lang="en-US" dirty="0" err="1" smtClean="0"/>
              <a:t>Shukla</a:t>
            </a:r>
            <a:r>
              <a:rPr lang="en-US" dirty="0" smtClean="0"/>
              <a:t> </a:t>
            </a:r>
            <a:r>
              <a:rPr lang="en-US" dirty="0" err="1" smtClean="0"/>
              <a:t>Pratyush</a:t>
            </a:r>
            <a:r>
              <a:rPr lang="en-US" dirty="0" smtClean="0"/>
              <a:t> Suresh(58)</a:t>
            </a:r>
          </a:p>
        </p:txBody>
      </p:sp>
    </p:spTree>
    <p:extLst>
      <p:ext uri="{BB962C8B-B14F-4D97-AF65-F5344CB8AC3E}">
        <p14:creationId xmlns:p14="http://schemas.microsoft.com/office/powerpoint/2010/main" val="214017228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a:solidFill>
                  <a:schemeClr val="accent6"/>
                </a:solidFill>
                <a:latin typeface="Arial" pitchFamily="34" charset="0"/>
                <a:cs typeface="Arial" pitchFamily="34" charset="0"/>
              </a:rPr>
              <a:t>What is Sentiment Analysis?</a:t>
            </a:r>
            <a:endParaRPr lang="en-US" sz="3500"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57200" y="2514600"/>
            <a:ext cx="8229600" cy="4059936"/>
          </a:xfrm>
        </p:spPr>
        <p:txBody>
          <a:bodyPr/>
          <a:lstStyle/>
          <a:p>
            <a:r>
              <a:rPr lang="en-US" dirty="0"/>
              <a:t>It is classification of the polarity of </a:t>
            </a:r>
            <a:r>
              <a:rPr lang="en-US" dirty="0" smtClean="0"/>
              <a:t>a given </a:t>
            </a:r>
            <a:r>
              <a:rPr lang="en-US" dirty="0"/>
              <a:t>text in the document, </a:t>
            </a:r>
            <a:r>
              <a:rPr lang="en-US" dirty="0" smtClean="0"/>
              <a:t>sentence or phrase</a:t>
            </a:r>
          </a:p>
          <a:p>
            <a:pPr marL="109728" indent="0">
              <a:buNone/>
            </a:pPr>
            <a:endParaRPr lang="en-US" dirty="0"/>
          </a:p>
          <a:p>
            <a:r>
              <a:rPr lang="en-US" dirty="0" smtClean="0"/>
              <a:t> </a:t>
            </a:r>
            <a:r>
              <a:rPr lang="en-US" dirty="0"/>
              <a:t>The goal is to determine whether </a:t>
            </a:r>
            <a:r>
              <a:rPr lang="en-US" dirty="0" smtClean="0"/>
              <a:t>the expressed </a:t>
            </a:r>
            <a:r>
              <a:rPr lang="en-US" dirty="0"/>
              <a:t>opinion in the text </a:t>
            </a:r>
            <a:r>
              <a:rPr lang="en-US" dirty="0" smtClean="0"/>
              <a:t>is positive</a:t>
            </a:r>
            <a:r>
              <a:rPr lang="en-US" dirty="0"/>
              <a:t>, negative or neutral</a:t>
            </a:r>
          </a:p>
        </p:txBody>
      </p:sp>
    </p:spTree>
    <p:extLst>
      <p:ext uri="{BB962C8B-B14F-4D97-AF65-F5344CB8AC3E}">
        <p14:creationId xmlns:p14="http://schemas.microsoft.com/office/powerpoint/2010/main" val="27489463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811" y="1619724"/>
            <a:ext cx="8364093" cy="1162215"/>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914400"/>
            <a:ext cx="213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Imag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042" y="3581400"/>
            <a:ext cx="8364095" cy="1467104"/>
          </a:xfrm>
          <a:prstGeom prst="rect">
            <a:avLst/>
          </a:prstGeom>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5410200"/>
            <a:ext cx="1987731"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095491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27"/>
                                        </p:tgtEl>
                                        <p:attrNameLst>
                                          <p:attrName>style.visibility</p:attrName>
                                        </p:attrNameLst>
                                      </p:cBhvr>
                                      <p:to>
                                        <p:strVal val="visible"/>
                                      </p:to>
                                    </p:set>
                                    <p:anim calcmode="lin" valueType="num">
                                      <p:cBhvr additive="base">
                                        <p:cTn id="21" dur="500" fill="hold"/>
                                        <p:tgtEl>
                                          <p:spTgt spid="1027"/>
                                        </p:tgtEl>
                                        <p:attrNameLst>
                                          <p:attrName>ppt_x</p:attrName>
                                        </p:attrNameLst>
                                      </p:cBhvr>
                                      <p:tavLst>
                                        <p:tav tm="0">
                                          <p:val>
                                            <p:strVal val="#ppt_x"/>
                                          </p:val>
                                        </p:tav>
                                        <p:tav tm="100000">
                                          <p:val>
                                            <p:strVal val="#ppt_x"/>
                                          </p:val>
                                        </p:tav>
                                      </p:tavLst>
                                    </p:anim>
                                    <p:anim calcmode="lin" valueType="num">
                                      <p:cBhvr additive="base">
                                        <p:cTn id="22"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685800"/>
          </a:xfrm>
        </p:spPr>
        <p:txBody>
          <a:bodyPr>
            <a:noAutofit/>
          </a:bodyPr>
          <a:lstStyle/>
          <a:p>
            <a:r>
              <a:rPr lang="en-US" sz="3200" b="1" spc="10" dirty="0">
                <a:solidFill>
                  <a:schemeClr val="accent6"/>
                </a:solidFill>
                <a:latin typeface="Arial"/>
                <a:cs typeface="Arial"/>
              </a:rPr>
              <a:t>Why is Sentiment Analysis Important?</a:t>
            </a:r>
            <a:r>
              <a:rPr lang="en-US" sz="3200" dirty="0">
                <a:solidFill>
                  <a:schemeClr val="accent6"/>
                </a:solidFill>
                <a:latin typeface="Arial"/>
                <a:cs typeface="Arial"/>
              </a:rPr>
              <a:t/>
            </a:r>
            <a:br>
              <a:rPr lang="en-US" sz="3200" dirty="0">
                <a:solidFill>
                  <a:schemeClr val="accent6"/>
                </a:solidFill>
                <a:latin typeface="Arial"/>
                <a:cs typeface="Arial"/>
              </a:rPr>
            </a:br>
            <a:endParaRPr lang="en-US" sz="3200" dirty="0">
              <a:solidFill>
                <a:schemeClr val="accent6"/>
              </a:solidFill>
            </a:endParaRPr>
          </a:p>
        </p:txBody>
      </p:sp>
      <p:sp>
        <p:nvSpPr>
          <p:cNvPr id="3" name="Content Placeholder 2"/>
          <p:cNvSpPr>
            <a:spLocks noGrp="1"/>
          </p:cNvSpPr>
          <p:nvPr>
            <p:ph idx="1"/>
          </p:nvPr>
        </p:nvSpPr>
        <p:spPr>
          <a:xfrm>
            <a:off x="457200" y="1981200"/>
            <a:ext cx="8229600" cy="4325112"/>
          </a:xfrm>
        </p:spPr>
        <p:txBody>
          <a:bodyPr>
            <a:normAutofit lnSpcReduction="10000"/>
          </a:bodyPr>
          <a:lstStyle/>
          <a:p>
            <a:r>
              <a:rPr lang="en-US" spc="10" dirty="0" smtClean="0">
                <a:latin typeface="Calibri"/>
                <a:cs typeface="Calibri"/>
              </a:rPr>
              <a:t>Micro blogging </a:t>
            </a:r>
            <a:r>
              <a:rPr lang="en-US" spc="10" dirty="0">
                <a:latin typeface="Calibri"/>
                <a:cs typeface="Calibri"/>
              </a:rPr>
              <a:t>has become popular communication tool</a:t>
            </a:r>
            <a:endParaRPr lang="en-US" dirty="0">
              <a:latin typeface="Calibri"/>
              <a:cs typeface="Calibri"/>
            </a:endParaRPr>
          </a:p>
          <a:p>
            <a:r>
              <a:rPr lang="en-US" spc="10" dirty="0" smtClean="0">
                <a:latin typeface="Calibri"/>
                <a:cs typeface="Calibri"/>
              </a:rPr>
              <a:t>Opinion </a:t>
            </a:r>
            <a:r>
              <a:rPr lang="en-US" spc="10" dirty="0">
                <a:latin typeface="Calibri"/>
                <a:cs typeface="Calibri"/>
              </a:rPr>
              <a:t>of the mass is </a:t>
            </a:r>
            <a:r>
              <a:rPr lang="en-US" spc="10" dirty="0" smtClean="0">
                <a:latin typeface="Calibri"/>
                <a:cs typeface="Calibri"/>
              </a:rPr>
              <a:t>important</a:t>
            </a:r>
          </a:p>
          <a:p>
            <a:pPr marL="109728" indent="0">
              <a:buNone/>
            </a:pPr>
            <a:r>
              <a:rPr lang="en-US" spc="10" dirty="0">
                <a:latin typeface="Calibri"/>
                <a:cs typeface="Calibri"/>
              </a:rPr>
              <a:t> </a:t>
            </a:r>
            <a:r>
              <a:rPr lang="en-US" spc="10" dirty="0" smtClean="0">
                <a:latin typeface="Calibri"/>
                <a:cs typeface="Calibri"/>
              </a:rPr>
              <a:t> -</a:t>
            </a:r>
            <a:r>
              <a:rPr lang="en-US" spc="10" dirty="0">
                <a:solidFill>
                  <a:srgbClr val="A6A6A6"/>
                </a:solidFill>
                <a:latin typeface="Arial"/>
                <a:cs typeface="Arial"/>
              </a:rPr>
              <a:t>  </a:t>
            </a:r>
            <a:r>
              <a:rPr lang="en-US" spc="10" dirty="0">
                <a:latin typeface="Calibri"/>
                <a:cs typeface="Calibri"/>
              </a:rPr>
              <a:t>Political party may want to know whether people </a:t>
            </a:r>
            <a:r>
              <a:rPr lang="en-US" spc="10" dirty="0" smtClean="0">
                <a:latin typeface="Calibri"/>
                <a:cs typeface="Calibri"/>
              </a:rPr>
              <a:t>  support </a:t>
            </a:r>
            <a:r>
              <a:rPr lang="en-US" spc="10" dirty="0">
                <a:latin typeface="Calibri"/>
                <a:cs typeface="Calibri"/>
              </a:rPr>
              <a:t>their program </a:t>
            </a:r>
            <a:r>
              <a:rPr lang="en-US" spc="10" dirty="0" smtClean="0">
                <a:latin typeface="Calibri"/>
                <a:cs typeface="Calibri"/>
              </a:rPr>
              <a:t>or not.</a:t>
            </a:r>
          </a:p>
          <a:p>
            <a:pPr marL="109728" indent="0">
              <a:buNone/>
            </a:pPr>
            <a:r>
              <a:rPr lang="en-US" spc="10" dirty="0" smtClean="0">
                <a:latin typeface="Calibri"/>
                <a:cs typeface="Calibri"/>
              </a:rPr>
              <a:t>  - </a:t>
            </a:r>
            <a:r>
              <a:rPr lang="en-US" spc="10" dirty="0">
                <a:solidFill>
                  <a:srgbClr val="A6A6A6"/>
                </a:solidFill>
                <a:latin typeface="Arial"/>
                <a:cs typeface="Arial"/>
              </a:rPr>
              <a:t> </a:t>
            </a:r>
            <a:r>
              <a:rPr lang="en-US" spc="10" dirty="0">
                <a:latin typeface="Calibri"/>
                <a:cs typeface="Calibri"/>
              </a:rPr>
              <a:t>Before investing into a company, one can leverage the sentiment of </a:t>
            </a:r>
            <a:r>
              <a:rPr lang="en-US" spc="10" dirty="0" smtClean="0">
                <a:latin typeface="Calibri"/>
                <a:cs typeface="Calibri"/>
              </a:rPr>
              <a:t>the</a:t>
            </a:r>
            <a:r>
              <a:rPr lang="en-US" dirty="0" smtClean="0">
                <a:latin typeface="Calibri"/>
                <a:cs typeface="Calibri"/>
              </a:rPr>
              <a:t> </a:t>
            </a:r>
            <a:r>
              <a:rPr lang="en-US" spc="10" dirty="0" smtClean="0">
                <a:latin typeface="Calibri"/>
                <a:cs typeface="Calibri"/>
              </a:rPr>
              <a:t>people </a:t>
            </a:r>
            <a:r>
              <a:rPr lang="en-US" spc="10" dirty="0">
                <a:latin typeface="Calibri"/>
                <a:cs typeface="Calibri"/>
              </a:rPr>
              <a:t>for the company to find out where it stands.</a:t>
            </a:r>
            <a:endParaRPr lang="en-US" dirty="0">
              <a:latin typeface="Calibri"/>
              <a:cs typeface="Calibri"/>
            </a:endParaRPr>
          </a:p>
          <a:p>
            <a:pPr marL="109728" indent="0">
              <a:buNone/>
            </a:pPr>
            <a:r>
              <a:rPr lang="en-US" dirty="0" smtClean="0">
                <a:latin typeface="Calibri"/>
                <a:cs typeface="Calibri"/>
              </a:rPr>
              <a:t>  -  </a:t>
            </a:r>
            <a:r>
              <a:rPr lang="en-US" spc="10" dirty="0" smtClean="0">
                <a:latin typeface="Calibri"/>
                <a:cs typeface="Calibri"/>
              </a:rPr>
              <a:t>A </a:t>
            </a:r>
            <a:r>
              <a:rPr lang="en-US" spc="10" dirty="0">
                <a:latin typeface="Calibri"/>
                <a:cs typeface="Calibri"/>
              </a:rPr>
              <a:t>company might want find out the reviews of its products</a:t>
            </a:r>
            <a:endParaRPr lang="en-US" dirty="0">
              <a:latin typeface="Calibri"/>
              <a:cs typeface="Calibri"/>
            </a:endParaRPr>
          </a:p>
          <a:p>
            <a:pPr marL="109728" indent="0">
              <a:buNone/>
            </a:pPr>
            <a:endParaRPr lang="en-US" dirty="0">
              <a:latin typeface="Calibri"/>
              <a:cs typeface="Calibri"/>
            </a:endParaRPr>
          </a:p>
          <a:p>
            <a:pPr marL="109728" indent="0">
              <a:buNone/>
            </a:pPr>
            <a:endParaRPr lang="en-US" dirty="0">
              <a:latin typeface="Calibri"/>
              <a:cs typeface="Calibri"/>
            </a:endParaRPr>
          </a:p>
          <a:p>
            <a:endParaRPr lang="en-US" dirty="0"/>
          </a:p>
        </p:txBody>
      </p:sp>
    </p:spTree>
    <p:extLst>
      <p:ext uri="{BB962C8B-B14F-4D97-AF65-F5344CB8AC3E}">
        <p14:creationId xmlns:p14="http://schemas.microsoft.com/office/powerpoint/2010/main" val="5309699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838200"/>
          </a:xfrm>
        </p:spPr>
        <p:txBody>
          <a:bodyPr>
            <a:normAutofit fontScale="90000"/>
          </a:bodyPr>
          <a:lstStyle/>
          <a:p>
            <a:r>
              <a:rPr lang="en-US" b="1" spc="10" dirty="0">
                <a:solidFill>
                  <a:schemeClr val="accent6"/>
                </a:solidFill>
                <a:latin typeface="Arial"/>
                <a:cs typeface="Arial"/>
              </a:rPr>
              <a:t>Using Twitter for Sentiment </a:t>
            </a:r>
            <a:r>
              <a:rPr lang="en-US" b="1" spc="10" dirty="0" smtClean="0">
                <a:solidFill>
                  <a:schemeClr val="accent6"/>
                </a:solidFill>
                <a:latin typeface="Arial"/>
                <a:cs typeface="Arial"/>
              </a:rPr>
              <a:t>Analysis</a:t>
            </a:r>
            <a:endParaRPr lang="en-US" dirty="0">
              <a:solidFill>
                <a:schemeClr val="accent6"/>
              </a:solidFill>
            </a:endParaRPr>
          </a:p>
        </p:txBody>
      </p:sp>
      <p:sp>
        <p:nvSpPr>
          <p:cNvPr id="3" name="Content Placeholder 2"/>
          <p:cNvSpPr>
            <a:spLocks noGrp="1"/>
          </p:cNvSpPr>
          <p:nvPr>
            <p:ph idx="1"/>
          </p:nvPr>
        </p:nvSpPr>
        <p:spPr/>
        <p:txBody>
          <a:bodyPr>
            <a:normAutofit lnSpcReduction="10000"/>
          </a:bodyPr>
          <a:lstStyle/>
          <a:p>
            <a:r>
              <a:rPr lang="en-US" spc="10" dirty="0">
                <a:solidFill>
                  <a:srgbClr val="A6A6A6"/>
                </a:solidFill>
                <a:latin typeface="Arial"/>
                <a:cs typeface="Arial"/>
              </a:rPr>
              <a:t>  </a:t>
            </a:r>
            <a:r>
              <a:rPr lang="en-US" spc="10" dirty="0">
                <a:latin typeface="Calibri"/>
                <a:cs typeface="Calibri"/>
              </a:rPr>
              <a:t>Popular </a:t>
            </a:r>
            <a:r>
              <a:rPr lang="en-US" spc="10" dirty="0" smtClean="0">
                <a:latin typeface="Calibri"/>
                <a:cs typeface="Calibri"/>
              </a:rPr>
              <a:t>micro blogging </a:t>
            </a:r>
            <a:r>
              <a:rPr lang="en-US" spc="10" dirty="0">
                <a:latin typeface="Calibri"/>
                <a:cs typeface="Calibri"/>
              </a:rPr>
              <a:t>site</a:t>
            </a:r>
            <a:endParaRPr lang="en-US" dirty="0">
              <a:latin typeface="Calibri"/>
              <a:cs typeface="Calibri"/>
            </a:endParaRPr>
          </a:p>
          <a:p>
            <a:r>
              <a:rPr lang="en-US" spc="10" dirty="0" smtClean="0">
                <a:solidFill>
                  <a:srgbClr val="A6A6A6"/>
                </a:solidFill>
                <a:latin typeface="Arial"/>
                <a:cs typeface="Arial"/>
              </a:rPr>
              <a:t> </a:t>
            </a:r>
            <a:r>
              <a:rPr lang="en-US" spc="10" dirty="0">
                <a:solidFill>
                  <a:srgbClr val="A6A6A6"/>
                </a:solidFill>
                <a:latin typeface="Arial"/>
                <a:cs typeface="Arial"/>
              </a:rPr>
              <a:t> </a:t>
            </a:r>
            <a:r>
              <a:rPr lang="en-US" spc="10" dirty="0">
                <a:latin typeface="Calibri"/>
                <a:cs typeface="Calibri"/>
              </a:rPr>
              <a:t>Short Text Messages of 140 characters</a:t>
            </a:r>
            <a:endParaRPr lang="en-US" dirty="0">
              <a:latin typeface="Calibri"/>
              <a:cs typeface="Calibri"/>
            </a:endParaRPr>
          </a:p>
          <a:p>
            <a:r>
              <a:rPr lang="en-US" spc="10" dirty="0">
                <a:solidFill>
                  <a:srgbClr val="A6A6A6"/>
                </a:solidFill>
                <a:latin typeface="Arial"/>
                <a:cs typeface="Arial"/>
              </a:rPr>
              <a:t>  </a:t>
            </a:r>
            <a:r>
              <a:rPr lang="en-US" spc="10" dirty="0">
                <a:latin typeface="Calibri"/>
                <a:cs typeface="Calibri"/>
              </a:rPr>
              <a:t>240+ million active users</a:t>
            </a:r>
            <a:endParaRPr lang="en-US" dirty="0">
              <a:latin typeface="Calibri"/>
              <a:cs typeface="Calibri"/>
            </a:endParaRPr>
          </a:p>
          <a:p>
            <a:r>
              <a:rPr lang="en-US" spc="10" dirty="0">
                <a:solidFill>
                  <a:srgbClr val="A6A6A6"/>
                </a:solidFill>
                <a:latin typeface="Arial"/>
                <a:cs typeface="Arial"/>
              </a:rPr>
              <a:t>  </a:t>
            </a:r>
            <a:r>
              <a:rPr lang="en-US" spc="10" dirty="0">
                <a:latin typeface="Calibri"/>
                <a:cs typeface="Calibri"/>
              </a:rPr>
              <a:t>500 million tweets are generated everyday</a:t>
            </a:r>
            <a:endParaRPr lang="en-US" dirty="0">
              <a:latin typeface="Calibri"/>
              <a:cs typeface="Calibri"/>
            </a:endParaRPr>
          </a:p>
          <a:p>
            <a:r>
              <a:rPr lang="en-US" spc="10" dirty="0">
                <a:solidFill>
                  <a:srgbClr val="A6A6A6"/>
                </a:solidFill>
                <a:latin typeface="Arial"/>
                <a:cs typeface="Arial"/>
              </a:rPr>
              <a:t>  </a:t>
            </a:r>
            <a:r>
              <a:rPr lang="en-US" spc="10" dirty="0">
                <a:latin typeface="Calibri"/>
                <a:cs typeface="Calibri"/>
              </a:rPr>
              <a:t>Twitter audience varies from common man to celebrities</a:t>
            </a:r>
            <a:endParaRPr lang="en-US" dirty="0">
              <a:latin typeface="Calibri"/>
              <a:cs typeface="Calibri"/>
            </a:endParaRPr>
          </a:p>
          <a:p>
            <a:r>
              <a:rPr lang="en-US" spc="10" dirty="0">
                <a:solidFill>
                  <a:srgbClr val="A6A6A6"/>
                </a:solidFill>
                <a:latin typeface="Arial"/>
                <a:cs typeface="Arial"/>
              </a:rPr>
              <a:t>  </a:t>
            </a:r>
            <a:r>
              <a:rPr lang="en-US" spc="10" dirty="0">
                <a:latin typeface="Calibri"/>
                <a:cs typeface="Calibri"/>
              </a:rPr>
              <a:t>Users often discuss current affairs and share personal views </a:t>
            </a:r>
            <a:r>
              <a:rPr lang="en-US" spc="10" dirty="0" smtClean="0">
                <a:latin typeface="Calibri"/>
                <a:cs typeface="Calibri"/>
              </a:rPr>
              <a:t>on </a:t>
            </a:r>
            <a:r>
              <a:rPr lang="en-US" spc="10" dirty="0">
                <a:latin typeface="Calibri"/>
                <a:cs typeface="Calibri"/>
              </a:rPr>
              <a:t>various subjects</a:t>
            </a:r>
            <a:endParaRPr lang="en-US" dirty="0">
              <a:latin typeface="Calibri"/>
              <a:cs typeface="Calibri"/>
            </a:endParaRPr>
          </a:p>
          <a:p>
            <a:r>
              <a:rPr lang="en-US" spc="10" dirty="0">
                <a:solidFill>
                  <a:srgbClr val="A6A6A6"/>
                </a:solidFill>
                <a:latin typeface="Arial"/>
                <a:cs typeface="Arial"/>
              </a:rPr>
              <a:t>  </a:t>
            </a:r>
            <a:r>
              <a:rPr lang="en-US" spc="10" dirty="0">
                <a:latin typeface="Calibri"/>
                <a:cs typeface="Calibri"/>
              </a:rPr>
              <a:t>Tweets are small in length and hence </a:t>
            </a:r>
            <a:r>
              <a:rPr lang="en-US" spc="10" dirty="0" smtClean="0">
                <a:latin typeface="Calibri"/>
                <a:cs typeface="Calibri"/>
              </a:rPr>
              <a:t>unambiguous.</a:t>
            </a:r>
            <a:endParaRPr lang="en-US" dirty="0">
              <a:latin typeface="Calibri"/>
              <a:cs typeface="Calibri"/>
            </a:endParaRPr>
          </a:p>
          <a:p>
            <a:endParaRPr lang="en-US" dirty="0">
              <a:latin typeface="Calibri"/>
              <a:cs typeface="Calibri"/>
            </a:endParaRPr>
          </a:p>
          <a:p>
            <a:endParaRPr lang="en-US" dirty="0"/>
          </a:p>
        </p:txBody>
      </p:sp>
    </p:spTree>
    <p:extLst>
      <p:ext uri="{BB962C8B-B14F-4D97-AF65-F5344CB8AC3E}">
        <p14:creationId xmlns:p14="http://schemas.microsoft.com/office/powerpoint/2010/main" val="231977979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14400"/>
          </a:xfrm>
        </p:spPr>
        <p:txBody>
          <a:bodyPr>
            <a:normAutofit/>
          </a:bodyPr>
          <a:lstStyle/>
          <a:p>
            <a:r>
              <a:rPr lang="en-US" sz="3500" b="1" dirty="0">
                <a:solidFill>
                  <a:schemeClr val="accent6"/>
                </a:solidFill>
                <a:latin typeface="Arial" pitchFamily="34" charset="0"/>
                <a:cs typeface="Arial" pitchFamily="34" charset="0"/>
              </a:rPr>
              <a:t>Problem Statement</a:t>
            </a:r>
            <a:endParaRPr lang="en-US" sz="3500"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marL="109728" indent="0">
              <a:buNone/>
            </a:pPr>
            <a:r>
              <a:rPr lang="en-US" sz="2300" b="1" dirty="0"/>
              <a:t>The problem at hand consists of two subtasks</a:t>
            </a:r>
            <a:r>
              <a:rPr lang="en-US" sz="2300" b="1" dirty="0" smtClean="0"/>
              <a:t>:</a:t>
            </a:r>
          </a:p>
          <a:p>
            <a:pPr marL="109728" indent="0">
              <a:buNone/>
            </a:pPr>
            <a:endParaRPr lang="en-US" sz="2300" dirty="0"/>
          </a:p>
          <a:p>
            <a:pPr marL="109728" indent="0">
              <a:buNone/>
            </a:pPr>
            <a:r>
              <a:rPr lang="en-US" sz="2300" dirty="0"/>
              <a:t>• </a:t>
            </a:r>
            <a:r>
              <a:rPr lang="en-US" sz="2300" b="1" dirty="0"/>
              <a:t>Sentence Level Sentiment Analysis in Twitter:</a:t>
            </a:r>
          </a:p>
          <a:p>
            <a:pPr marL="109728" indent="0">
              <a:buNone/>
            </a:pPr>
            <a:r>
              <a:rPr lang="en-US" sz="2300" dirty="0" smtClean="0"/>
              <a:t>	Given </a:t>
            </a:r>
            <a:r>
              <a:rPr lang="en-US" sz="2300" dirty="0"/>
              <a:t>a message, decide whether the message is of </a:t>
            </a:r>
            <a:r>
              <a:rPr lang="en-US" sz="2300" dirty="0" smtClean="0"/>
              <a:t>positive or  negative sentiment</a:t>
            </a:r>
            <a:r>
              <a:rPr lang="en-US" sz="2300" dirty="0"/>
              <a:t>. </a:t>
            </a:r>
            <a:endParaRPr lang="en-US" sz="2300" dirty="0" smtClean="0"/>
          </a:p>
          <a:p>
            <a:pPr marL="109728" indent="0">
              <a:buNone/>
            </a:pPr>
            <a:r>
              <a:rPr lang="en-US" sz="2300" dirty="0" smtClean="0"/>
              <a:t>For </a:t>
            </a:r>
            <a:r>
              <a:rPr lang="en-US" sz="2300" dirty="0"/>
              <a:t>messages conveying both a positive and </a:t>
            </a:r>
            <a:r>
              <a:rPr lang="en-US" sz="2300" dirty="0" smtClean="0"/>
              <a:t>negative sentiment</a:t>
            </a:r>
            <a:r>
              <a:rPr lang="en-US" sz="2300" dirty="0"/>
              <a:t>, whichever is the stronger sentiment should be chosen</a:t>
            </a:r>
            <a:r>
              <a:rPr lang="en-US" sz="2300" dirty="0" smtClean="0"/>
              <a:t>.</a:t>
            </a:r>
          </a:p>
          <a:p>
            <a:pPr marL="109728" indent="0">
              <a:buNone/>
            </a:pPr>
            <a:r>
              <a:rPr lang="en-US" sz="2300" dirty="0" smtClean="0"/>
              <a:t>•</a:t>
            </a:r>
            <a:r>
              <a:rPr lang="en-US" sz="2300" b="1" dirty="0" smtClean="0"/>
              <a:t>Emoticons Level </a:t>
            </a:r>
            <a:r>
              <a:rPr lang="en-US" sz="2300" b="1" dirty="0"/>
              <a:t>Sentiment Analysis in Twitter:</a:t>
            </a:r>
          </a:p>
          <a:p>
            <a:pPr marL="109728" indent="0">
              <a:buNone/>
            </a:pPr>
            <a:r>
              <a:rPr lang="en-US" sz="2300" dirty="0" smtClean="0"/>
              <a:t>	Given </a:t>
            </a:r>
            <a:r>
              <a:rPr lang="en-US" sz="2300" dirty="0"/>
              <a:t>a </a:t>
            </a:r>
            <a:r>
              <a:rPr lang="en-US" sz="2300" dirty="0" smtClean="0"/>
              <a:t>emoticon whether </a:t>
            </a:r>
            <a:r>
              <a:rPr lang="en-US" sz="2300" dirty="0"/>
              <a:t>that instance is positive, negative </a:t>
            </a:r>
            <a:r>
              <a:rPr lang="en-US" sz="2300" dirty="0" smtClean="0"/>
              <a:t>in that context</a:t>
            </a:r>
            <a:r>
              <a:rPr lang="en-US" sz="2300" dirty="0"/>
              <a:t>.</a:t>
            </a:r>
          </a:p>
        </p:txBody>
      </p:sp>
    </p:spTree>
    <p:extLst>
      <p:ext uri="{BB962C8B-B14F-4D97-AF65-F5344CB8AC3E}">
        <p14:creationId xmlns:p14="http://schemas.microsoft.com/office/powerpoint/2010/main" val="144263811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056975"/>
            <a:ext cx="7056755" cy="868743"/>
          </a:xfrm>
          <a:prstGeom prst="rect">
            <a:avLst/>
          </a:prstGeom>
        </p:spPr>
      </p:pic>
      <p:sp>
        <p:nvSpPr>
          <p:cNvPr id="3" name="Rectangle 2"/>
          <p:cNvSpPr/>
          <p:nvPr/>
        </p:nvSpPr>
        <p:spPr>
          <a:xfrm>
            <a:off x="1219200" y="1403866"/>
            <a:ext cx="6705600" cy="400110"/>
          </a:xfrm>
          <a:prstGeom prst="rect">
            <a:avLst/>
          </a:prstGeom>
        </p:spPr>
        <p:txBody>
          <a:bodyPr wrap="square">
            <a:spAutoFit/>
          </a:bodyPr>
          <a:lstStyle/>
          <a:p>
            <a:r>
              <a:rPr lang="en-US" sz="2000" b="1" spc="10" dirty="0">
                <a:solidFill>
                  <a:srgbClr val="A6A6A6"/>
                </a:solidFill>
                <a:latin typeface="Arial"/>
                <a:cs typeface="Arial"/>
              </a:rPr>
              <a:t>•  </a:t>
            </a:r>
            <a:r>
              <a:rPr lang="en-US" sz="2000" b="1" spc="10" dirty="0">
                <a:latin typeface="Calibri"/>
                <a:cs typeface="Calibri"/>
              </a:rPr>
              <a:t>Tweets are highly unstructured and also non-grammatical</a:t>
            </a:r>
            <a:endParaRPr lang="en-US" sz="2000" b="1" dirty="0">
              <a:latin typeface="Calibri"/>
              <a:cs typeface="Calibri"/>
            </a:endParaRPr>
          </a:p>
        </p:txBody>
      </p:sp>
      <p:pic>
        <p:nvPicPr>
          <p:cNvPr id="4" name="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3974535"/>
            <a:ext cx="7051421" cy="909116"/>
          </a:xfrm>
          <a:prstGeom prst="rect">
            <a:avLst/>
          </a:prstGeom>
        </p:spPr>
      </p:pic>
      <p:sp>
        <p:nvSpPr>
          <p:cNvPr id="5" name="Rectangle 4"/>
          <p:cNvSpPr/>
          <p:nvPr/>
        </p:nvSpPr>
        <p:spPr>
          <a:xfrm>
            <a:off x="1219200" y="3251479"/>
            <a:ext cx="3119700" cy="400110"/>
          </a:xfrm>
          <a:prstGeom prst="rect">
            <a:avLst/>
          </a:prstGeom>
        </p:spPr>
        <p:txBody>
          <a:bodyPr wrap="none">
            <a:spAutoFit/>
          </a:bodyPr>
          <a:lstStyle/>
          <a:p>
            <a:r>
              <a:rPr lang="en-US" sz="2000" b="1" spc="10" dirty="0">
                <a:solidFill>
                  <a:srgbClr val="A6A6A6"/>
                </a:solidFill>
                <a:latin typeface="Arial"/>
                <a:cs typeface="Arial"/>
              </a:rPr>
              <a:t>•  </a:t>
            </a:r>
            <a:r>
              <a:rPr lang="en-US" sz="2000" b="1" spc="10" dirty="0">
                <a:latin typeface="Calibri"/>
                <a:cs typeface="Calibri"/>
              </a:rPr>
              <a:t>Out of Vocabulary Words</a:t>
            </a:r>
            <a:endParaRPr lang="en-US" sz="2000" b="1" dirty="0">
              <a:latin typeface="Calibri"/>
              <a:cs typeface="Calibri"/>
            </a:endParaRPr>
          </a:p>
        </p:txBody>
      </p:sp>
      <p:pic>
        <p:nvPicPr>
          <p:cNvPr id="6" name="Imag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199" y="5715000"/>
            <a:ext cx="7056755" cy="940752"/>
          </a:xfrm>
          <a:prstGeom prst="rect">
            <a:avLst/>
          </a:prstGeom>
        </p:spPr>
      </p:pic>
      <p:sp>
        <p:nvSpPr>
          <p:cNvPr id="7" name="Rectangle 6"/>
          <p:cNvSpPr/>
          <p:nvPr/>
        </p:nvSpPr>
        <p:spPr>
          <a:xfrm>
            <a:off x="1219199" y="5133498"/>
            <a:ext cx="2179186" cy="400110"/>
          </a:xfrm>
          <a:prstGeom prst="rect">
            <a:avLst/>
          </a:prstGeom>
        </p:spPr>
        <p:txBody>
          <a:bodyPr wrap="none">
            <a:spAutoFit/>
          </a:bodyPr>
          <a:lstStyle/>
          <a:p>
            <a:r>
              <a:rPr lang="en-US" sz="2000" b="1" spc="10" dirty="0">
                <a:solidFill>
                  <a:srgbClr val="A6A6A6"/>
                </a:solidFill>
                <a:latin typeface="Arial"/>
                <a:cs typeface="Arial"/>
              </a:rPr>
              <a:t>•  </a:t>
            </a:r>
            <a:r>
              <a:rPr lang="en-US" sz="2000" b="1" spc="10" dirty="0">
                <a:latin typeface="Calibri"/>
                <a:cs typeface="Calibri"/>
              </a:rPr>
              <a:t>Lexical Variation</a:t>
            </a:r>
            <a:endParaRPr lang="en-US" sz="2000" b="1" dirty="0">
              <a:latin typeface="Calibri"/>
              <a:cs typeface="Calibri"/>
            </a:endParaRPr>
          </a:p>
        </p:txBody>
      </p:sp>
      <p:sp>
        <p:nvSpPr>
          <p:cNvPr id="8" name="Rectangle 7"/>
          <p:cNvSpPr/>
          <p:nvPr/>
        </p:nvSpPr>
        <p:spPr>
          <a:xfrm>
            <a:off x="3398384" y="682808"/>
            <a:ext cx="2773816" cy="553998"/>
          </a:xfrm>
          <a:prstGeom prst="rect">
            <a:avLst/>
          </a:prstGeom>
        </p:spPr>
        <p:txBody>
          <a:bodyPr wrap="square">
            <a:spAutoFit/>
          </a:bodyPr>
          <a:lstStyle/>
          <a:p>
            <a:r>
              <a:rPr lang="en-US" sz="3000" b="1" spc="10" dirty="0">
                <a:solidFill>
                  <a:srgbClr val="5B9BD5"/>
                </a:solidFill>
                <a:latin typeface="Arial"/>
                <a:cs typeface="Arial"/>
              </a:rPr>
              <a:t>Challenges</a:t>
            </a:r>
            <a:endParaRPr lang="en-US" sz="3000" dirty="0"/>
          </a:p>
        </p:txBody>
      </p:sp>
    </p:spTree>
    <p:extLst>
      <p:ext uri="{BB962C8B-B14F-4D97-AF65-F5344CB8AC3E}">
        <p14:creationId xmlns:p14="http://schemas.microsoft.com/office/powerpoint/2010/main" val="427552315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762000"/>
            <a:ext cx="2667000" cy="685800"/>
          </a:xfrm>
        </p:spPr>
        <p:txBody>
          <a:bodyPr>
            <a:normAutofit fontScale="90000"/>
          </a:bodyPr>
          <a:lstStyle/>
          <a:p>
            <a:r>
              <a:rPr lang="en-US" b="1" spc="10" dirty="0">
                <a:solidFill>
                  <a:srgbClr val="5B9BD5"/>
                </a:solidFill>
                <a:latin typeface="Arial"/>
                <a:cs typeface="Arial"/>
              </a:rPr>
              <a:t>Approach</a:t>
            </a:r>
            <a:r>
              <a:rPr lang="en-US" dirty="0">
                <a:latin typeface="Arial"/>
                <a:cs typeface="Arial"/>
              </a:rPr>
              <a:t/>
            </a:r>
            <a:br>
              <a:rPr lang="en-US" dirty="0">
                <a:latin typeface="Arial"/>
                <a:cs typeface="Arial"/>
              </a:rPr>
            </a:br>
            <a:endParaRPr lang="en-US" dirty="0"/>
          </a:p>
        </p:txBody>
      </p:sp>
      <p:sp>
        <p:nvSpPr>
          <p:cNvPr id="5" name="object 10"/>
          <p:cNvSpPr/>
          <p:nvPr/>
        </p:nvSpPr>
        <p:spPr>
          <a:xfrm>
            <a:off x="152400" y="2542921"/>
            <a:ext cx="8839200" cy="1003046"/>
          </a:xfrm>
          <a:custGeom>
            <a:avLst/>
            <a:gdLst/>
            <a:ahLst/>
            <a:cxnLst/>
            <a:rect l="l" t="t" r="r" b="b"/>
            <a:pathLst>
              <a:path w="10515600" h="1003046">
                <a:moveTo>
                  <a:pt x="10515600" y="651763"/>
                </a:moveTo>
                <a:lnTo>
                  <a:pt x="5383149" y="651763"/>
                </a:lnTo>
                <a:lnTo>
                  <a:pt x="5383149" y="752221"/>
                </a:lnTo>
                <a:lnTo>
                  <a:pt x="5508498" y="752221"/>
                </a:lnTo>
                <a:lnTo>
                  <a:pt x="5257800" y="1003046"/>
                </a:lnTo>
                <a:lnTo>
                  <a:pt x="5007102" y="752221"/>
                </a:lnTo>
                <a:lnTo>
                  <a:pt x="5132451" y="752221"/>
                </a:lnTo>
                <a:lnTo>
                  <a:pt x="5132451" y="651763"/>
                </a:lnTo>
                <a:lnTo>
                  <a:pt x="0" y="651763"/>
                </a:lnTo>
                <a:lnTo>
                  <a:pt x="0" y="0"/>
                </a:lnTo>
                <a:lnTo>
                  <a:pt x="10515600" y="0"/>
                </a:lnTo>
                <a:close/>
              </a:path>
            </a:pathLst>
          </a:custGeom>
          <a:solidFill>
            <a:srgbClr val="45B451"/>
          </a:solidFill>
        </p:spPr>
        <p:txBody>
          <a:bodyPr wrap="square" lIns="0" tIns="0" rIns="0" bIns="0" rtlCol="0">
            <a:noAutofit/>
          </a:bodyPr>
          <a:lstStyle/>
          <a:p>
            <a:r>
              <a:rPr lang="en-US" spc="10" dirty="0" smtClean="0">
                <a:latin typeface="Calibri"/>
                <a:cs typeface="Calibri"/>
              </a:rPr>
              <a:t>                                                                        </a:t>
            </a:r>
          </a:p>
          <a:p>
            <a:r>
              <a:rPr lang="en-US" spc="10" dirty="0" smtClean="0">
                <a:latin typeface="Calibri"/>
                <a:cs typeface="Calibri"/>
              </a:rPr>
              <a:t>				 </a:t>
            </a:r>
            <a:r>
              <a:rPr lang="en-US" sz="2100" b="1" spc="10" dirty="0" smtClean="0">
                <a:latin typeface="Calibri"/>
                <a:cs typeface="Calibri"/>
              </a:rPr>
              <a:t>Tokenization</a:t>
            </a:r>
            <a:endParaRPr sz="2100" b="1" dirty="0"/>
          </a:p>
        </p:txBody>
      </p:sp>
      <p:sp>
        <p:nvSpPr>
          <p:cNvPr id="6" name="object 8"/>
          <p:cNvSpPr/>
          <p:nvPr/>
        </p:nvSpPr>
        <p:spPr>
          <a:xfrm>
            <a:off x="152400" y="3561036"/>
            <a:ext cx="8839200" cy="1002919"/>
          </a:xfrm>
          <a:custGeom>
            <a:avLst/>
            <a:gdLst/>
            <a:ahLst/>
            <a:cxnLst/>
            <a:rect l="l" t="t" r="r" b="b"/>
            <a:pathLst>
              <a:path w="10515600" h="1002919">
                <a:moveTo>
                  <a:pt x="10515600" y="651637"/>
                </a:moveTo>
                <a:lnTo>
                  <a:pt x="5383149" y="651637"/>
                </a:lnTo>
                <a:lnTo>
                  <a:pt x="5383149" y="752221"/>
                </a:lnTo>
                <a:lnTo>
                  <a:pt x="5508498" y="752221"/>
                </a:lnTo>
                <a:lnTo>
                  <a:pt x="5257800" y="1002919"/>
                </a:lnTo>
                <a:lnTo>
                  <a:pt x="5007102" y="752221"/>
                </a:lnTo>
                <a:lnTo>
                  <a:pt x="5132451" y="752221"/>
                </a:lnTo>
                <a:lnTo>
                  <a:pt x="5132451" y="651637"/>
                </a:lnTo>
                <a:lnTo>
                  <a:pt x="0" y="651637"/>
                </a:lnTo>
                <a:lnTo>
                  <a:pt x="0" y="0"/>
                </a:lnTo>
                <a:lnTo>
                  <a:pt x="10515600" y="0"/>
                </a:lnTo>
                <a:close/>
              </a:path>
            </a:pathLst>
          </a:custGeom>
          <a:solidFill>
            <a:srgbClr val="43BB8D"/>
          </a:solidFill>
        </p:spPr>
        <p:txBody>
          <a:bodyPr wrap="square" lIns="0" tIns="0" rIns="0" bIns="0" rtlCol="0">
            <a:noAutofit/>
          </a:bodyPr>
          <a:lstStyle/>
          <a:p>
            <a:endParaRPr lang="en-US" spc="10" dirty="0" smtClean="0">
              <a:latin typeface="Calibri"/>
              <a:cs typeface="Calibri"/>
            </a:endParaRPr>
          </a:p>
          <a:p>
            <a:r>
              <a:rPr lang="en-US" spc="10" dirty="0">
                <a:latin typeface="Calibri"/>
                <a:cs typeface="Calibri"/>
              </a:rPr>
              <a:t>	</a:t>
            </a:r>
            <a:r>
              <a:rPr lang="en-US" spc="10" dirty="0" smtClean="0">
                <a:latin typeface="Calibri"/>
                <a:cs typeface="Calibri"/>
              </a:rPr>
              <a:t>			</a:t>
            </a:r>
            <a:r>
              <a:rPr lang="en-US" sz="2100" b="1" spc="10" dirty="0" smtClean="0">
                <a:latin typeface="Calibri"/>
                <a:cs typeface="Calibri"/>
              </a:rPr>
              <a:t>Preprocessing</a:t>
            </a:r>
          </a:p>
          <a:p>
            <a:endParaRPr dirty="0"/>
          </a:p>
        </p:txBody>
      </p:sp>
      <p:sp>
        <p:nvSpPr>
          <p:cNvPr id="7" name="object 6"/>
          <p:cNvSpPr/>
          <p:nvPr/>
        </p:nvSpPr>
        <p:spPr>
          <a:xfrm>
            <a:off x="152400" y="4563955"/>
            <a:ext cx="8839200" cy="1003046"/>
          </a:xfrm>
          <a:custGeom>
            <a:avLst/>
            <a:gdLst/>
            <a:ahLst/>
            <a:cxnLst/>
            <a:rect l="l" t="t" r="r" b="b"/>
            <a:pathLst>
              <a:path w="10515600" h="1003046">
                <a:moveTo>
                  <a:pt x="10515600" y="651764"/>
                </a:moveTo>
                <a:lnTo>
                  <a:pt x="5383149" y="651764"/>
                </a:lnTo>
                <a:lnTo>
                  <a:pt x="5383149" y="752348"/>
                </a:lnTo>
                <a:lnTo>
                  <a:pt x="5508498" y="752348"/>
                </a:lnTo>
                <a:lnTo>
                  <a:pt x="5257800" y="1003046"/>
                </a:lnTo>
                <a:lnTo>
                  <a:pt x="5007102" y="752348"/>
                </a:lnTo>
                <a:lnTo>
                  <a:pt x="5132451" y="752348"/>
                </a:lnTo>
                <a:lnTo>
                  <a:pt x="5132451" y="651764"/>
                </a:lnTo>
                <a:lnTo>
                  <a:pt x="0" y="651764"/>
                </a:lnTo>
                <a:lnTo>
                  <a:pt x="0" y="0"/>
                </a:lnTo>
                <a:lnTo>
                  <a:pt x="10515600" y="0"/>
                </a:lnTo>
                <a:close/>
              </a:path>
            </a:pathLst>
          </a:custGeom>
          <a:solidFill>
            <a:srgbClr val="43AFC0"/>
          </a:solidFill>
        </p:spPr>
        <p:txBody>
          <a:bodyPr wrap="square" lIns="0" tIns="0" rIns="0" bIns="0" rtlCol="0">
            <a:noAutofit/>
          </a:bodyPr>
          <a:lstStyle/>
          <a:p>
            <a:endParaRPr lang="en-US" spc="10" dirty="0" smtClean="0">
              <a:latin typeface="Calibri"/>
              <a:cs typeface="Calibri"/>
            </a:endParaRPr>
          </a:p>
          <a:p>
            <a:r>
              <a:rPr lang="en-US" sz="2100" b="1" spc="10" dirty="0">
                <a:latin typeface="Calibri"/>
                <a:cs typeface="Calibri"/>
              </a:rPr>
              <a:t>	</a:t>
            </a:r>
            <a:r>
              <a:rPr lang="en-US" sz="2100" b="1" spc="10" dirty="0" smtClean="0">
                <a:latin typeface="Calibri"/>
                <a:cs typeface="Calibri"/>
              </a:rPr>
              <a:t>	</a:t>
            </a:r>
            <a:r>
              <a:rPr lang="en-US" sz="2100" b="1" spc="10" dirty="0">
                <a:latin typeface="Calibri"/>
                <a:cs typeface="Calibri"/>
              </a:rPr>
              <a:t> </a:t>
            </a:r>
            <a:r>
              <a:rPr lang="en-US" sz="2100" b="1" spc="10" dirty="0" smtClean="0">
                <a:latin typeface="Calibri"/>
                <a:cs typeface="Calibri"/>
              </a:rPr>
              <a:t>           Feature </a:t>
            </a:r>
            <a:r>
              <a:rPr lang="en-US" sz="2100" b="1" spc="10" dirty="0">
                <a:latin typeface="Calibri"/>
                <a:cs typeface="Calibri"/>
              </a:rPr>
              <a:t>Extractor </a:t>
            </a:r>
            <a:r>
              <a:rPr lang="en-US" sz="2100" b="1" spc="10" dirty="0" smtClean="0">
                <a:latin typeface="Calibri"/>
                <a:cs typeface="Calibri"/>
              </a:rPr>
              <a:t>and Algorithm</a:t>
            </a:r>
            <a:endParaRPr lang="en-US" sz="2100" b="1" dirty="0">
              <a:latin typeface="Calibri"/>
              <a:cs typeface="Calibri"/>
            </a:endParaRPr>
          </a:p>
        </p:txBody>
      </p:sp>
      <p:sp>
        <p:nvSpPr>
          <p:cNvPr id="8" name="object 12"/>
          <p:cNvSpPr/>
          <p:nvPr/>
        </p:nvSpPr>
        <p:spPr>
          <a:xfrm>
            <a:off x="141027" y="1539875"/>
            <a:ext cx="8839200" cy="1003046"/>
          </a:xfrm>
          <a:custGeom>
            <a:avLst/>
            <a:gdLst/>
            <a:ahLst/>
            <a:cxnLst/>
            <a:rect l="l" t="t" r="r" b="b"/>
            <a:pathLst>
              <a:path w="10515600" h="1003046">
                <a:moveTo>
                  <a:pt x="10515600" y="651764"/>
                </a:moveTo>
                <a:lnTo>
                  <a:pt x="5383149" y="651764"/>
                </a:lnTo>
                <a:lnTo>
                  <a:pt x="5383149" y="752221"/>
                </a:lnTo>
                <a:lnTo>
                  <a:pt x="5508498" y="752221"/>
                </a:lnTo>
                <a:lnTo>
                  <a:pt x="5257800" y="1003046"/>
                </a:lnTo>
                <a:lnTo>
                  <a:pt x="5007102" y="752221"/>
                </a:lnTo>
                <a:lnTo>
                  <a:pt x="5132451" y="752221"/>
                </a:lnTo>
                <a:lnTo>
                  <a:pt x="5132451" y="651764"/>
                </a:lnTo>
                <a:lnTo>
                  <a:pt x="0" y="651764"/>
                </a:lnTo>
                <a:lnTo>
                  <a:pt x="0" y="0"/>
                </a:lnTo>
                <a:lnTo>
                  <a:pt x="10515600" y="0"/>
                </a:lnTo>
                <a:close/>
              </a:path>
            </a:pathLst>
          </a:custGeom>
          <a:solidFill>
            <a:srgbClr val="70AD47"/>
          </a:solidFill>
        </p:spPr>
        <p:txBody>
          <a:bodyPr wrap="square" lIns="0" tIns="0" rIns="0" bIns="0" rtlCol="0">
            <a:noAutofit/>
          </a:bodyPr>
          <a:lstStyle/>
          <a:p>
            <a:r>
              <a:rPr lang="en-US" spc="10" dirty="0" smtClean="0">
                <a:latin typeface="Calibri"/>
                <a:cs typeface="Calibri"/>
              </a:rPr>
              <a:t>                                                              </a:t>
            </a:r>
          </a:p>
          <a:p>
            <a:r>
              <a:rPr lang="en-US" spc="10" dirty="0">
                <a:latin typeface="Calibri"/>
                <a:cs typeface="Calibri"/>
              </a:rPr>
              <a:t> </a:t>
            </a:r>
            <a:r>
              <a:rPr lang="en-US" spc="10" dirty="0" smtClean="0">
                <a:latin typeface="Calibri"/>
                <a:cs typeface="Calibri"/>
              </a:rPr>
              <a:t>                                                               </a:t>
            </a:r>
            <a:r>
              <a:rPr lang="en-US" sz="2100" b="1" spc="10" dirty="0" smtClean="0">
                <a:latin typeface="Calibri"/>
                <a:cs typeface="Calibri"/>
              </a:rPr>
              <a:t>Tweet Downloader     </a:t>
            </a:r>
            <a:endParaRPr lang="en-US" sz="2100" b="1" dirty="0">
              <a:latin typeface="Calibri"/>
              <a:cs typeface="Calibri"/>
            </a:endParaRPr>
          </a:p>
        </p:txBody>
      </p:sp>
      <p:sp>
        <p:nvSpPr>
          <p:cNvPr id="10" name="object 4"/>
          <p:cNvSpPr/>
          <p:nvPr/>
        </p:nvSpPr>
        <p:spPr>
          <a:xfrm>
            <a:off x="129654" y="5567001"/>
            <a:ext cx="8850573" cy="652157"/>
          </a:xfrm>
          <a:custGeom>
            <a:avLst/>
            <a:gdLst/>
            <a:ahLst/>
            <a:cxnLst/>
            <a:rect l="l" t="t" r="r" b="b"/>
            <a:pathLst>
              <a:path w="10515600" h="652157">
                <a:moveTo>
                  <a:pt x="0" y="652157"/>
                </a:moveTo>
                <a:lnTo>
                  <a:pt x="0" y="0"/>
                </a:lnTo>
                <a:lnTo>
                  <a:pt x="10515600" y="0"/>
                </a:lnTo>
                <a:lnTo>
                  <a:pt x="10515600" y="652157"/>
                </a:lnTo>
                <a:lnTo>
                  <a:pt x="0" y="652157"/>
                </a:lnTo>
                <a:close/>
              </a:path>
            </a:pathLst>
          </a:custGeom>
          <a:solidFill>
            <a:srgbClr val="4472C4"/>
          </a:solidFill>
        </p:spPr>
        <p:txBody>
          <a:bodyPr wrap="square" lIns="0" tIns="0" rIns="0" bIns="0" rtlCol="0">
            <a:noAutofit/>
          </a:bodyPr>
          <a:lstStyle/>
          <a:p>
            <a:r>
              <a:rPr lang="en-US" spc="10" dirty="0" smtClean="0">
                <a:latin typeface="Calibri"/>
                <a:cs typeface="Calibri"/>
              </a:rPr>
              <a:t>	</a:t>
            </a:r>
          </a:p>
          <a:p>
            <a:r>
              <a:rPr lang="en-US" sz="2100" b="1" spc="10" dirty="0">
                <a:latin typeface="Calibri"/>
                <a:cs typeface="Calibri"/>
              </a:rPr>
              <a:t>	</a:t>
            </a:r>
            <a:r>
              <a:rPr lang="en-US" sz="2100" b="1" spc="10" dirty="0" smtClean="0">
                <a:latin typeface="Calibri"/>
                <a:cs typeface="Calibri"/>
              </a:rPr>
              <a:t>	        </a:t>
            </a:r>
            <a:r>
              <a:rPr lang="en-US" sz="2100" b="1" dirty="0" smtClean="0">
                <a:latin typeface="Calibri" pitchFamily="34" charset="0"/>
              </a:rPr>
              <a:t>Classification </a:t>
            </a:r>
            <a:r>
              <a:rPr lang="en-US" sz="2100" b="1" dirty="0">
                <a:latin typeface="Calibri" pitchFamily="34" charset="0"/>
              </a:rPr>
              <a:t>into positive, negative </a:t>
            </a:r>
          </a:p>
          <a:p>
            <a:endParaRPr lang="en-US" sz="2100" b="1" dirty="0">
              <a:latin typeface="Calibri"/>
              <a:cs typeface="Calibri"/>
            </a:endParaRPr>
          </a:p>
        </p:txBody>
      </p:sp>
    </p:spTree>
    <p:extLst>
      <p:ext uri="{BB962C8B-B14F-4D97-AF65-F5344CB8AC3E}">
        <p14:creationId xmlns:p14="http://schemas.microsoft.com/office/powerpoint/2010/main" val="17845291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609600"/>
          </a:xfrm>
        </p:spPr>
        <p:txBody>
          <a:bodyPr>
            <a:normAutofit fontScale="90000"/>
          </a:bodyPr>
          <a:lstStyle/>
          <a:p>
            <a:r>
              <a:rPr lang="en-US" b="1" spc="10" dirty="0">
                <a:solidFill>
                  <a:srgbClr val="5B9BD5"/>
                </a:solidFill>
                <a:latin typeface="Arial"/>
                <a:cs typeface="Arial"/>
              </a:rPr>
              <a:t>Approach</a:t>
            </a:r>
            <a:r>
              <a:rPr lang="en-US" dirty="0">
                <a:latin typeface="Arial"/>
                <a:cs typeface="Arial"/>
              </a:rPr>
              <a:t/>
            </a:r>
            <a:br>
              <a:rPr lang="en-US" dirty="0">
                <a:latin typeface="Arial"/>
                <a:cs typeface="Arial"/>
              </a:rPr>
            </a:br>
            <a:endParaRPr lang="en-US" dirty="0"/>
          </a:p>
        </p:txBody>
      </p:sp>
      <p:sp>
        <p:nvSpPr>
          <p:cNvPr id="3" name="Content Placeholder 2"/>
          <p:cNvSpPr>
            <a:spLocks noGrp="1"/>
          </p:cNvSpPr>
          <p:nvPr>
            <p:ph idx="1"/>
          </p:nvPr>
        </p:nvSpPr>
        <p:spPr>
          <a:xfrm>
            <a:off x="457200" y="1752600"/>
            <a:ext cx="8229600" cy="4953000"/>
          </a:xfrm>
        </p:spPr>
        <p:txBody>
          <a:bodyPr>
            <a:normAutofit fontScale="70000" lnSpcReduction="20000"/>
          </a:bodyPr>
          <a:lstStyle/>
          <a:p>
            <a:pPr marL="109728" indent="0">
              <a:buNone/>
            </a:pPr>
            <a:r>
              <a:rPr lang="en-US" sz="3100" spc="10" dirty="0">
                <a:solidFill>
                  <a:srgbClr val="A6A6A6"/>
                </a:solidFill>
                <a:latin typeface="Arial"/>
                <a:cs typeface="Arial"/>
              </a:rPr>
              <a:t>  </a:t>
            </a:r>
            <a:r>
              <a:rPr lang="en-US" sz="3100" b="1" spc="10" dirty="0">
                <a:latin typeface="Calibri"/>
                <a:cs typeface="Calibri"/>
              </a:rPr>
              <a:t>Tweet Downloader</a:t>
            </a:r>
            <a:endParaRPr lang="en-US" sz="3100" b="1" dirty="0">
              <a:latin typeface="Calibri"/>
              <a:cs typeface="Calibri"/>
            </a:endParaRPr>
          </a:p>
          <a:p>
            <a:r>
              <a:rPr lang="en-US" sz="3100" spc="10" dirty="0">
                <a:solidFill>
                  <a:srgbClr val="A6A6A6"/>
                </a:solidFill>
                <a:latin typeface="Arial"/>
                <a:cs typeface="Arial"/>
              </a:rPr>
              <a:t>  </a:t>
            </a:r>
            <a:r>
              <a:rPr lang="en-US" sz="3100" spc="10" dirty="0">
                <a:latin typeface="Calibri"/>
                <a:cs typeface="Calibri"/>
              </a:rPr>
              <a:t>Download the tweets using Twitter </a:t>
            </a:r>
            <a:r>
              <a:rPr lang="en-US" sz="3100" spc="10" dirty="0" smtClean="0">
                <a:latin typeface="Calibri"/>
                <a:cs typeface="Calibri"/>
              </a:rPr>
              <a:t>API</a:t>
            </a:r>
          </a:p>
          <a:p>
            <a:endParaRPr lang="en-US" sz="3100" dirty="0">
              <a:latin typeface="Calibri"/>
              <a:cs typeface="Calibri"/>
            </a:endParaRPr>
          </a:p>
          <a:p>
            <a:pPr marL="109728" indent="0">
              <a:buNone/>
            </a:pPr>
            <a:r>
              <a:rPr lang="en-US" sz="3100" spc="10" dirty="0">
                <a:solidFill>
                  <a:srgbClr val="A6A6A6"/>
                </a:solidFill>
                <a:latin typeface="Arial"/>
                <a:cs typeface="Arial"/>
              </a:rPr>
              <a:t> </a:t>
            </a:r>
            <a:r>
              <a:rPr lang="en-US" sz="3100" spc="10" dirty="0" smtClean="0">
                <a:solidFill>
                  <a:srgbClr val="A6A6A6"/>
                </a:solidFill>
                <a:latin typeface="Arial"/>
                <a:cs typeface="Arial"/>
              </a:rPr>
              <a:t> </a:t>
            </a:r>
            <a:r>
              <a:rPr lang="en-US" sz="3100" b="1" spc="10" dirty="0" smtClean="0">
                <a:latin typeface="Calibri"/>
                <a:cs typeface="Calibri"/>
              </a:rPr>
              <a:t>Tokenization</a:t>
            </a:r>
            <a:endParaRPr lang="en-US" sz="3100" b="1" dirty="0">
              <a:latin typeface="Calibri"/>
              <a:cs typeface="Calibri"/>
            </a:endParaRPr>
          </a:p>
          <a:p>
            <a:r>
              <a:rPr lang="en-US" sz="3100" dirty="0">
                <a:latin typeface="Calibri" pitchFamily="34" charset="0"/>
              </a:rPr>
              <a:t>Tokenization is the act of breaking up a sequence of strings into pieces such as words, keywords, phrases, symbols and other elements called </a:t>
            </a:r>
            <a:r>
              <a:rPr lang="en-US" sz="3100" dirty="0" smtClean="0">
                <a:latin typeface="Calibri" pitchFamily="34" charset="0"/>
              </a:rPr>
              <a:t>tokens</a:t>
            </a:r>
          </a:p>
          <a:p>
            <a:pPr marL="109728" indent="0">
              <a:buNone/>
            </a:pPr>
            <a:endParaRPr lang="en-US" sz="3100" dirty="0" smtClean="0">
              <a:latin typeface="Calibri" pitchFamily="34" charset="0"/>
            </a:endParaRPr>
          </a:p>
          <a:p>
            <a:pPr marL="109728" indent="0">
              <a:buNone/>
            </a:pPr>
            <a:r>
              <a:rPr lang="en-US" sz="3100" spc="10" dirty="0" smtClean="0">
                <a:latin typeface="Calibri"/>
                <a:cs typeface="Calibri"/>
              </a:rPr>
              <a:t>  </a:t>
            </a:r>
            <a:r>
              <a:rPr lang="en-US" sz="3100" b="1" spc="10" dirty="0" smtClean="0">
                <a:latin typeface="Calibri"/>
                <a:cs typeface="Calibri"/>
              </a:rPr>
              <a:t>Preprocessing</a:t>
            </a:r>
          </a:p>
          <a:p>
            <a:r>
              <a:rPr lang="en-US" sz="3100" spc="10" dirty="0">
                <a:latin typeface="Calibri"/>
                <a:cs typeface="Calibri"/>
              </a:rPr>
              <a:t>Removing non-English </a:t>
            </a:r>
            <a:r>
              <a:rPr lang="en-US" sz="3100" spc="10" dirty="0" smtClean="0">
                <a:latin typeface="Calibri"/>
                <a:cs typeface="Calibri"/>
              </a:rPr>
              <a:t>Tweets</a:t>
            </a:r>
          </a:p>
          <a:p>
            <a:r>
              <a:rPr lang="en-US" sz="3100" spc="10" dirty="0">
                <a:latin typeface="Calibri"/>
                <a:cs typeface="Calibri"/>
              </a:rPr>
              <a:t>Replacing Emoticons by their polarity</a:t>
            </a:r>
            <a:endParaRPr lang="en-US" sz="3100" dirty="0">
              <a:latin typeface="Calibri"/>
              <a:cs typeface="Calibri"/>
            </a:endParaRPr>
          </a:p>
          <a:p>
            <a:r>
              <a:rPr lang="en-US" sz="3100" spc="10" dirty="0">
                <a:latin typeface="Calibri"/>
                <a:cs typeface="Calibri"/>
              </a:rPr>
              <a:t>Remove URL, Target Mentions, </a:t>
            </a:r>
            <a:r>
              <a:rPr lang="en-US" sz="3100" spc="10" dirty="0" err="1">
                <a:latin typeface="Calibri"/>
                <a:cs typeface="Calibri"/>
              </a:rPr>
              <a:t>Hashtags</a:t>
            </a:r>
            <a:r>
              <a:rPr lang="en-US" sz="3100" spc="10" dirty="0">
                <a:latin typeface="Calibri"/>
                <a:cs typeface="Calibri"/>
              </a:rPr>
              <a:t>, Numbers.</a:t>
            </a:r>
            <a:endParaRPr lang="en-US" sz="3100" dirty="0">
              <a:latin typeface="Calibri"/>
              <a:cs typeface="Calibri"/>
            </a:endParaRPr>
          </a:p>
          <a:p>
            <a:r>
              <a:rPr lang="en-US" sz="3100" spc="10" dirty="0">
                <a:latin typeface="Calibri"/>
                <a:cs typeface="Calibri"/>
              </a:rPr>
              <a:t>Replace Negative Mentions</a:t>
            </a:r>
            <a:endParaRPr lang="en-US" sz="3100" dirty="0">
              <a:latin typeface="Calibri"/>
              <a:cs typeface="Calibri"/>
            </a:endParaRPr>
          </a:p>
          <a:p>
            <a:r>
              <a:rPr lang="en-US" sz="3100" spc="10" dirty="0">
                <a:latin typeface="Calibri"/>
                <a:cs typeface="Calibri"/>
              </a:rPr>
              <a:t>Replace Sequence of Repeated Characters </a:t>
            </a:r>
            <a:r>
              <a:rPr lang="en-US" sz="3100" spc="10" dirty="0" smtClean="0">
                <a:latin typeface="Calibri"/>
                <a:cs typeface="Calibri"/>
              </a:rPr>
              <a:t>e.g. </a:t>
            </a:r>
            <a:r>
              <a:rPr lang="en-US" sz="3100" spc="10" dirty="0">
                <a:latin typeface="Calibri"/>
                <a:cs typeface="Calibri"/>
              </a:rPr>
              <a:t>‘</a:t>
            </a:r>
            <a:r>
              <a:rPr lang="en-US" sz="3100" spc="10" dirty="0" err="1">
                <a:latin typeface="Calibri"/>
                <a:cs typeface="Calibri"/>
              </a:rPr>
              <a:t>coooooooool</a:t>
            </a:r>
            <a:r>
              <a:rPr lang="en-US" sz="3100" spc="10" dirty="0">
                <a:latin typeface="Calibri"/>
                <a:cs typeface="Calibri"/>
              </a:rPr>
              <a:t>’ by ‘</a:t>
            </a:r>
            <a:r>
              <a:rPr lang="en-US" sz="3100" spc="10" dirty="0" smtClean="0">
                <a:latin typeface="Calibri"/>
                <a:cs typeface="Calibri"/>
              </a:rPr>
              <a:t>cool’</a:t>
            </a:r>
          </a:p>
          <a:p>
            <a:r>
              <a:rPr lang="en-US" sz="3100" spc="10" dirty="0">
                <a:latin typeface="Calibri"/>
                <a:cs typeface="Calibri"/>
              </a:rPr>
              <a:t>Remove Nouns and Prepositions</a:t>
            </a:r>
            <a:endParaRPr lang="en-US" sz="3100" dirty="0">
              <a:latin typeface="Calibri"/>
              <a:cs typeface="Calibri"/>
            </a:endParaRPr>
          </a:p>
          <a:p>
            <a:pPr marL="109728" indent="0">
              <a:buNone/>
            </a:pPr>
            <a:endParaRPr lang="en-US" b="1" dirty="0"/>
          </a:p>
        </p:txBody>
      </p:sp>
    </p:spTree>
    <p:extLst>
      <p:ext uri="{BB962C8B-B14F-4D97-AF65-F5344CB8AC3E}">
        <p14:creationId xmlns:p14="http://schemas.microsoft.com/office/powerpoint/2010/main" val="318030993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 calcmode="lin" valueType="num">
                                      <p:cBhvr additive="base">
                                        <p:cTn id="5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685800"/>
          </a:xfrm>
        </p:spPr>
        <p:txBody>
          <a:bodyPr>
            <a:normAutofit fontScale="90000"/>
          </a:bodyPr>
          <a:lstStyle/>
          <a:p>
            <a:r>
              <a:rPr lang="en-US" spc="10" dirty="0">
                <a:latin typeface="Calibri"/>
                <a:cs typeface="Calibri"/>
              </a:rPr>
              <a:t>Feature Extractor</a:t>
            </a:r>
            <a:r>
              <a:rPr lang="en-US" dirty="0">
                <a:latin typeface="Calibri"/>
                <a:cs typeface="Calibri"/>
              </a:rPr>
              <a:t/>
            </a:r>
            <a:br>
              <a:rPr lang="en-US" dirty="0">
                <a:latin typeface="Calibri"/>
                <a:cs typeface="Calibri"/>
              </a:rPr>
            </a:br>
            <a:endParaRPr lang="en-US" dirty="0"/>
          </a:p>
        </p:txBody>
      </p:sp>
      <p:sp>
        <p:nvSpPr>
          <p:cNvPr id="3" name="Content Placeholder 2"/>
          <p:cNvSpPr>
            <a:spLocks noGrp="1"/>
          </p:cNvSpPr>
          <p:nvPr>
            <p:ph idx="1"/>
          </p:nvPr>
        </p:nvSpPr>
        <p:spPr>
          <a:xfrm>
            <a:off x="457200" y="1676400"/>
            <a:ext cx="8229600" cy="4898136"/>
          </a:xfrm>
        </p:spPr>
        <p:txBody>
          <a:bodyPr>
            <a:normAutofit lnSpcReduction="10000"/>
          </a:bodyPr>
          <a:lstStyle/>
          <a:p>
            <a:r>
              <a:rPr lang="en-US" spc="10" dirty="0" smtClean="0">
                <a:latin typeface="Calibri"/>
                <a:cs typeface="Calibri"/>
              </a:rPr>
              <a:t>Percentage </a:t>
            </a:r>
            <a:r>
              <a:rPr lang="en-US" spc="10" dirty="0">
                <a:latin typeface="Calibri"/>
                <a:cs typeface="Calibri"/>
              </a:rPr>
              <a:t>of </a:t>
            </a:r>
            <a:r>
              <a:rPr lang="en-US" spc="10" dirty="0" smtClean="0">
                <a:latin typeface="Calibri"/>
                <a:cs typeface="Calibri"/>
              </a:rPr>
              <a:t>Capitalized </a:t>
            </a:r>
            <a:r>
              <a:rPr lang="en-US" spc="10" dirty="0">
                <a:latin typeface="Calibri"/>
                <a:cs typeface="Calibri"/>
              </a:rPr>
              <a:t>Words</a:t>
            </a:r>
            <a:endParaRPr lang="en-US" dirty="0">
              <a:latin typeface="Calibri"/>
              <a:cs typeface="Calibri"/>
            </a:endParaRPr>
          </a:p>
          <a:p>
            <a:r>
              <a:rPr lang="en-US" spc="10" dirty="0">
                <a:latin typeface="Calibri"/>
                <a:cs typeface="Calibri"/>
              </a:rPr>
              <a:t>Number of Positive/Negative </a:t>
            </a:r>
            <a:r>
              <a:rPr lang="en-US" spc="10" dirty="0" err="1">
                <a:latin typeface="Calibri"/>
                <a:cs typeface="Calibri"/>
              </a:rPr>
              <a:t>Hashtags</a:t>
            </a:r>
            <a:endParaRPr lang="en-US" dirty="0">
              <a:latin typeface="Calibri"/>
              <a:cs typeface="Calibri"/>
            </a:endParaRPr>
          </a:p>
          <a:p>
            <a:r>
              <a:rPr lang="en-US" spc="10" dirty="0">
                <a:latin typeface="Calibri"/>
                <a:cs typeface="Calibri"/>
              </a:rPr>
              <a:t>Number of Positive/Negative/Extremely Positive/Extremely Negative Emoticons</a:t>
            </a:r>
            <a:endParaRPr lang="en-US" dirty="0">
              <a:latin typeface="Calibri"/>
              <a:cs typeface="Calibri"/>
            </a:endParaRPr>
          </a:p>
          <a:p>
            <a:r>
              <a:rPr lang="en-US" spc="10" dirty="0">
                <a:latin typeface="Calibri"/>
                <a:cs typeface="Calibri"/>
              </a:rPr>
              <a:t>Number of Negation</a:t>
            </a:r>
            <a:endParaRPr lang="en-US" dirty="0">
              <a:latin typeface="Calibri"/>
              <a:cs typeface="Calibri"/>
            </a:endParaRPr>
          </a:p>
          <a:p>
            <a:r>
              <a:rPr lang="en-US" spc="10" dirty="0">
                <a:latin typeface="Calibri"/>
                <a:cs typeface="Calibri"/>
              </a:rPr>
              <a:t>Number of special characters : ?,!,*</a:t>
            </a:r>
            <a:endParaRPr lang="en-US" dirty="0">
              <a:latin typeface="Calibri"/>
              <a:cs typeface="Calibri"/>
            </a:endParaRPr>
          </a:p>
          <a:p>
            <a:pPr marL="109728" indent="0">
              <a:buNone/>
            </a:pPr>
            <a:r>
              <a:rPr lang="en-US" spc="10" dirty="0">
                <a:solidFill>
                  <a:srgbClr val="A6A6A6"/>
                </a:solidFill>
                <a:latin typeface="Arial"/>
                <a:cs typeface="Arial"/>
              </a:rPr>
              <a:t> </a:t>
            </a:r>
            <a:r>
              <a:rPr lang="en-US" b="1" spc="10" dirty="0" smtClean="0">
                <a:latin typeface="Calibri"/>
                <a:cs typeface="Calibri"/>
              </a:rPr>
              <a:t>Algorithm </a:t>
            </a:r>
            <a:r>
              <a:rPr lang="en-US" b="1" spc="10" dirty="0">
                <a:latin typeface="Calibri"/>
                <a:cs typeface="Calibri"/>
              </a:rPr>
              <a:t>and Prediction</a:t>
            </a:r>
            <a:endParaRPr lang="en-US" b="1" dirty="0">
              <a:latin typeface="Calibri"/>
              <a:cs typeface="Calibri"/>
            </a:endParaRPr>
          </a:p>
          <a:p>
            <a:r>
              <a:rPr lang="en-US" spc="10" dirty="0">
                <a:latin typeface="Calibri"/>
                <a:cs typeface="Calibri"/>
              </a:rPr>
              <a:t>The features extracted are next passed on to </a:t>
            </a:r>
            <a:r>
              <a:rPr lang="en-US" spc="10" dirty="0" smtClean="0">
                <a:latin typeface="Calibri"/>
                <a:cs typeface="Calibri"/>
              </a:rPr>
              <a:t>decision tree and ANN .</a:t>
            </a:r>
            <a:endParaRPr lang="en-US" dirty="0">
              <a:latin typeface="Calibri"/>
              <a:cs typeface="Calibri"/>
            </a:endParaRPr>
          </a:p>
          <a:p>
            <a:r>
              <a:rPr lang="en-US" spc="10" dirty="0">
                <a:latin typeface="Calibri"/>
                <a:cs typeface="Calibri"/>
              </a:rPr>
              <a:t>The model built is used to predict the sentiment of the new tweets.</a:t>
            </a:r>
            <a:endParaRPr lang="en-US" dirty="0">
              <a:latin typeface="Calibri"/>
              <a:cs typeface="Calibri"/>
            </a:endParaRPr>
          </a:p>
          <a:p>
            <a:endParaRPr lang="en-US" dirty="0"/>
          </a:p>
        </p:txBody>
      </p:sp>
    </p:spTree>
    <p:extLst>
      <p:ext uri="{BB962C8B-B14F-4D97-AF65-F5344CB8AC3E}">
        <p14:creationId xmlns:p14="http://schemas.microsoft.com/office/powerpoint/2010/main" val="96681823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229600" cy="838200"/>
          </a:xfrm>
        </p:spPr>
        <p:txBody>
          <a:bodyPr>
            <a:normAutofit/>
          </a:bodyPr>
          <a:lstStyle/>
          <a:p>
            <a:r>
              <a:rPr lang="en-US" sz="3500" dirty="0" smtClean="0">
                <a:solidFill>
                  <a:schemeClr val="accent6"/>
                </a:solidFill>
                <a:latin typeface="Arial" pitchFamily="34" charset="0"/>
                <a:cs typeface="Arial" pitchFamily="34" charset="0"/>
              </a:rPr>
              <a:t>Algorithms Used</a:t>
            </a:r>
            <a:endParaRPr lang="en-US" sz="3500"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57200" y="1524000"/>
            <a:ext cx="5257800" cy="5050536"/>
          </a:xfrm>
        </p:spPr>
        <p:txBody>
          <a:bodyPr>
            <a:normAutofit fontScale="92500"/>
          </a:bodyPr>
          <a:lstStyle/>
          <a:p>
            <a:r>
              <a:rPr lang="en-US" sz="2100" dirty="0">
                <a:latin typeface="Arial" pitchFamily="34" charset="0"/>
                <a:cs typeface="Arial" pitchFamily="34" charset="0"/>
              </a:rPr>
              <a:t>A </a:t>
            </a:r>
            <a:r>
              <a:rPr lang="en-US" sz="2100" b="1" dirty="0">
                <a:latin typeface="Arial" pitchFamily="34" charset="0"/>
                <a:cs typeface="Arial" pitchFamily="34" charset="0"/>
              </a:rPr>
              <a:t>decision tree</a:t>
            </a:r>
            <a:r>
              <a:rPr lang="en-US" sz="2100" dirty="0">
                <a:latin typeface="Arial" pitchFamily="34" charset="0"/>
                <a:cs typeface="Arial" pitchFamily="34" charset="0"/>
              </a:rPr>
              <a:t> is a decision support tool that uses a tree-like graph or model of decisions and their possible consequences, including chance event outcomes, resource costs, and utility. It is one way to display an algorithm that only contains conditional control statements</a:t>
            </a:r>
            <a:r>
              <a:rPr lang="en-US" sz="2100" dirty="0" smtClean="0">
                <a:latin typeface="Arial" pitchFamily="34" charset="0"/>
                <a:cs typeface="Arial" pitchFamily="34" charset="0"/>
              </a:rPr>
              <a:t>.</a:t>
            </a:r>
          </a:p>
          <a:p>
            <a:pPr marL="109728" indent="0">
              <a:buNone/>
            </a:pPr>
            <a:endParaRPr lang="en-US" sz="2100" dirty="0" smtClean="0">
              <a:latin typeface="Arial" pitchFamily="34" charset="0"/>
              <a:cs typeface="Arial" pitchFamily="34" charset="0"/>
            </a:endParaRPr>
          </a:p>
          <a:p>
            <a:r>
              <a:rPr lang="en-US" sz="2100" dirty="0">
                <a:latin typeface="Arial" pitchFamily="34" charset="0"/>
                <a:cs typeface="Arial" pitchFamily="34" charset="0"/>
              </a:rPr>
              <a:t>An </a:t>
            </a:r>
            <a:r>
              <a:rPr lang="en-US" sz="2100" b="1" dirty="0">
                <a:latin typeface="Arial" pitchFamily="34" charset="0"/>
                <a:cs typeface="Arial" pitchFamily="34" charset="0"/>
              </a:rPr>
              <a:t>Artificial </a:t>
            </a:r>
            <a:r>
              <a:rPr lang="en-US" sz="2100" b="1" dirty="0" smtClean="0">
                <a:latin typeface="Arial" pitchFamily="34" charset="0"/>
                <a:cs typeface="Arial" pitchFamily="34" charset="0"/>
              </a:rPr>
              <a:t>Neural </a:t>
            </a:r>
            <a:r>
              <a:rPr lang="en-US" sz="2100" b="1" dirty="0">
                <a:latin typeface="Arial" pitchFamily="34" charset="0"/>
                <a:cs typeface="Arial" pitchFamily="34" charset="0"/>
              </a:rPr>
              <a:t>Network </a:t>
            </a:r>
            <a:r>
              <a:rPr lang="en-US" sz="2100" dirty="0">
                <a:latin typeface="Arial" pitchFamily="34" charset="0"/>
                <a:cs typeface="Arial" pitchFamily="34" charset="0"/>
              </a:rPr>
              <a:t>(</a:t>
            </a:r>
            <a:r>
              <a:rPr lang="en-US" sz="2100" b="1" dirty="0">
                <a:latin typeface="Arial" pitchFamily="34" charset="0"/>
                <a:cs typeface="Arial" pitchFamily="34" charset="0"/>
              </a:rPr>
              <a:t>ANN</a:t>
            </a:r>
            <a:r>
              <a:rPr lang="en-US" sz="2100" dirty="0">
                <a:latin typeface="Arial" pitchFamily="34" charset="0"/>
                <a:cs typeface="Arial" pitchFamily="34" charset="0"/>
              </a:rPr>
              <a:t>) is a computational model. It is based on the structure and functions of biological neural networks. It works like the way human brain processes information. It includes a large number of connected processing units that work together to process information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838200"/>
            <a:ext cx="2971800" cy="28956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8118" y="4190999"/>
            <a:ext cx="3190364" cy="2524125"/>
          </a:xfrm>
          <a:prstGeom prst="rect">
            <a:avLst/>
          </a:prstGeom>
        </p:spPr>
      </p:pic>
    </p:spTree>
    <p:extLst>
      <p:ext uri="{BB962C8B-B14F-4D97-AF65-F5344CB8AC3E}">
        <p14:creationId xmlns:p14="http://schemas.microsoft.com/office/powerpoint/2010/main" val="234458129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14400"/>
          </a:xfrm>
        </p:spPr>
        <p:txBody>
          <a:bodyPr>
            <a:normAutofit/>
          </a:bodyPr>
          <a:lstStyle/>
          <a:p>
            <a:r>
              <a:rPr lang="en-US" dirty="0" smtClean="0"/>
              <a:t>Applications</a:t>
            </a:r>
            <a:endParaRPr lang="en-US" dirty="0"/>
          </a:p>
        </p:txBody>
      </p:sp>
      <p:sp>
        <p:nvSpPr>
          <p:cNvPr id="3" name="Content Placeholder 2"/>
          <p:cNvSpPr>
            <a:spLocks noGrp="1"/>
          </p:cNvSpPr>
          <p:nvPr>
            <p:ph idx="1"/>
          </p:nvPr>
        </p:nvSpPr>
        <p:spPr>
          <a:xfrm>
            <a:off x="457200" y="1752600"/>
            <a:ext cx="8229600" cy="4821936"/>
          </a:xfrm>
        </p:spPr>
        <p:txBody>
          <a:bodyPr/>
          <a:lstStyle/>
          <a:p>
            <a:r>
              <a:rPr lang="en-US" sz="2200" b="1" dirty="0" smtClean="0"/>
              <a:t>Used in Movie reviews</a:t>
            </a:r>
          </a:p>
          <a:p>
            <a:pPr marL="109728" indent="0">
              <a:buNone/>
            </a:pPr>
            <a:endParaRPr lang="en-US" sz="22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524" y="2209800"/>
            <a:ext cx="6391275" cy="4267200"/>
          </a:xfrm>
          <a:prstGeom prst="rect">
            <a:avLst/>
          </a:prstGeom>
        </p:spPr>
      </p:pic>
    </p:spTree>
    <p:extLst>
      <p:ext uri="{BB962C8B-B14F-4D97-AF65-F5344CB8AC3E}">
        <p14:creationId xmlns:p14="http://schemas.microsoft.com/office/powerpoint/2010/main" val="6486986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450848"/>
          </a:xfrm>
        </p:spPr>
        <p:txBody>
          <a:bodyPr>
            <a:normAutofit/>
          </a:bodyPr>
          <a:lstStyle/>
          <a:p>
            <a:pPr marL="571500" indent="-571500">
              <a:buFont typeface="Arial" pitchFamily="34" charset="0"/>
              <a:buChar char="•"/>
            </a:pPr>
            <a:r>
              <a:rPr lang="en-US" sz="2200" b="1" dirty="0">
                <a:latin typeface="+mn-lt"/>
              </a:rPr>
              <a:t>Knowing public opinion for political leader or their notions about rules and </a:t>
            </a:r>
            <a:r>
              <a:rPr lang="en-US" sz="2200" b="1" dirty="0" smtClean="0">
                <a:latin typeface="+mn-lt"/>
              </a:rPr>
              <a:t>regulations</a:t>
            </a:r>
            <a:br>
              <a:rPr lang="en-US" sz="2200" b="1" dirty="0" smtClean="0">
                <a:latin typeface="+mn-lt"/>
              </a:rPr>
            </a:br>
            <a:endParaRPr lang="en-US" sz="2200" b="1" dirty="0">
              <a:latin typeface="+mn-lt"/>
            </a:endParaRPr>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90600" y="2091690"/>
            <a:ext cx="7315200" cy="4461510"/>
          </a:xfrm>
          <a:prstGeom prst="rect">
            <a:avLst/>
          </a:prstGeom>
        </p:spPr>
      </p:pic>
    </p:spTree>
    <p:extLst>
      <p:ext uri="{BB962C8B-B14F-4D97-AF65-F5344CB8AC3E}">
        <p14:creationId xmlns:p14="http://schemas.microsoft.com/office/powerpoint/2010/main" val="408865223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90600"/>
          </a:xfrm>
        </p:spPr>
        <p:txBody>
          <a:bodyPr>
            <a:normAutofit/>
          </a:bodyPr>
          <a:lstStyle/>
          <a:p>
            <a:r>
              <a:rPr lang="en-US" sz="3500" b="1" dirty="0" smtClean="0">
                <a:latin typeface="+mn-lt"/>
              </a:rPr>
              <a:t>Future Work</a:t>
            </a:r>
            <a:endParaRPr lang="en-US" sz="3500" b="1" dirty="0">
              <a:latin typeface="+mn-lt"/>
            </a:endParaRPr>
          </a:p>
        </p:txBody>
      </p:sp>
      <p:sp>
        <p:nvSpPr>
          <p:cNvPr id="3" name="Content Placeholder 2"/>
          <p:cNvSpPr>
            <a:spLocks noGrp="1"/>
          </p:cNvSpPr>
          <p:nvPr>
            <p:ph idx="1"/>
          </p:nvPr>
        </p:nvSpPr>
        <p:spPr>
          <a:xfrm>
            <a:off x="457200" y="2249424"/>
            <a:ext cx="8229600" cy="3922776"/>
          </a:xfrm>
        </p:spPr>
        <p:txBody>
          <a:bodyPr/>
          <a:lstStyle/>
          <a:p>
            <a:pPr marL="0">
              <a:lnSpc>
                <a:spcPct val="100000"/>
              </a:lnSpc>
            </a:pPr>
            <a:r>
              <a:rPr lang="en-US" spc="10" dirty="0">
                <a:solidFill>
                  <a:srgbClr val="2E2E2E"/>
                </a:solidFill>
                <a:latin typeface="Arial"/>
                <a:cs typeface="Arial"/>
              </a:rPr>
              <a:t>Using different other models and algorithms</a:t>
            </a:r>
            <a:r>
              <a:rPr lang="en-US" spc="10" dirty="0" smtClean="0">
                <a:solidFill>
                  <a:srgbClr val="2E2E2E"/>
                </a:solidFill>
                <a:latin typeface="Arial"/>
                <a:cs typeface="Arial"/>
              </a:rPr>
              <a:t>.</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Temporal analysis can be added as a future work in the project</a:t>
            </a:r>
            <a:r>
              <a:rPr lang="en-US" spc="10" dirty="0" smtClean="0">
                <a:solidFill>
                  <a:srgbClr val="2E2E2E"/>
                </a:solidFill>
                <a:latin typeface="Arial"/>
                <a:cs typeface="Arial"/>
              </a:rPr>
              <a:t>.</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Consideration of </a:t>
            </a:r>
            <a:r>
              <a:rPr lang="en-US" spc="10" dirty="0" err="1">
                <a:solidFill>
                  <a:srgbClr val="2E2E2E"/>
                </a:solidFill>
                <a:latin typeface="Arial"/>
                <a:cs typeface="Arial"/>
              </a:rPr>
              <a:t>Retweets</a:t>
            </a:r>
            <a:r>
              <a:rPr lang="en-US" spc="10" dirty="0">
                <a:solidFill>
                  <a:srgbClr val="2E2E2E"/>
                </a:solidFill>
                <a:latin typeface="Arial"/>
                <a:cs typeface="Arial"/>
              </a:rPr>
              <a:t> as a </a:t>
            </a:r>
            <a:r>
              <a:rPr lang="en-US" spc="10" dirty="0" smtClean="0">
                <a:solidFill>
                  <a:srgbClr val="2E2E2E"/>
                </a:solidFill>
                <a:latin typeface="Arial"/>
                <a:cs typeface="Arial"/>
              </a:rPr>
              <a:t>factor.</a:t>
            </a:r>
            <a:endParaRPr lang="en-US" dirty="0">
              <a:latin typeface="Arial"/>
              <a:cs typeface="Arial"/>
            </a:endParaRPr>
          </a:p>
          <a:p>
            <a:endParaRPr lang="en-US" dirty="0"/>
          </a:p>
        </p:txBody>
      </p:sp>
    </p:spTree>
    <p:extLst>
      <p:ext uri="{BB962C8B-B14F-4D97-AF65-F5344CB8AC3E}">
        <p14:creationId xmlns:p14="http://schemas.microsoft.com/office/powerpoint/2010/main" val="415682167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6254" y="762000"/>
            <a:ext cx="7228556" cy="5562599"/>
          </a:xfrm>
          <a:prstGeom prst="rect">
            <a:avLst/>
          </a:prstGeom>
        </p:spPr>
      </p:pic>
    </p:spTree>
    <p:extLst>
      <p:ext uri="{BB962C8B-B14F-4D97-AF65-F5344CB8AC3E}">
        <p14:creationId xmlns:p14="http://schemas.microsoft.com/office/powerpoint/2010/main" val="2692590701"/>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189</TotalTime>
  <Words>199</Words>
  <Application>Microsoft Office PowerPoint</Application>
  <PresentationFormat>On-screen Show (4:3)</PresentationFormat>
  <Paragraphs>84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Urban</vt:lpstr>
      <vt:lpstr>Emotion Detection From Tweets And Emoticons</vt:lpstr>
      <vt:lpstr>What is Sentiment Analysis?</vt:lpstr>
      <vt:lpstr>PowerPoint Presentation</vt:lpstr>
      <vt:lpstr>Why is Sentiment Analysis Important? </vt:lpstr>
      <vt:lpstr>Using Twitter for Sentiment Analysis</vt:lpstr>
      <vt:lpstr>Problem Statement</vt:lpstr>
      <vt:lpstr>PowerPoint Presentation</vt:lpstr>
      <vt:lpstr>Approach </vt:lpstr>
      <vt:lpstr>Approach </vt:lpstr>
      <vt:lpstr>Feature Extractor </vt:lpstr>
      <vt:lpstr>Algorithms Used</vt:lpstr>
      <vt:lpstr>Applications</vt:lpstr>
      <vt:lpstr>Knowing public opinion for political leader or their notions about rules and regulations </vt:lpstr>
      <vt:lpstr>Future Work</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From Tweets And Emoticons</dc:title>
  <dc:creator>user</dc:creator>
  <cp:lastModifiedBy>user</cp:lastModifiedBy>
  <cp:revision>19</cp:revision>
  <dcterms:created xsi:type="dcterms:W3CDTF">2018-08-18T17:03:05Z</dcterms:created>
  <dcterms:modified xsi:type="dcterms:W3CDTF">2018-08-19T14:18:22Z</dcterms:modified>
</cp:coreProperties>
</file>