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4" r:id="rId3"/>
    <p:sldId id="258" r:id="rId4"/>
    <p:sldId id="259" r:id="rId5"/>
    <p:sldId id="268" r:id="rId6"/>
    <p:sldId id="260" r:id="rId7"/>
    <p:sldId id="282" r:id="rId8"/>
    <p:sldId id="283" r:id="rId9"/>
    <p:sldId id="284" r:id="rId10"/>
    <p:sldId id="262" r:id="rId11"/>
    <p:sldId id="269" r:id="rId12"/>
    <p:sldId id="264" r:id="rId13"/>
    <p:sldId id="278" r:id="rId14"/>
    <p:sldId id="279" r:id="rId15"/>
    <p:sldId id="280" r:id="rId16"/>
    <p:sldId id="281" r:id="rId17"/>
    <p:sldId id="276" r:id="rId18"/>
    <p:sldId id="277" r:id="rId19"/>
    <p:sldId id="275" r:id="rId20"/>
    <p:sldId id="285" r:id="rId21"/>
    <p:sldId id="27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609600" y="2401888"/>
            <a:ext cx="112776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609600" y="3899938"/>
            <a:ext cx="6604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8940800" y="4206240"/>
            <a:ext cx="1280160" cy="457200"/>
          </a:xfrm>
        </p:spPr>
        <p:txBody>
          <a:bodyPr/>
          <a:lstStyle/>
          <a:p>
            <a:fld id="{E9AB1619-24DE-4F9D-8B10-74E05BEF234B}" type="datetimeFigureOut">
              <a:rPr lang="en-IN" smtClean="0"/>
              <a:t>01-11-2018</a:t>
            </a:fld>
            <a:endParaRPr lang="en-IN"/>
          </a:p>
        </p:txBody>
      </p:sp>
      <p:sp>
        <p:nvSpPr>
          <p:cNvPr id="17" name="Footer Placeholder 16"/>
          <p:cNvSpPr>
            <a:spLocks noGrp="1"/>
          </p:cNvSpPr>
          <p:nvPr>
            <p:ph type="ftr" sz="quarter" idx="11"/>
          </p:nvPr>
        </p:nvSpPr>
        <p:spPr>
          <a:xfrm>
            <a:off x="7213600" y="4205288"/>
            <a:ext cx="1727200" cy="457200"/>
          </a:xfrm>
        </p:spPr>
        <p:txBody>
          <a:bodyPr/>
          <a:lstStyle/>
          <a:p>
            <a:endParaRPr lang="en-IN"/>
          </a:p>
        </p:txBody>
      </p:sp>
      <p:sp>
        <p:nvSpPr>
          <p:cNvPr id="29" name="Slide Number Placeholder 28"/>
          <p:cNvSpPr>
            <a:spLocks noGrp="1"/>
          </p:cNvSpPr>
          <p:nvPr>
            <p:ph type="sldNum" sz="quarter" idx="12"/>
          </p:nvPr>
        </p:nvSpPr>
        <p:spPr>
          <a:xfrm>
            <a:off x="11093451" y="1136"/>
            <a:ext cx="996949" cy="365760"/>
          </a:xfrm>
        </p:spPr>
        <p:txBody>
          <a:bodyPr/>
          <a:lstStyle>
            <a:lvl1pPr algn="r">
              <a:defRPr sz="1800">
                <a:solidFill>
                  <a:schemeClr val="bg1"/>
                </a:solidFill>
              </a:defRPr>
            </a:lvl1pPr>
          </a:lstStyle>
          <a:p>
            <a:fld id="{C359D7D9-F924-47E1-8959-C402780188D9}"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9AB1619-24DE-4F9D-8B10-74E05BEF234B}" type="datetimeFigureOut">
              <a:rPr lang="en-IN" smtClean="0"/>
              <a:t>01-11-2018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59D7D9-F924-47E1-8959-C402780188D9}"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981201"/>
            <a:ext cx="103632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63084" y="3367088"/>
            <a:ext cx="103632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E9AB1619-24DE-4F9D-8B10-74E05BEF234B}" type="datetimeFigureOut">
              <a:rPr lang="en-IN" smtClean="0"/>
              <a:t>01-11-2018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59D7D9-F924-47E1-8959-C402780188D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609600" y="2249425"/>
            <a:ext cx="53848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6197600" y="2249425"/>
            <a:ext cx="53848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E9AB1619-24DE-4F9D-8B10-74E05BEF234B}" type="datetimeFigureOut">
              <a:rPr lang="en-IN" smtClean="0"/>
              <a:t>01-11-2018</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59D7D9-F924-47E1-8959-C402780188D9}"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8000" y="1143000"/>
            <a:ext cx="11176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08000" y="2244970"/>
            <a:ext cx="5388864"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294968" y="2244970"/>
            <a:ext cx="5389033"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508000" y="2708519"/>
            <a:ext cx="5388864"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291073" y="2708519"/>
            <a:ext cx="5389033"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fld id="{E9AB1619-24DE-4F9D-8B10-74E05BEF234B}" type="datetimeFigureOut">
              <a:rPr lang="en-IN" smtClean="0"/>
              <a:t>01-11-2018</a:t>
            </a:fld>
            <a:endParaRPr lang="en-IN"/>
          </a:p>
        </p:txBody>
      </p:sp>
      <p:sp>
        <p:nvSpPr>
          <p:cNvPr id="27" name="Slide Number Placeholder 26"/>
          <p:cNvSpPr>
            <a:spLocks noGrp="1"/>
          </p:cNvSpPr>
          <p:nvPr>
            <p:ph type="sldNum" sz="quarter" idx="11"/>
          </p:nvPr>
        </p:nvSpPr>
        <p:spPr/>
        <p:txBody>
          <a:bodyPr rtlCol="0"/>
          <a:lstStyle/>
          <a:p>
            <a:fld id="{C359D7D9-F924-47E1-8959-C402780188D9}" type="slidenum">
              <a:rPr lang="en-IN" smtClean="0"/>
              <a:t>‹#›</a:t>
            </a:fld>
            <a:endParaRPr lang="en-IN"/>
          </a:p>
        </p:txBody>
      </p:sp>
      <p:sp>
        <p:nvSpPr>
          <p:cNvPr id="28" name="Footer Placeholder 27"/>
          <p:cNvSpPr>
            <a:spLocks noGrp="1"/>
          </p:cNvSpPr>
          <p:nvPr>
            <p:ph type="ftr" sz="quarter" idx="12"/>
          </p:nvPr>
        </p:nvSpPr>
        <p:spPr/>
        <p:txBody>
          <a:bodyPr rtlCol="0"/>
          <a:lstStyle/>
          <a:p>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1143000"/>
            <a:ext cx="109728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8778240" y="612648"/>
            <a:ext cx="1276352" cy="457200"/>
          </a:xfrm>
        </p:spPr>
        <p:txBody>
          <a:bodyPr/>
          <a:lstStyle/>
          <a:p>
            <a:fld id="{E9AB1619-24DE-4F9D-8B10-74E05BEF234B}" type="datetimeFigureOut">
              <a:rPr lang="en-IN" smtClean="0"/>
              <a:t>01-11-2018</a:t>
            </a:fld>
            <a:endParaRPr lang="en-IN"/>
          </a:p>
        </p:txBody>
      </p:sp>
      <p:sp>
        <p:nvSpPr>
          <p:cNvPr id="4" name="Footer Placeholder 3"/>
          <p:cNvSpPr>
            <a:spLocks noGrp="1"/>
          </p:cNvSpPr>
          <p:nvPr>
            <p:ph type="ftr" sz="quarter" idx="11"/>
          </p:nvPr>
        </p:nvSpPr>
        <p:spPr>
          <a:xfrm>
            <a:off x="7010400" y="612648"/>
            <a:ext cx="1767840" cy="457200"/>
          </a:xfrm>
        </p:spPr>
        <p:txBody>
          <a:bodyPr/>
          <a:lstStyle/>
          <a:p>
            <a:endParaRPr lang="en-IN"/>
          </a:p>
        </p:txBody>
      </p:sp>
      <p:sp>
        <p:nvSpPr>
          <p:cNvPr id="5" name="Slide Number Placeholder 4"/>
          <p:cNvSpPr>
            <a:spLocks noGrp="1"/>
          </p:cNvSpPr>
          <p:nvPr>
            <p:ph type="sldNum" sz="quarter" idx="12"/>
          </p:nvPr>
        </p:nvSpPr>
        <p:spPr>
          <a:xfrm>
            <a:off x="10899648" y="2272"/>
            <a:ext cx="1016000" cy="365760"/>
          </a:xfrm>
        </p:spPr>
        <p:txBody>
          <a:bodyPr/>
          <a:lstStyle/>
          <a:p>
            <a:fld id="{C359D7D9-F924-47E1-8959-C402780188D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AB1619-24DE-4F9D-8B10-74E05BEF234B}" type="datetimeFigureOut">
              <a:rPr lang="en-IN" smtClean="0"/>
              <a:t>01-11-2018</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359D7D9-F924-47E1-8959-C402780188D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137995" y="1101970"/>
            <a:ext cx="451104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7137995" y="2010727"/>
            <a:ext cx="451104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203200" y="776287"/>
            <a:ext cx="6803136"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E9AB1619-24DE-4F9D-8B10-74E05BEF234B}" type="datetimeFigureOut">
              <a:rPr lang="en-IN" smtClean="0"/>
              <a:t>01-11-2018</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59D7D9-F924-47E1-8959-C402780188D9}"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253913" y="1109161"/>
            <a:ext cx="782404"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8117924" y="3274309"/>
            <a:ext cx="34544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E9AB1619-24DE-4F9D-8B10-74E05BEF234B}" type="datetimeFigureOut">
              <a:rPr lang="en-IN" smtClean="0"/>
              <a:t>01-11-2018</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59D7D9-F924-47E1-8959-C402780188D9}"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9AB1619-24DE-4F9D-8B10-74E05BEF234B}" type="datetimeFigureOut">
              <a:rPr lang="en-IN" smtClean="0"/>
              <a:t>01-11-2018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59D7D9-F924-47E1-8959-C402780188D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1143000"/>
            <a:ext cx="2540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1143000"/>
            <a:ext cx="83312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9AB1619-24DE-4F9D-8B10-74E05BEF234B}" type="datetimeFigureOut">
              <a:rPr lang="en-IN" smtClean="0"/>
              <a:t>01-11-2018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59D7D9-F924-47E1-8959-C402780188D9}"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609600" y="1143000"/>
            <a:ext cx="109728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09600" y="2249424"/>
            <a:ext cx="109728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8782048" y="612648"/>
            <a:ext cx="1276352" cy="457200"/>
          </a:xfrm>
          <a:prstGeom prst="rect">
            <a:avLst/>
          </a:prstGeom>
        </p:spPr>
        <p:txBody>
          <a:bodyPr vert="horz"/>
          <a:lstStyle>
            <a:lvl1pPr algn="l" eaLnBrk="1" latinLnBrk="0" hangingPunct="1">
              <a:defRPr kumimoji="0" sz="800">
                <a:solidFill>
                  <a:schemeClr val="accent2"/>
                </a:solidFill>
              </a:defRPr>
            </a:lvl1pPr>
          </a:lstStyle>
          <a:p>
            <a:fld id="{E9AB1619-24DE-4F9D-8B10-74E05BEF234B}" type="datetimeFigureOut">
              <a:rPr lang="en-IN" smtClean="0"/>
              <a:t>01-11-2018</a:t>
            </a:fld>
            <a:endParaRPr lang="en-IN"/>
          </a:p>
        </p:txBody>
      </p:sp>
      <p:sp>
        <p:nvSpPr>
          <p:cNvPr id="3" name="Footer Placeholder 2"/>
          <p:cNvSpPr>
            <a:spLocks noGrp="1"/>
          </p:cNvSpPr>
          <p:nvPr>
            <p:ph type="ftr" sz="quarter" idx="3"/>
          </p:nvPr>
        </p:nvSpPr>
        <p:spPr>
          <a:xfrm>
            <a:off x="7010400" y="612648"/>
            <a:ext cx="1767840" cy="457200"/>
          </a:xfrm>
          <a:prstGeom prst="rect">
            <a:avLst/>
          </a:prstGeom>
        </p:spPr>
        <p:txBody>
          <a:bodyPr vert="horz"/>
          <a:lstStyle>
            <a:lvl1pPr algn="r" eaLnBrk="1" latinLnBrk="0" hangingPunct="1">
              <a:defRPr kumimoji="0" sz="800">
                <a:solidFill>
                  <a:schemeClr val="accent2"/>
                </a:solidFill>
              </a:defRPr>
            </a:lvl1pPr>
          </a:lstStyle>
          <a:p>
            <a:endParaRPr lang="en-IN"/>
          </a:p>
        </p:txBody>
      </p:sp>
      <p:sp>
        <p:nvSpPr>
          <p:cNvPr id="23" name="Slide Number Placeholder 22"/>
          <p:cNvSpPr>
            <a:spLocks noGrp="1"/>
          </p:cNvSpPr>
          <p:nvPr>
            <p:ph type="sldNum" sz="quarter" idx="4"/>
          </p:nvPr>
        </p:nvSpPr>
        <p:spPr>
          <a:xfrm>
            <a:off x="10899648" y="2272"/>
            <a:ext cx="1016000" cy="365760"/>
          </a:xfrm>
          <a:prstGeom prst="rect">
            <a:avLst/>
          </a:prstGeom>
        </p:spPr>
        <p:txBody>
          <a:bodyPr vert="horz" anchor="b"/>
          <a:lstStyle>
            <a:lvl1pPr algn="r" eaLnBrk="1" latinLnBrk="0" hangingPunct="1">
              <a:defRPr kumimoji="0" sz="1800">
                <a:solidFill>
                  <a:srgbClr val="FFFFFF"/>
                </a:solidFill>
              </a:defRPr>
            </a:lvl1pPr>
          </a:lstStyle>
          <a:p>
            <a:fld id="{C359D7D9-F924-47E1-8959-C402780188D9}"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99846" y="899625"/>
            <a:ext cx="9144000" cy="1826899"/>
          </a:xfrm>
        </p:spPr>
        <p:txBody>
          <a:bodyPr>
            <a:normAutofit/>
          </a:bodyPr>
          <a:lstStyle/>
          <a:p>
            <a:r>
              <a:rPr lang="en-US" sz="5400" dirty="0" smtClean="0">
                <a:latin typeface="Algerian" panose="04020705040A02060702" pitchFamily="82" charset="0"/>
              </a:rPr>
              <a:t>Emotion Detection From Tweets And Emoticons</a:t>
            </a:r>
            <a:endParaRPr lang="en-IN" sz="5400" dirty="0">
              <a:latin typeface="Algerian" panose="04020705040A02060702" pitchFamily="82" charset="0"/>
              <a:cs typeface="Times New Roman" panose="02020603050405020304" pitchFamily="18" charset="0"/>
            </a:endParaRPr>
          </a:p>
        </p:txBody>
      </p:sp>
      <p:sp>
        <p:nvSpPr>
          <p:cNvPr id="3" name="Subtitle 2"/>
          <p:cNvSpPr>
            <a:spLocks noGrp="1"/>
          </p:cNvSpPr>
          <p:nvPr>
            <p:ph type="subTitle" idx="1"/>
          </p:nvPr>
        </p:nvSpPr>
        <p:spPr>
          <a:xfrm>
            <a:off x="2719754" y="3947375"/>
            <a:ext cx="9144000" cy="2910625"/>
          </a:xfrm>
        </p:spPr>
        <p:txBody>
          <a:bodyPr>
            <a:normAutofit/>
          </a:bodyPr>
          <a:lstStyle/>
          <a:p>
            <a:r>
              <a:rPr lang="en-US" b="1" dirty="0" smtClean="0"/>
              <a:t>  		</a:t>
            </a:r>
            <a:endParaRPr lang="en-US" b="1" dirty="0"/>
          </a:p>
          <a:p>
            <a:r>
              <a:rPr lang="en-US" b="1" dirty="0" smtClean="0"/>
              <a:t>                                                      Made by-</a:t>
            </a:r>
          </a:p>
          <a:p>
            <a:pPr algn="r"/>
            <a:r>
              <a:rPr lang="en-US" dirty="0" smtClean="0"/>
              <a:t>				                     Jain Rajat Ashok(22)</a:t>
            </a:r>
          </a:p>
          <a:p>
            <a:pPr algn="r"/>
            <a:r>
              <a:rPr lang="en-US" dirty="0" smtClean="0"/>
              <a:t>					  Dubey </a:t>
            </a:r>
            <a:r>
              <a:rPr lang="en-US" dirty="0" err="1" smtClean="0"/>
              <a:t>Arun</a:t>
            </a:r>
            <a:r>
              <a:rPr lang="en-US" dirty="0" smtClean="0"/>
              <a:t> Kumar Vyas (14)</a:t>
            </a:r>
          </a:p>
          <a:p>
            <a:pPr lvl="0" algn="r"/>
            <a:r>
              <a:rPr lang="en-US" dirty="0" smtClean="0"/>
              <a:t>					 Kshatriya Sawan </a:t>
            </a:r>
            <a:r>
              <a:rPr lang="en-US" dirty="0" err="1" smtClean="0"/>
              <a:t>Ranjan</a:t>
            </a:r>
            <a:r>
              <a:rPr lang="en-US" dirty="0" smtClean="0"/>
              <a:t>(32)</a:t>
            </a:r>
          </a:p>
          <a:p>
            <a:pPr algn="r"/>
            <a:r>
              <a:rPr lang="en-US" dirty="0" smtClean="0"/>
              <a:t>					Shukla </a:t>
            </a:r>
            <a:r>
              <a:rPr lang="en-US" dirty="0" err="1" smtClean="0"/>
              <a:t>Pratyush</a:t>
            </a:r>
            <a:r>
              <a:rPr lang="en-US" dirty="0" smtClean="0"/>
              <a:t> Suresh(58)</a:t>
            </a:r>
          </a:p>
          <a:p>
            <a:pPr algn="r"/>
            <a:endParaRPr lang="en-IN" dirty="0"/>
          </a:p>
        </p:txBody>
      </p:sp>
    </p:spTree>
    <p:extLst>
      <p:ext uri="{BB962C8B-B14F-4D97-AF65-F5344CB8AC3E}">
        <p14:creationId xmlns:p14="http://schemas.microsoft.com/office/powerpoint/2010/main" val="283327430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293" y="381001"/>
            <a:ext cx="10972800" cy="1066800"/>
          </a:xfrm>
        </p:spPr>
        <p:txBody>
          <a:bodyPr/>
          <a:lstStyle/>
          <a:p>
            <a:r>
              <a:rPr lang="en-US" b="1" dirty="0" smtClean="0">
                <a:solidFill>
                  <a:schemeClr val="accent6"/>
                </a:solidFill>
                <a:latin typeface="Arial" pitchFamily="34" charset="0"/>
                <a:cs typeface="Arial" pitchFamily="34" charset="0"/>
              </a:rPr>
              <a:t>Abstract</a:t>
            </a:r>
            <a:endParaRPr lang="en-US" b="1" dirty="0">
              <a:solidFill>
                <a:schemeClr val="accent6"/>
              </a:solidFill>
              <a:latin typeface="Arial" pitchFamily="34" charset="0"/>
              <a:cs typeface="Arial" pitchFamily="34" charset="0"/>
            </a:endParaRPr>
          </a:p>
        </p:txBody>
      </p:sp>
      <p:sp>
        <p:nvSpPr>
          <p:cNvPr id="3" name="Content Placeholder 2"/>
          <p:cNvSpPr>
            <a:spLocks noGrp="1"/>
          </p:cNvSpPr>
          <p:nvPr>
            <p:ph idx="1"/>
          </p:nvPr>
        </p:nvSpPr>
        <p:spPr>
          <a:xfrm>
            <a:off x="422030" y="1512277"/>
            <a:ext cx="11359662" cy="5181599"/>
          </a:xfrm>
        </p:spPr>
        <p:txBody>
          <a:bodyPr>
            <a:normAutofit fontScale="92500"/>
          </a:bodyPr>
          <a:lstStyle/>
          <a:p>
            <a:pPr lvl="1">
              <a:buFont typeface="Wingdings" pitchFamily="2" charset="2"/>
              <a:buChar char="§"/>
              <a:tabLst>
                <a:tab pos="180000" algn="l"/>
              </a:tabLst>
            </a:pPr>
            <a:r>
              <a:rPr lang="en-US" sz="2400" dirty="0">
                <a:solidFill>
                  <a:schemeClr val="tx1"/>
                </a:solidFill>
                <a:latin typeface="Arial" pitchFamily="34" charset="0"/>
                <a:cs typeface="Arial" pitchFamily="34" charset="0"/>
              </a:rPr>
              <a:t>Micro blogging sites have millions of people sharing their thoughts daily because of its characteristic short and simple manner of expression. We propose and investigate a paradigm to mine the sentiment from a popular real-time micro blogging service, Twitter, where users post real time reactions to and opinions about “everything</a:t>
            </a:r>
            <a:r>
              <a:rPr lang="en-US" sz="2400" dirty="0" smtClean="0">
                <a:solidFill>
                  <a:schemeClr val="tx1"/>
                </a:solidFill>
                <a:latin typeface="Arial" pitchFamily="34" charset="0"/>
                <a:cs typeface="Arial" pitchFamily="34" charset="0"/>
              </a:rPr>
              <a:t>”.</a:t>
            </a:r>
          </a:p>
          <a:p>
            <a:pPr marL="411480" lvl="1" indent="0">
              <a:buNone/>
              <a:tabLst>
                <a:tab pos="180000" algn="l"/>
              </a:tabLst>
            </a:pPr>
            <a:endParaRPr lang="en-US" sz="2400" dirty="0">
              <a:solidFill>
                <a:schemeClr val="tx1"/>
              </a:solidFill>
              <a:latin typeface="Arial" pitchFamily="34" charset="0"/>
              <a:cs typeface="Arial" pitchFamily="34" charset="0"/>
            </a:endParaRPr>
          </a:p>
          <a:p>
            <a:pPr lvl="1">
              <a:buFont typeface="Wingdings" pitchFamily="2" charset="2"/>
              <a:buChar char="§"/>
              <a:tabLst>
                <a:tab pos="180000" algn="l"/>
              </a:tabLst>
            </a:pPr>
            <a:r>
              <a:rPr lang="en-US" sz="2400" dirty="0">
                <a:solidFill>
                  <a:schemeClr val="tx1"/>
                </a:solidFill>
                <a:latin typeface="Arial" pitchFamily="34" charset="0"/>
                <a:cs typeface="Arial" pitchFamily="34" charset="0"/>
              </a:rPr>
              <a:t> Social networking sites like twitter, Facebook, etc. are the great source of communication for  internet users. So these become an important source for understanding the opinions, views or emotions of people. </a:t>
            </a:r>
            <a:endParaRPr lang="en-US" sz="2400" dirty="0" smtClean="0">
              <a:solidFill>
                <a:schemeClr val="tx1"/>
              </a:solidFill>
              <a:latin typeface="Arial" pitchFamily="34" charset="0"/>
              <a:cs typeface="Arial" pitchFamily="34" charset="0"/>
            </a:endParaRPr>
          </a:p>
          <a:p>
            <a:pPr lvl="1">
              <a:buFont typeface="Wingdings" pitchFamily="2" charset="2"/>
              <a:buChar char="§"/>
              <a:tabLst>
                <a:tab pos="180000" algn="l"/>
              </a:tabLst>
            </a:pPr>
            <a:endParaRPr lang="en-US" sz="2400" dirty="0">
              <a:solidFill>
                <a:schemeClr val="tx1"/>
              </a:solidFill>
              <a:latin typeface="Arial" pitchFamily="34" charset="0"/>
              <a:cs typeface="Arial" pitchFamily="34" charset="0"/>
            </a:endParaRPr>
          </a:p>
          <a:p>
            <a:pPr lvl="1">
              <a:buFont typeface="Wingdings" pitchFamily="2" charset="2"/>
              <a:buChar char="§"/>
              <a:tabLst>
                <a:tab pos="180000" algn="l"/>
              </a:tabLst>
            </a:pPr>
            <a:r>
              <a:rPr lang="en-US" sz="2400" dirty="0">
                <a:solidFill>
                  <a:schemeClr val="tx1"/>
                </a:solidFill>
                <a:latin typeface="Arial" pitchFamily="34" charset="0"/>
                <a:cs typeface="Arial" pitchFamily="34" charset="0"/>
              </a:rPr>
              <a:t>We extract data, i.e. tweets from Twitter in real time and apply machine learning techniques to convert them into a useful form and then use it for building sentiment classifier. Given a piece of written text, the problem is to categorize the text into one specific sentiment polarity i.e. positive, negative or neutral</a:t>
            </a:r>
            <a:r>
              <a:rPr lang="en-US" sz="2000" dirty="0">
                <a:solidFill>
                  <a:schemeClr val="tx1"/>
                </a:solidFill>
                <a:latin typeface="Arial" pitchFamily="34" charset="0"/>
                <a:cs typeface="Arial" pitchFamily="34" charset="0"/>
              </a:rPr>
              <a:t>.</a:t>
            </a:r>
            <a:endParaRPr lang="en-IN" sz="2000" dirty="0">
              <a:solidFill>
                <a:schemeClr val="tx1"/>
              </a:solidFill>
              <a:latin typeface="Arial" pitchFamily="34" charset="0"/>
              <a:cs typeface="Arial" pitchFamily="34" charset="0"/>
            </a:endParaRPr>
          </a:p>
          <a:p>
            <a:pPr marL="109728" indent="0">
              <a:buNone/>
            </a:pPr>
            <a:endParaRPr lang="en-US" dirty="0"/>
          </a:p>
        </p:txBody>
      </p:sp>
    </p:spTree>
    <p:extLst>
      <p:ext uri="{BB962C8B-B14F-4D97-AF65-F5344CB8AC3E}">
        <p14:creationId xmlns:p14="http://schemas.microsoft.com/office/powerpoint/2010/main" val="28237811"/>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9631" y="592016"/>
            <a:ext cx="10972800" cy="1066800"/>
          </a:xfrm>
        </p:spPr>
        <p:txBody>
          <a:bodyPr>
            <a:normAutofit/>
          </a:bodyPr>
          <a:lstStyle/>
          <a:p>
            <a:r>
              <a:rPr lang="en-US" sz="3600" b="1" dirty="0" smtClean="0">
                <a:solidFill>
                  <a:schemeClr val="accent6"/>
                </a:solidFill>
                <a:latin typeface="Arial" pitchFamily="34" charset="0"/>
                <a:cs typeface="Arial" pitchFamily="34" charset="0"/>
              </a:rPr>
              <a:t>Problem Statement</a:t>
            </a:r>
            <a:endParaRPr lang="en-IN" sz="3600" b="1" dirty="0">
              <a:solidFill>
                <a:schemeClr val="accent6"/>
              </a:solidFill>
              <a:latin typeface="Arial" pitchFamily="34" charset="0"/>
              <a:cs typeface="Arial" pitchFamily="34" charset="0"/>
            </a:endParaRPr>
          </a:p>
        </p:txBody>
      </p:sp>
      <p:sp>
        <p:nvSpPr>
          <p:cNvPr id="3" name="Content Placeholder 2"/>
          <p:cNvSpPr>
            <a:spLocks noGrp="1"/>
          </p:cNvSpPr>
          <p:nvPr>
            <p:ph idx="1"/>
          </p:nvPr>
        </p:nvSpPr>
        <p:spPr>
          <a:xfrm>
            <a:off x="539261" y="1698439"/>
            <a:ext cx="10972800" cy="4325112"/>
          </a:xfrm>
        </p:spPr>
        <p:txBody>
          <a:bodyPr/>
          <a:lstStyle/>
          <a:p>
            <a:pPr marL="109728" indent="0">
              <a:buNone/>
            </a:pPr>
            <a:r>
              <a:rPr lang="en-US" dirty="0" smtClean="0">
                <a:solidFill>
                  <a:schemeClr val="accent6"/>
                </a:solidFill>
              </a:rPr>
              <a:t>•</a:t>
            </a:r>
            <a:r>
              <a:rPr lang="en-US" dirty="0" smtClean="0"/>
              <a:t> </a:t>
            </a:r>
            <a:r>
              <a:rPr lang="en-US" sz="2600" b="1" dirty="0" smtClean="0"/>
              <a:t>Text Level Analysis:</a:t>
            </a:r>
          </a:p>
          <a:p>
            <a:pPr>
              <a:buFont typeface="Wingdings" pitchFamily="2" charset="2"/>
              <a:buChar char="ü"/>
            </a:pPr>
            <a:r>
              <a:rPr lang="en-US" sz="2600" dirty="0"/>
              <a:t> </a:t>
            </a:r>
            <a:r>
              <a:rPr lang="en-US" sz="2600" dirty="0" smtClean="0"/>
              <a:t>  Given a message, we decide whether the message is of positive  negative or neutral sentiment. </a:t>
            </a:r>
          </a:p>
          <a:p>
            <a:pPr marL="109728" indent="0">
              <a:buNone/>
            </a:pPr>
            <a:endParaRPr lang="en-US" sz="2600" dirty="0" smtClean="0"/>
          </a:p>
          <a:p>
            <a:pPr>
              <a:buFont typeface="Wingdings" pitchFamily="2" charset="2"/>
              <a:buChar char="ü"/>
            </a:pPr>
            <a:r>
              <a:rPr lang="en-US" sz="2600" dirty="0" smtClean="0"/>
              <a:t>   For messages conveying both a positive, negative sentiment, whichever is the stronger sentiment should be chosen.</a:t>
            </a:r>
          </a:p>
          <a:p>
            <a:pPr marL="109728" indent="0">
              <a:buNone/>
            </a:pPr>
            <a:endParaRPr lang="en-US" sz="2600" dirty="0" smtClean="0"/>
          </a:p>
          <a:p>
            <a:pPr marL="109728" indent="0">
              <a:buNone/>
            </a:pPr>
            <a:r>
              <a:rPr lang="en-US" sz="2600" dirty="0" smtClean="0">
                <a:solidFill>
                  <a:schemeClr val="accent6"/>
                </a:solidFill>
              </a:rPr>
              <a:t>•</a:t>
            </a:r>
            <a:r>
              <a:rPr lang="en-US" sz="2600" b="1" dirty="0" smtClean="0"/>
              <a:t>Emojis Level Analysis :</a:t>
            </a:r>
          </a:p>
          <a:p>
            <a:pPr marL="109728" indent="0">
              <a:buNone/>
            </a:pPr>
            <a:r>
              <a:rPr lang="en-US" sz="2600" dirty="0" smtClean="0"/>
              <a:t>	Given a </a:t>
            </a:r>
            <a:r>
              <a:rPr lang="en-US" sz="2600" dirty="0" err="1" smtClean="0"/>
              <a:t>emoji</a:t>
            </a:r>
            <a:r>
              <a:rPr lang="en-US" sz="2600" dirty="0" smtClean="0"/>
              <a:t> whether that instance is positive, negative in that context.</a:t>
            </a:r>
          </a:p>
          <a:p>
            <a:pPr marL="0" indent="0">
              <a:buNone/>
            </a:pPr>
            <a:endParaRPr lang="en-IN" dirty="0"/>
          </a:p>
        </p:txBody>
      </p:sp>
    </p:spTree>
    <p:extLst>
      <p:ext uri="{BB962C8B-B14F-4D97-AF65-F5344CB8AC3E}">
        <p14:creationId xmlns:p14="http://schemas.microsoft.com/office/powerpoint/2010/main" val="421204281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3754" y="662353"/>
            <a:ext cx="10972800" cy="1066800"/>
          </a:xfrm>
        </p:spPr>
        <p:txBody>
          <a:bodyPr/>
          <a:lstStyle/>
          <a:p>
            <a:r>
              <a:rPr lang="en-US" b="1" dirty="0" smtClean="0">
                <a:solidFill>
                  <a:schemeClr val="accent6"/>
                </a:solidFill>
                <a:latin typeface="Arial" pitchFamily="34" charset="0"/>
                <a:cs typeface="Arial" pitchFamily="34" charset="0"/>
              </a:rPr>
              <a:t>OBJECTIVE </a:t>
            </a:r>
            <a:endParaRPr lang="en-IN" b="1" dirty="0">
              <a:solidFill>
                <a:schemeClr val="accent6"/>
              </a:solidFill>
              <a:latin typeface="Arial" pitchFamily="34" charset="0"/>
              <a:cs typeface="Arial" pitchFamily="34" charset="0"/>
            </a:endParaRPr>
          </a:p>
        </p:txBody>
      </p:sp>
      <p:sp>
        <p:nvSpPr>
          <p:cNvPr id="3" name="Content Placeholder 2"/>
          <p:cNvSpPr>
            <a:spLocks noGrp="1"/>
          </p:cNvSpPr>
          <p:nvPr>
            <p:ph idx="1"/>
          </p:nvPr>
        </p:nvSpPr>
        <p:spPr>
          <a:xfrm>
            <a:off x="550984" y="1921178"/>
            <a:ext cx="11207262" cy="4325112"/>
          </a:xfrm>
        </p:spPr>
        <p:txBody>
          <a:bodyPr>
            <a:normAutofit/>
          </a:bodyPr>
          <a:lstStyle/>
          <a:p>
            <a:pPr>
              <a:buFont typeface="Wingdings" pitchFamily="2" charset="2"/>
              <a:buChar char="§"/>
            </a:pPr>
            <a:r>
              <a:rPr lang="en-US" sz="2600" dirty="0" smtClean="0">
                <a:latin typeface="Arial" pitchFamily="34" charset="0"/>
                <a:cs typeface="Arial" pitchFamily="34" charset="0"/>
              </a:rPr>
              <a:t>Using algorithm to classify text and emoticons into positive, negative or neutral.</a:t>
            </a:r>
          </a:p>
          <a:p>
            <a:pPr>
              <a:buFont typeface="Wingdings" pitchFamily="2" charset="2"/>
              <a:buChar char="§"/>
            </a:pPr>
            <a:endParaRPr lang="en-US" sz="2600" dirty="0" smtClean="0">
              <a:latin typeface="Arial" pitchFamily="34" charset="0"/>
              <a:cs typeface="Arial" pitchFamily="34" charset="0"/>
            </a:endParaRPr>
          </a:p>
          <a:p>
            <a:pPr>
              <a:buFont typeface="Wingdings" pitchFamily="2" charset="2"/>
              <a:buChar char="§"/>
            </a:pPr>
            <a:r>
              <a:rPr lang="en-US" sz="2600" dirty="0" smtClean="0">
                <a:latin typeface="Arial" pitchFamily="34" charset="0"/>
                <a:cs typeface="Arial" pitchFamily="34" charset="0"/>
              </a:rPr>
              <a:t>Emotion detection is to analyze attitude of the mass is positive, negative or neutral towards the subject of interest.</a:t>
            </a:r>
          </a:p>
          <a:p>
            <a:pPr>
              <a:buFont typeface="Wingdings" pitchFamily="2" charset="2"/>
              <a:buChar char="§"/>
            </a:pPr>
            <a:endParaRPr lang="en-US" sz="2600" dirty="0" smtClean="0">
              <a:latin typeface="Arial" pitchFamily="34" charset="0"/>
              <a:cs typeface="Arial" pitchFamily="34" charset="0"/>
            </a:endParaRPr>
          </a:p>
          <a:p>
            <a:pPr>
              <a:buFont typeface="Wingdings" pitchFamily="2" charset="2"/>
              <a:buChar char="§"/>
            </a:pPr>
            <a:r>
              <a:rPr lang="en-US" sz="2600" dirty="0" smtClean="0">
                <a:latin typeface="Arial" pitchFamily="34" charset="0"/>
                <a:cs typeface="Arial" pitchFamily="34" charset="0"/>
              </a:rPr>
              <a:t>Sentiment analysis extracts information from the opinions, appraisals and emotions of people in regards to entities, events and their attributes.  </a:t>
            </a:r>
          </a:p>
        </p:txBody>
      </p:sp>
    </p:spTree>
    <p:extLst>
      <p:ext uri="{BB962C8B-B14F-4D97-AF65-F5344CB8AC3E}">
        <p14:creationId xmlns:p14="http://schemas.microsoft.com/office/powerpoint/2010/main" val="261969086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2370" y="785446"/>
            <a:ext cx="10972800" cy="5320167"/>
          </a:xfrm>
        </p:spPr>
        <p:txBody>
          <a:bodyPr/>
          <a:lstStyle/>
          <a:p>
            <a:pPr marL="109728" indent="0">
              <a:buNone/>
            </a:pPr>
            <a:endParaRPr lang="en-US" dirty="0" smtClean="0"/>
          </a:p>
          <a:p>
            <a:pPr>
              <a:buFont typeface="Wingdings" pitchFamily="2" charset="2"/>
              <a:buChar char="§"/>
            </a:pPr>
            <a:r>
              <a:rPr lang="en-US" dirty="0" smtClean="0">
                <a:latin typeface="Arial" pitchFamily="34" charset="0"/>
                <a:cs typeface="Arial" pitchFamily="34" charset="0"/>
              </a:rPr>
              <a:t>The objective of this project is to show how sentimental analysis can be used to recognize user’s mood or emotion using tweets which has been extracted in real time. </a:t>
            </a:r>
          </a:p>
          <a:p>
            <a:pPr>
              <a:buFont typeface="Wingdings" pitchFamily="2" charset="2"/>
              <a:buChar char="§"/>
            </a:pPr>
            <a:endParaRPr lang="en-US" dirty="0" smtClean="0">
              <a:latin typeface="Arial" pitchFamily="34" charset="0"/>
              <a:cs typeface="Arial" pitchFamily="34" charset="0"/>
            </a:endParaRPr>
          </a:p>
          <a:p>
            <a:pPr>
              <a:buFont typeface="Wingdings" pitchFamily="2" charset="2"/>
              <a:buChar char="§"/>
            </a:pPr>
            <a:r>
              <a:rPr lang="en-US" dirty="0" smtClean="0">
                <a:latin typeface="Arial" pitchFamily="34" charset="0"/>
                <a:cs typeface="Arial" pitchFamily="34" charset="0"/>
              </a:rPr>
              <a:t>The learning algorithm will then learn what our emotions are from statistical data and then determine the emotion.</a:t>
            </a:r>
          </a:p>
          <a:p>
            <a:pPr marL="0" indent="0">
              <a:buNone/>
            </a:pPr>
            <a:endParaRPr lang="en-IN" dirty="0"/>
          </a:p>
        </p:txBody>
      </p:sp>
    </p:spTree>
    <p:extLst>
      <p:ext uri="{BB962C8B-B14F-4D97-AF65-F5344CB8AC3E}">
        <p14:creationId xmlns:p14="http://schemas.microsoft.com/office/powerpoint/2010/main" val="368722234"/>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124" y="451339"/>
            <a:ext cx="10972800" cy="1066800"/>
          </a:xfrm>
        </p:spPr>
        <p:txBody>
          <a:bodyPr/>
          <a:lstStyle/>
          <a:p>
            <a:r>
              <a:rPr lang="en-US" b="1" dirty="0" smtClean="0">
                <a:solidFill>
                  <a:schemeClr val="accent6"/>
                </a:solidFill>
                <a:latin typeface="Arial" pitchFamily="34" charset="0"/>
                <a:cs typeface="Arial" pitchFamily="34" charset="0"/>
              </a:rPr>
              <a:t>Scope :</a:t>
            </a:r>
            <a:endParaRPr lang="en-IN" b="1" dirty="0">
              <a:solidFill>
                <a:schemeClr val="accent6"/>
              </a:solidFill>
              <a:latin typeface="Arial" pitchFamily="34" charset="0"/>
              <a:cs typeface="Arial" pitchFamily="34" charset="0"/>
            </a:endParaRPr>
          </a:p>
        </p:txBody>
      </p:sp>
      <p:sp>
        <p:nvSpPr>
          <p:cNvPr id="3" name="Content Placeholder 2"/>
          <p:cNvSpPr>
            <a:spLocks noGrp="1"/>
          </p:cNvSpPr>
          <p:nvPr>
            <p:ph idx="1"/>
          </p:nvPr>
        </p:nvSpPr>
        <p:spPr>
          <a:xfrm>
            <a:off x="304800" y="1639823"/>
            <a:ext cx="11441722" cy="4585131"/>
          </a:xfrm>
        </p:spPr>
        <p:txBody>
          <a:bodyPr>
            <a:normAutofit fontScale="32500" lnSpcReduction="20000"/>
          </a:bodyPr>
          <a:lstStyle/>
          <a:p>
            <a:pPr marL="0" indent="0">
              <a:buNone/>
            </a:pPr>
            <a:endParaRPr lang="en-US" sz="6400" dirty="0">
              <a:latin typeface="Arial" pitchFamily="34" charset="0"/>
              <a:cs typeface="Arial" pitchFamily="34" charset="0"/>
            </a:endParaRPr>
          </a:p>
          <a:p>
            <a:pPr marL="857250" indent="-857250"/>
            <a:r>
              <a:rPr lang="en-US" sz="6400" dirty="0" smtClean="0">
                <a:latin typeface="Arial" pitchFamily="34" charset="0"/>
                <a:cs typeface="Arial" pitchFamily="34" charset="0"/>
              </a:rPr>
              <a:t>The amount of relevant data is much larger for twitter, as compared to traditional blogging sites. </a:t>
            </a:r>
          </a:p>
          <a:p>
            <a:pPr marL="0" indent="0">
              <a:buNone/>
            </a:pPr>
            <a:endParaRPr lang="en-US" sz="6400" dirty="0" smtClean="0">
              <a:latin typeface="Arial" pitchFamily="34" charset="0"/>
              <a:cs typeface="Arial" pitchFamily="34" charset="0"/>
            </a:endParaRPr>
          </a:p>
          <a:p>
            <a:pPr marL="857250" indent="-857250"/>
            <a:r>
              <a:rPr lang="en-US" sz="6400" dirty="0" smtClean="0">
                <a:latin typeface="Arial" pitchFamily="34" charset="0"/>
                <a:cs typeface="Arial" pitchFamily="34" charset="0"/>
              </a:rPr>
              <a:t>Moreover, the response on twitter is more prompt and also more general (since the number of users who tweet is substantially more than those who write web blogs on a daily basis). </a:t>
            </a:r>
          </a:p>
          <a:p>
            <a:pPr marL="0" indent="0">
              <a:buNone/>
            </a:pPr>
            <a:endParaRPr lang="en-US" sz="6400" dirty="0">
              <a:latin typeface="Arial" pitchFamily="34" charset="0"/>
              <a:cs typeface="Arial" pitchFamily="34" charset="0"/>
            </a:endParaRPr>
          </a:p>
          <a:p>
            <a:pPr marL="857250" indent="-857250"/>
            <a:r>
              <a:rPr lang="en-US" sz="6400" dirty="0" smtClean="0">
                <a:latin typeface="Arial" pitchFamily="34" charset="0"/>
                <a:cs typeface="Arial" pitchFamily="34" charset="0"/>
              </a:rPr>
              <a:t>This could be done by analyzing overall public sentiment towards that firm with respect to time and using economics tools for finding the public sentiment. </a:t>
            </a:r>
          </a:p>
          <a:p>
            <a:pPr marL="0" indent="0">
              <a:buNone/>
            </a:pPr>
            <a:endParaRPr lang="en-US" sz="6400" dirty="0">
              <a:latin typeface="Arial" pitchFamily="34" charset="0"/>
              <a:cs typeface="Arial" pitchFamily="34" charset="0"/>
            </a:endParaRPr>
          </a:p>
          <a:p>
            <a:pPr marL="857250" indent="-857250"/>
            <a:r>
              <a:rPr lang="en-US" sz="6400" dirty="0" smtClean="0">
                <a:latin typeface="Arial" pitchFamily="34" charset="0"/>
                <a:cs typeface="Arial" pitchFamily="34" charset="0"/>
              </a:rPr>
              <a:t>Firms can also estimate how well their product is responding in the market, which areas of the market is it having a favorable response and in which a negative response.</a:t>
            </a:r>
            <a:endParaRPr lang="en-IN" sz="6400" dirty="0">
              <a:latin typeface="Arial" pitchFamily="34" charset="0"/>
              <a:cs typeface="Arial" pitchFamily="34" charset="0"/>
            </a:endParaRPr>
          </a:p>
        </p:txBody>
      </p:sp>
    </p:spTree>
    <p:extLst>
      <p:ext uri="{BB962C8B-B14F-4D97-AF65-F5344CB8AC3E}">
        <p14:creationId xmlns:p14="http://schemas.microsoft.com/office/powerpoint/2010/main" val="3348905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 calcmode="lin" valueType="num">
                                      <p:cBhvr additive="base">
                                        <p:cTn id="2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677" y="545124"/>
            <a:ext cx="10972800" cy="1066800"/>
          </a:xfrm>
        </p:spPr>
        <p:txBody>
          <a:bodyPr>
            <a:normAutofit/>
          </a:bodyPr>
          <a:lstStyle/>
          <a:p>
            <a:r>
              <a:rPr lang="en-US" sz="3600" b="1" dirty="0" smtClean="0">
                <a:solidFill>
                  <a:schemeClr val="accent6"/>
                </a:solidFill>
                <a:latin typeface="Arial" pitchFamily="34" charset="0"/>
                <a:cs typeface="Arial" pitchFamily="34" charset="0"/>
              </a:rPr>
              <a:t>Motivation :</a:t>
            </a:r>
            <a:endParaRPr lang="en-IN" sz="3600" b="1" dirty="0">
              <a:solidFill>
                <a:schemeClr val="accent6"/>
              </a:solidFill>
              <a:latin typeface="Arial" pitchFamily="34" charset="0"/>
              <a:cs typeface="Arial" pitchFamily="34" charset="0"/>
            </a:endParaRPr>
          </a:p>
        </p:txBody>
      </p:sp>
      <p:sp>
        <p:nvSpPr>
          <p:cNvPr id="3" name="Content Placeholder 2"/>
          <p:cNvSpPr>
            <a:spLocks noGrp="1"/>
          </p:cNvSpPr>
          <p:nvPr>
            <p:ph idx="1"/>
          </p:nvPr>
        </p:nvSpPr>
        <p:spPr>
          <a:xfrm>
            <a:off x="515816" y="1663270"/>
            <a:ext cx="10972800" cy="4325112"/>
          </a:xfrm>
        </p:spPr>
        <p:txBody>
          <a:bodyPr/>
          <a:lstStyle/>
          <a:p>
            <a:r>
              <a:rPr lang="en-US" dirty="0" smtClean="0">
                <a:latin typeface="Arial" pitchFamily="34" charset="0"/>
                <a:cs typeface="Arial" pitchFamily="34" charset="0"/>
              </a:rPr>
              <a:t>Sentimental analysis is a hot topic of research.</a:t>
            </a:r>
          </a:p>
          <a:p>
            <a:r>
              <a:rPr lang="en-US" dirty="0" smtClean="0">
                <a:latin typeface="Arial" pitchFamily="34" charset="0"/>
                <a:cs typeface="Arial" pitchFamily="34" charset="0"/>
              </a:rPr>
              <a:t>Use of electronic media is increasing day by day.</a:t>
            </a:r>
          </a:p>
          <a:p>
            <a:r>
              <a:rPr lang="en-US" dirty="0" smtClean="0">
                <a:latin typeface="Arial" pitchFamily="34" charset="0"/>
                <a:cs typeface="Arial" pitchFamily="34" charset="0"/>
              </a:rPr>
              <a:t>It can lead to more accurate tools for extracting semantic information.</a:t>
            </a:r>
          </a:p>
          <a:p>
            <a:r>
              <a:rPr lang="en-US" dirty="0" smtClean="0">
                <a:latin typeface="Arial" pitchFamily="34" charset="0"/>
                <a:cs typeface="Arial" pitchFamily="34" charset="0"/>
              </a:rPr>
              <a:t>It provide means for empirically studying properties of social interaction.</a:t>
            </a:r>
          </a:p>
          <a:p>
            <a:pPr marL="109728" indent="0">
              <a:buNone/>
            </a:pPr>
            <a:endParaRPr lang="en-IN" dirty="0"/>
          </a:p>
        </p:txBody>
      </p:sp>
    </p:spTree>
    <p:extLst>
      <p:ext uri="{BB962C8B-B14F-4D97-AF65-F5344CB8AC3E}">
        <p14:creationId xmlns:p14="http://schemas.microsoft.com/office/powerpoint/2010/main" val="3009090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437882" y="1143000"/>
            <a:ext cx="11144518" cy="222161"/>
          </a:xfrm>
        </p:spPr>
        <p:txBody>
          <a:bodyPr>
            <a:normAutofit fontScale="90000"/>
          </a:bodyPr>
          <a:lstStyle/>
          <a:p>
            <a:r>
              <a:rPr lang="en-US" dirty="0" smtClean="0"/>
              <a:t>Literature Review :</a:t>
            </a:r>
            <a:endParaRPr lang="en-IN"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765746379"/>
              </p:ext>
            </p:extLst>
          </p:nvPr>
        </p:nvGraphicFramePr>
        <p:xfrm>
          <a:off x="438219" y="1669939"/>
          <a:ext cx="11144181" cy="4501540"/>
        </p:xfrm>
        <a:graphic>
          <a:graphicData uri="http://schemas.openxmlformats.org/drawingml/2006/table">
            <a:tbl>
              <a:tblPr firstRow="1" bandRow="1">
                <a:tableStyleId>{5C22544A-7EE6-4342-B048-85BDC9FD1C3A}</a:tableStyleId>
              </a:tblPr>
              <a:tblGrid>
                <a:gridCol w="1133004"/>
                <a:gridCol w="2884867"/>
                <a:gridCol w="2807595"/>
                <a:gridCol w="2777438"/>
                <a:gridCol w="1541277"/>
              </a:tblGrid>
              <a:tr h="508793">
                <a:tc>
                  <a:txBody>
                    <a:bodyPr/>
                    <a:lstStyle/>
                    <a:p>
                      <a:pPr algn="ctr"/>
                      <a:r>
                        <a:rPr lang="en-US" dirty="0" smtClean="0"/>
                        <a:t>Year</a:t>
                      </a:r>
                      <a:endParaRPr lang="en-IN" dirty="0"/>
                    </a:p>
                  </a:txBody>
                  <a:tcPr marL="86273" marR="86273"/>
                </a:tc>
                <a:tc>
                  <a:txBody>
                    <a:bodyPr/>
                    <a:lstStyle/>
                    <a:p>
                      <a:pPr algn="ctr"/>
                      <a:r>
                        <a:rPr lang="en-US" dirty="0" smtClean="0"/>
                        <a:t>Tittle</a:t>
                      </a:r>
                      <a:endParaRPr lang="en-IN" dirty="0"/>
                    </a:p>
                  </a:txBody>
                  <a:tcPr marL="86273" marR="86273"/>
                </a:tc>
                <a:tc>
                  <a:txBody>
                    <a:bodyPr/>
                    <a:lstStyle/>
                    <a:p>
                      <a:pPr algn="ctr"/>
                      <a:r>
                        <a:rPr lang="en-US" dirty="0" smtClean="0"/>
                        <a:t>Author</a:t>
                      </a:r>
                      <a:endParaRPr lang="en-IN" dirty="0"/>
                    </a:p>
                  </a:txBody>
                  <a:tcPr marL="86273" marR="86273"/>
                </a:tc>
                <a:tc>
                  <a:txBody>
                    <a:bodyPr/>
                    <a:lstStyle/>
                    <a:p>
                      <a:pPr algn="ctr"/>
                      <a:r>
                        <a:rPr lang="en-US" dirty="0" smtClean="0"/>
                        <a:t>Methods/Algorithm</a:t>
                      </a:r>
                      <a:r>
                        <a:rPr lang="en-US" baseline="0" dirty="0" smtClean="0"/>
                        <a:t> used</a:t>
                      </a:r>
                      <a:endParaRPr lang="en-IN" dirty="0"/>
                    </a:p>
                  </a:txBody>
                  <a:tcPr marL="86273" marR="86273"/>
                </a:tc>
                <a:tc>
                  <a:txBody>
                    <a:bodyPr/>
                    <a:lstStyle/>
                    <a:p>
                      <a:pPr algn="ctr"/>
                      <a:r>
                        <a:rPr lang="en-US" dirty="0" smtClean="0"/>
                        <a:t>Publication</a:t>
                      </a:r>
                      <a:endParaRPr lang="en-IN" dirty="0"/>
                    </a:p>
                  </a:txBody>
                  <a:tcPr marL="86273" marR="86273"/>
                </a:tc>
              </a:tr>
              <a:tr h="1195533">
                <a:tc>
                  <a:txBody>
                    <a:bodyPr/>
                    <a:lstStyle/>
                    <a:p>
                      <a:r>
                        <a:rPr lang="en-IN" dirty="0" smtClean="0"/>
                        <a:t>2017</a:t>
                      </a:r>
                      <a:endParaRPr lang="en-IN" dirty="0"/>
                    </a:p>
                  </a:txBody>
                  <a:tcPr marL="86273" marR="8627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smtClean="0"/>
                        <a:t>Sentimental</a:t>
                      </a:r>
                      <a:r>
                        <a:rPr lang="en-US" sz="1800" baseline="0" dirty="0" smtClean="0"/>
                        <a:t> analysis with Recurrent neural network and unsupervised neural language model</a:t>
                      </a:r>
                      <a:endParaRPr lang="en-US" sz="1800" dirty="0" smtClean="0"/>
                    </a:p>
                    <a:p>
                      <a:endParaRPr lang="en-IN" dirty="0"/>
                    </a:p>
                  </a:txBody>
                  <a:tcPr marL="86273" marR="86273"/>
                </a:tc>
                <a:tc>
                  <a:txBody>
                    <a:bodyPr/>
                    <a:lstStyle/>
                    <a:p>
                      <a:r>
                        <a:rPr lang="en-US" dirty="0" err="1" smtClean="0"/>
                        <a:t>Abdalraouf</a:t>
                      </a:r>
                      <a:r>
                        <a:rPr lang="en-US" dirty="0" smtClean="0"/>
                        <a:t> Hassan, </a:t>
                      </a:r>
                      <a:r>
                        <a:rPr lang="en-US" dirty="0" err="1" smtClean="0"/>
                        <a:t>Ausif</a:t>
                      </a:r>
                      <a:r>
                        <a:rPr lang="en-US" dirty="0" smtClean="0"/>
                        <a:t> Mahmood</a:t>
                      </a:r>
                      <a:endParaRPr lang="en-IN" dirty="0"/>
                    </a:p>
                  </a:txBody>
                  <a:tcPr marL="86273" marR="8627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smtClean="0"/>
                        <a:t>Recurrent Neural Network Long Short-Term</a:t>
                      </a:r>
                      <a:r>
                        <a:rPr lang="en-US" sz="1800" baseline="0" dirty="0" smtClean="0"/>
                        <a:t> </a:t>
                      </a:r>
                      <a:r>
                        <a:rPr lang="en-US" sz="1800" dirty="0" smtClean="0"/>
                        <a:t>Memory (RNN-LSTM)</a:t>
                      </a:r>
                      <a:endParaRPr lang="en-IN" sz="1800" dirty="0" smtClean="0"/>
                    </a:p>
                  </a:txBody>
                  <a:tcPr marL="86273" marR="86273"/>
                </a:tc>
                <a:tc>
                  <a:txBody>
                    <a:bodyPr/>
                    <a:lstStyle/>
                    <a:p>
                      <a:endParaRPr lang="en-IN"/>
                    </a:p>
                  </a:txBody>
                  <a:tcPr marL="86273" marR="86273"/>
                </a:tc>
              </a:tr>
              <a:tr h="994622">
                <a:tc>
                  <a:txBody>
                    <a:bodyPr/>
                    <a:lstStyle/>
                    <a:p>
                      <a:r>
                        <a:rPr lang="en-IN" dirty="0" smtClean="0"/>
                        <a:t>2016</a:t>
                      </a:r>
                      <a:endParaRPr lang="en-IN" dirty="0"/>
                    </a:p>
                  </a:txBody>
                  <a:tcPr marL="86273" marR="86273"/>
                </a:tc>
                <a:tc>
                  <a:txBody>
                    <a:bodyPr/>
                    <a:lstStyle/>
                    <a:p>
                      <a:r>
                        <a:rPr lang="en-US" dirty="0" smtClean="0"/>
                        <a:t>Sentiment Analysis on Twitter Data-set using Naïve</a:t>
                      </a:r>
                      <a:r>
                        <a:rPr lang="en-US" baseline="0" dirty="0" smtClean="0"/>
                        <a:t> </a:t>
                      </a:r>
                      <a:r>
                        <a:rPr lang="en-US" dirty="0" smtClean="0"/>
                        <a:t>Bayes Algorithm</a:t>
                      </a:r>
                      <a:endParaRPr lang="en-IN" dirty="0"/>
                    </a:p>
                  </a:txBody>
                  <a:tcPr marL="86273" marR="86273"/>
                </a:tc>
                <a:tc>
                  <a:txBody>
                    <a:bodyPr/>
                    <a:lstStyle/>
                    <a:p>
                      <a:r>
                        <a:rPr lang="en-US" sz="1800" dirty="0" smtClean="0">
                          <a:latin typeface="Arial" pitchFamily="34" charset="0"/>
                          <a:cs typeface="Arial" pitchFamily="34" charset="0"/>
                        </a:rPr>
                        <a:t>Huma </a:t>
                      </a:r>
                      <a:r>
                        <a:rPr lang="en-US" sz="1800" dirty="0" err="1" smtClean="0">
                          <a:latin typeface="Arial" pitchFamily="34" charset="0"/>
                          <a:cs typeface="Arial" pitchFamily="34" charset="0"/>
                        </a:rPr>
                        <a:t>Parveen</a:t>
                      </a:r>
                      <a:r>
                        <a:rPr lang="en-US" sz="1800" dirty="0" smtClean="0">
                          <a:latin typeface="Arial" pitchFamily="34" charset="0"/>
                          <a:cs typeface="Arial" pitchFamily="34" charset="0"/>
                        </a:rPr>
                        <a:t>, Prof. </a:t>
                      </a:r>
                      <a:r>
                        <a:rPr lang="en-US" sz="1800" dirty="0" err="1" smtClean="0">
                          <a:latin typeface="Arial" pitchFamily="34" charset="0"/>
                          <a:cs typeface="Arial" pitchFamily="34" charset="0"/>
                        </a:rPr>
                        <a:t>Shikha</a:t>
                      </a:r>
                      <a:r>
                        <a:rPr lang="en-US" sz="1800" dirty="0" smtClean="0">
                          <a:latin typeface="Arial" pitchFamily="34" charset="0"/>
                          <a:cs typeface="Arial" pitchFamily="34" charset="0"/>
                        </a:rPr>
                        <a:t> Pandey</a:t>
                      </a:r>
                      <a:endParaRPr lang="en-IN" dirty="0"/>
                    </a:p>
                  </a:txBody>
                  <a:tcPr marL="86273" marR="86273"/>
                </a:tc>
                <a:tc>
                  <a:txBody>
                    <a:bodyPr/>
                    <a:lstStyle/>
                    <a:p>
                      <a:r>
                        <a:rPr lang="en-US" sz="1800" dirty="0" smtClean="0">
                          <a:latin typeface="Arial" pitchFamily="34" charset="0"/>
                          <a:cs typeface="Arial" pitchFamily="34" charset="0"/>
                        </a:rPr>
                        <a:t>Naïve</a:t>
                      </a:r>
                      <a:r>
                        <a:rPr lang="en-US" sz="1800" baseline="0" dirty="0" smtClean="0">
                          <a:latin typeface="Arial" pitchFamily="34" charset="0"/>
                          <a:cs typeface="Arial" pitchFamily="34" charset="0"/>
                        </a:rPr>
                        <a:t> Bayes Algorithm</a:t>
                      </a:r>
                      <a:endParaRPr lang="en-IN" dirty="0"/>
                    </a:p>
                  </a:txBody>
                  <a:tcPr marL="86273" marR="86273"/>
                </a:tc>
                <a:tc>
                  <a:txBody>
                    <a:bodyPr/>
                    <a:lstStyle/>
                    <a:p>
                      <a:r>
                        <a:rPr lang="en-IN" dirty="0" smtClean="0"/>
                        <a:t>IEEE</a:t>
                      </a:r>
                      <a:endParaRPr lang="en-IN" dirty="0"/>
                    </a:p>
                  </a:txBody>
                  <a:tcPr marL="86273" marR="86273"/>
                </a:tc>
              </a:tr>
              <a:tr h="1403798">
                <a:tc>
                  <a:txBody>
                    <a:bodyPr/>
                    <a:lstStyle/>
                    <a:p>
                      <a:r>
                        <a:rPr lang="en-IN" dirty="0" smtClean="0"/>
                        <a:t>2013</a:t>
                      </a:r>
                      <a:endParaRPr lang="en-IN" dirty="0"/>
                    </a:p>
                  </a:txBody>
                  <a:tcPr marL="86273" marR="86273"/>
                </a:tc>
                <a:tc>
                  <a:txBody>
                    <a:bodyPr/>
                    <a:lstStyle/>
                    <a:p>
                      <a:r>
                        <a:rPr lang="en-US" dirty="0" smtClean="0"/>
                        <a:t>Sentiment Analysis in Twitter using Machine</a:t>
                      </a:r>
                    </a:p>
                    <a:p>
                      <a:r>
                        <a:rPr lang="en-US" dirty="0" smtClean="0"/>
                        <a:t>Learning Techniques</a:t>
                      </a:r>
                      <a:endParaRPr lang="en-IN" dirty="0"/>
                    </a:p>
                  </a:txBody>
                  <a:tcPr marL="86273" marR="86273"/>
                </a:tc>
                <a:tc>
                  <a:txBody>
                    <a:bodyPr/>
                    <a:lstStyle/>
                    <a:p>
                      <a:r>
                        <a:rPr lang="en-IN" dirty="0" err="1" smtClean="0"/>
                        <a:t>Neethu</a:t>
                      </a:r>
                      <a:r>
                        <a:rPr lang="en-IN" dirty="0" smtClean="0"/>
                        <a:t> M S, </a:t>
                      </a:r>
                      <a:r>
                        <a:rPr lang="en-IN" dirty="0" err="1" smtClean="0"/>
                        <a:t>Rajasree</a:t>
                      </a:r>
                      <a:r>
                        <a:rPr lang="en-IN" dirty="0" smtClean="0"/>
                        <a:t> R</a:t>
                      </a:r>
                      <a:endParaRPr lang="en-IN" dirty="0"/>
                    </a:p>
                  </a:txBody>
                  <a:tcPr marL="86273" marR="86273"/>
                </a:tc>
                <a:tc>
                  <a:txBody>
                    <a:bodyPr/>
                    <a:lstStyle/>
                    <a:p>
                      <a:r>
                        <a:rPr lang="en-US" b="0" dirty="0" smtClean="0"/>
                        <a:t>Naive Bayes</a:t>
                      </a:r>
                      <a:r>
                        <a:rPr lang="en-US" b="0" baseline="0" dirty="0" smtClean="0"/>
                        <a:t> </a:t>
                      </a:r>
                      <a:r>
                        <a:rPr lang="en-US" b="0" dirty="0" smtClean="0"/>
                        <a:t>(NB), Maximum Entropy (ME), and Support Vector Machines</a:t>
                      </a:r>
                      <a:r>
                        <a:rPr lang="en-US" b="0" baseline="0" dirty="0" smtClean="0"/>
                        <a:t> </a:t>
                      </a:r>
                      <a:r>
                        <a:rPr lang="en-US" b="0" dirty="0" smtClean="0"/>
                        <a:t>(SVM)</a:t>
                      </a:r>
                      <a:endParaRPr lang="en-IN" b="0" dirty="0"/>
                    </a:p>
                  </a:txBody>
                  <a:tcPr marL="86273" marR="86273"/>
                </a:tc>
                <a:tc>
                  <a:txBody>
                    <a:bodyPr/>
                    <a:lstStyle/>
                    <a:p>
                      <a:r>
                        <a:rPr lang="en-IN" dirty="0" smtClean="0"/>
                        <a:t>IEEE</a:t>
                      </a:r>
                      <a:endParaRPr lang="en-IN" dirty="0"/>
                    </a:p>
                  </a:txBody>
                  <a:tcPr marL="86273" marR="86273"/>
                </a:tc>
              </a:tr>
            </a:tbl>
          </a:graphicData>
        </a:graphic>
      </p:graphicFrame>
    </p:spTree>
    <p:extLst>
      <p:ext uri="{BB962C8B-B14F-4D97-AF65-F5344CB8AC3E}">
        <p14:creationId xmlns:p14="http://schemas.microsoft.com/office/powerpoint/2010/main" val="2566690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637511679"/>
              </p:ext>
            </p:extLst>
          </p:nvPr>
        </p:nvGraphicFramePr>
        <p:xfrm>
          <a:off x="193653" y="1443170"/>
          <a:ext cx="11435970" cy="3418972"/>
        </p:xfrm>
        <a:graphic>
          <a:graphicData uri="http://schemas.openxmlformats.org/drawingml/2006/table">
            <a:tbl>
              <a:tblPr firstRow="1" bandRow="1">
                <a:tableStyleId>{5C22544A-7EE6-4342-B048-85BDC9FD1C3A}</a:tableStyleId>
              </a:tblPr>
              <a:tblGrid>
                <a:gridCol w="849536"/>
                <a:gridCol w="2047740"/>
                <a:gridCol w="2112136"/>
                <a:gridCol w="4139364"/>
                <a:gridCol w="2287194"/>
              </a:tblGrid>
              <a:tr h="1132972">
                <a:tc>
                  <a:txBody>
                    <a:bodyPr/>
                    <a:lstStyle/>
                    <a:p>
                      <a:pPr algn="ctr"/>
                      <a:r>
                        <a:rPr lang="en-US" dirty="0" smtClean="0"/>
                        <a:t>Year</a:t>
                      </a:r>
                      <a:endParaRPr lang="en-IN" dirty="0"/>
                    </a:p>
                  </a:txBody>
                  <a:tcPr/>
                </a:tc>
                <a:tc>
                  <a:txBody>
                    <a:bodyPr/>
                    <a:lstStyle/>
                    <a:p>
                      <a:pPr algn="ctr"/>
                      <a:r>
                        <a:rPr lang="en-US" dirty="0" smtClean="0"/>
                        <a:t>Tittle</a:t>
                      </a:r>
                      <a:endParaRPr lang="en-IN" dirty="0"/>
                    </a:p>
                  </a:txBody>
                  <a:tcPr/>
                </a:tc>
                <a:tc>
                  <a:txBody>
                    <a:bodyPr/>
                    <a:lstStyle/>
                    <a:p>
                      <a:pPr algn="ctr"/>
                      <a:r>
                        <a:rPr lang="en-US" dirty="0" smtClean="0"/>
                        <a:t>Author</a:t>
                      </a:r>
                      <a:endParaRPr lang="en-IN" dirty="0"/>
                    </a:p>
                  </a:txBody>
                  <a:tcPr/>
                </a:tc>
                <a:tc>
                  <a:txBody>
                    <a:bodyPr/>
                    <a:lstStyle/>
                    <a:p>
                      <a:pPr algn="ctr"/>
                      <a:r>
                        <a:rPr lang="en-US" dirty="0" smtClean="0"/>
                        <a:t>Algorithm</a:t>
                      </a:r>
                      <a:r>
                        <a:rPr lang="en-US" baseline="0" dirty="0" smtClean="0"/>
                        <a:t> used</a:t>
                      </a:r>
                      <a:endParaRPr lang="en-IN" dirty="0"/>
                    </a:p>
                  </a:txBody>
                  <a:tcPr/>
                </a:tc>
                <a:tc>
                  <a:txBody>
                    <a:bodyPr/>
                    <a:lstStyle/>
                    <a:p>
                      <a:pPr algn="ctr"/>
                      <a:r>
                        <a:rPr lang="en-US" dirty="0" smtClean="0"/>
                        <a:t>Publication</a:t>
                      </a:r>
                      <a:endParaRPr lang="en-IN" dirty="0"/>
                    </a:p>
                  </a:txBody>
                  <a:tcPr/>
                </a:tc>
              </a:tr>
              <a:tr h="1132972">
                <a:tc>
                  <a:txBody>
                    <a:bodyPr/>
                    <a:lstStyle/>
                    <a:p>
                      <a:r>
                        <a:rPr lang="en-US" dirty="0" smtClean="0"/>
                        <a:t>2015</a:t>
                      </a:r>
                      <a:endParaRPr lang="en-IN" dirty="0"/>
                    </a:p>
                  </a:txBody>
                  <a:tcPr/>
                </a:tc>
                <a:tc>
                  <a:txBody>
                    <a:bodyPr/>
                    <a:lstStyle/>
                    <a:p>
                      <a:r>
                        <a:rPr lang="en-US" sz="1800" dirty="0" smtClean="0">
                          <a:latin typeface="Arial" pitchFamily="34" charset="0"/>
                          <a:cs typeface="Arial" pitchFamily="34" charset="0"/>
                        </a:rPr>
                        <a:t>Emotion Analysis of Twitter using Opinion Mining </a:t>
                      </a:r>
                      <a:endParaRPr lang="en-IN" dirty="0"/>
                    </a:p>
                  </a:txBody>
                  <a:tcPr/>
                </a:tc>
                <a:tc>
                  <a:txBody>
                    <a:bodyPr/>
                    <a:lstStyle/>
                    <a:p>
                      <a:r>
                        <a:rPr lang="en-US" sz="1800" dirty="0" err="1" smtClean="0">
                          <a:latin typeface="Arial" pitchFamily="34" charset="0"/>
                          <a:cs typeface="Arial" pitchFamily="34" charset="0"/>
                        </a:rPr>
                        <a:t>Akshi</a:t>
                      </a:r>
                      <a:r>
                        <a:rPr lang="en-US" sz="1800" dirty="0" smtClean="0">
                          <a:latin typeface="Arial" pitchFamily="34" charset="0"/>
                          <a:cs typeface="Arial" pitchFamily="34" charset="0"/>
                        </a:rPr>
                        <a:t> Kumar, </a:t>
                      </a:r>
                      <a:r>
                        <a:rPr lang="en-US" sz="1800" dirty="0" err="1" smtClean="0">
                          <a:latin typeface="Arial" pitchFamily="34" charset="0"/>
                          <a:cs typeface="Arial" pitchFamily="34" charset="0"/>
                        </a:rPr>
                        <a:t>Prakhar</a:t>
                      </a:r>
                      <a:r>
                        <a:rPr lang="en-US" sz="1800" dirty="0" smtClean="0">
                          <a:latin typeface="Arial" pitchFamily="34" charset="0"/>
                          <a:cs typeface="Arial" pitchFamily="34" charset="0"/>
                        </a:rPr>
                        <a:t> Dogra and Vikrant </a:t>
                      </a:r>
                      <a:r>
                        <a:rPr lang="en-US" sz="1800" dirty="0" err="1" smtClean="0">
                          <a:latin typeface="Arial" pitchFamily="34" charset="0"/>
                          <a:cs typeface="Arial" pitchFamily="34" charset="0"/>
                        </a:rPr>
                        <a:t>Dabas</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smtClean="0">
                          <a:latin typeface="Arial" pitchFamily="34" charset="0"/>
                          <a:cs typeface="Arial" pitchFamily="34" charset="0"/>
                        </a:rPr>
                        <a:t>A </a:t>
                      </a:r>
                      <a:r>
                        <a:rPr lang="en-US" sz="1800" dirty="0" smtClean="0">
                          <a:latin typeface="Arial" pitchFamily="34" charset="0"/>
                          <a:cs typeface="Arial" pitchFamily="34" charset="0"/>
                        </a:rPr>
                        <a:t>two-step approach is proposed, to identify the sentiment; extract the opinion words (a combination of the adjectives along with the verbs and adverbs) in the tweets and subsequently use a novel algorithm to find the emotion values of opinion words. </a:t>
                      </a:r>
                      <a:endParaRPr lang="en-IN" sz="1800" dirty="0" smtClean="0">
                        <a:latin typeface="Arial" pitchFamily="34" charset="0"/>
                        <a:cs typeface="Arial" pitchFamily="34" charset="0"/>
                      </a:endParaRPr>
                    </a:p>
                  </a:txBody>
                  <a:tcPr/>
                </a:tc>
                <a:tc>
                  <a:txBody>
                    <a:bodyPr/>
                    <a:lstStyle/>
                    <a:p>
                      <a:endParaRPr lang="en-IN" dirty="0"/>
                    </a:p>
                  </a:txBody>
                  <a:tcPr/>
                </a:tc>
              </a:tr>
            </a:tbl>
          </a:graphicData>
        </a:graphic>
      </p:graphicFrame>
    </p:spTree>
    <p:extLst>
      <p:ext uri="{BB962C8B-B14F-4D97-AF65-F5344CB8AC3E}">
        <p14:creationId xmlns:p14="http://schemas.microsoft.com/office/powerpoint/2010/main" val="3864799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523" y="592016"/>
            <a:ext cx="10972800" cy="1066800"/>
          </a:xfrm>
        </p:spPr>
        <p:txBody>
          <a:bodyPr/>
          <a:lstStyle/>
          <a:p>
            <a:r>
              <a:rPr lang="en-US" b="1" dirty="0" smtClean="0">
                <a:solidFill>
                  <a:schemeClr val="accent6"/>
                </a:solidFill>
                <a:latin typeface="Arial" pitchFamily="34" charset="0"/>
                <a:cs typeface="Arial" pitchFamily="34" charset="0"/>
              </a:rPr>
              <a:t>PROPOSED SYSTEM </a:t>
            </a:r>
            <a:endParaRPr lang="en-IN" b="1" dirty="0">
              <a:solidFill>
                <a:schemeClr val="accent6"/>
              </a:solidFill>
              <a:latin typeface="Arial" pitchFamily="34" charset="0"/>
              <a:cs typeface="Arial" pitchFamily="34"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91085" y="1647750"/>
            <a:ext cx="9136238" cy="4680895"/>
          </a:xfrm>
        </p:spPr>
      </p:pic>
    </p:spTree>
    <p:extLst>
      <p:ext uri="{BB962C8B-B14F-4D97-AF65-F5344CB8AC3E}">
        <p14:creationId xmlns:p14="http://schemas.microsoft.com/office/powerpoint/2010/main" val="426047073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431" y="720970"/>
            <a:ext cx="11176000" cy="1069848"/>
          </a:xfrm>
        </p:spPr>
        <p:txBody>
          <a:bodyPr/>
          <a:lstStyle/>
          <a:p>
            <a:r>
              <a:rPr lang="en-US" b="1" dirty="0" smtClean="0">
                <a:solidFill>
                  <a:schemeClr val="accent6"/>
                </a:solidFill>
                <a:latin typeface="Arial" pitchFamily="34" charset="0"/>
                <a:cs typeface="Arial" pitchFamily="34" charset="0"/>
              </a:rPr>
              <a:t>METHODS AND ALGORITHM </a:t>
            </a:r>
            <a:endParaRPr lang="en-IN" b="1" dirty="0">
              <a:solidFill>
                <a:schemeClr val="accent6"/>
              </a:solidFill>
              <a:latin typeface="Arial" pitchFamily="34" charset="0"/>
              <a:cs typeface="Arial" pitchFamily="34" charset="0"/>
            </a:endParaRPr>
          </a:p>
        </p:txBody>
      </p:sp>
      <p:sp>
        <p:nvSpPr>
          <p:cNvPr id="4" name="Content Placeholder 3"/>
          <p:cNvSpPr>
            <a:spLocks noGrp="1"/>
          </p:cNvSpPr>
          <p:nvPr>
            <p:ph sz="quarter" idx="2"/>
          </p:nvPr>
        </p:nvSpPr>
        <p:spPr>
          <a:xfrm>
            <a:off x="382588" y="1909376"/>
            <a:ext cx="5736858" cy="4116164"/>
          </a:xfrm>
        </p:spPr>
        <p:txBody>
          <a:bodyPr>
            <a:normAutofit fontScale="92500" lnSpcReduction="10000"/>
          </a:bodyPr>
          <a:lstStyle/>
          <a:p>
            <a:pPr>
              <a:buFont typeface="Wingdings" pitchFamily="2" charset="2"/>
              <a:buChar char="§"/>
            </a:pPr>
            <a:r>
              <a:rPr lang="en-US" sz="2400" dirty="0"/>
              <a:t>A </a:t>
            </a:r>
            <a:r>
              <a:rPr lang="en-US" sz="2400" b="1" dirty="0"/>
              <a:t>R</a:t>
            </a:r>
            <a:r>
              <a:rPr lang="en-US" sz="2400" b="1" dirty="0" smtClean="0"/>
              <a:t>ecurrent </a:t>
            </a:r>
            <a:r>
              <a:rPr lang="en-US" sz="2400" b="1" dirty="0"/>
              <a:t>N</a:t>
            </a:r>
            <a:r>
              <a:rPr lang="en-US" sz="2400" b="1" dirty="0" smtClean="0"/>
              <a:t>eural </a:t>
            </a:r>
            <a:r>
              <a:rPr lang="en-US" sz="2400" b="1" dirty="0"/>
              <a:t>N</a:t>
            </a:r>
            <a:r>
              <a:rPr lang="en-US" sz="2400" b="1" dirty="0" smtClean="0"/>
              <a:t>etwork</a:t>
            </a:r>
            <a:r>
              <a:rPr lang="en-US" sz="2400" dirty="0"/>
              <a:t> (</a:t>
            </a:r>
            <a:r>
              <a:rPr lang="en-US" sz="2400" b="1" dirty="0"/>
              <a:t>RNN</a:t>
            </a:r>
            <a:r>
              <a:rPr lang="en-US" sz="2400" dirty="0"/>
              <a:t>) is a class of artificial neural network where connections between nodes form a directed graph along a sequence. This allows it to exhibit temporal dynamic behavior for a time sequence. Unlike feedforward neural </a:t>
            </a:r>
            <a:r>
              <a:rPr lang="en-US" sz="2400" dirty="0" smtClean="0"/>
              <a:t>networks , </a:t>
            </a:r>
            <a:r>
              <a:rPr lang="en-US" sz="2400" dirty="0"/>
              <a:t>RNNs can use their internal state (memory) to process sequences of inputs. This makes them applicable to tasks such as unsegmented, connected handwriting </a:t>
            </a:r>
            <a:r>
              <a:rPr lang="en-US" sz="2400" dirty="0" smtClean="0"/>
              <a:t>recognition</a:t>
            </a:r>
            <a:r>
              <a:rPr lang="en-US" sz="2400" baseline="30000" dirty="0"/>
              <a:t> </a:t>
            </a:r>
            <a:r>
              <a:rPr lang="en-US" sz="2400" dirty="0" smtClean="0"/>
              <a:t>or</a:t>
            </a:r>
            <a:r>
              <a:rPr lang="en-US" sz="2400" dirty="0"/>
              <a:t> speech </a:t>
            </a:r>
            <a:r>
              <a:rPr lang="en-US" sz="2400" dirty="0" smtClean="0"/>
              <a:t>recognition.</a:t>
            </a:r>
          </a:p>
          <a:p>
            <a:pPr>
              <a:buFont typeface="Wingdings" pitchFamily="2" charset="2"/>
              <a:buChar char="§"/>
            </a:pPr>
            <a:endParaRPr lang="en-US" sz="2200" dirty="0" smtClean="0">
              <a:latin typeface="Arial" pitchFamily="34" charset="0"/>
              <a:cs typeface="Arial" pitchFamily="34" charset="0"/>
            </a:endParaRPr>
          </a:p>
          <a:p>
            <a:pPr marL="109728" indent="0">
              <a:buNone/>
            </a:pPr>
            <a:endParaRPr lang="en-US" sz="2200" dirty="0" smtClean="0">
              <a:latin typeface="Arial" pitchFamily="34" charset="0"/>
              <a:cs typeface="Arial" pitchFamily="34" charset="0"/>
            </a:endParaRPr>
          </a:p>
          <a:p>
            <a:pPr>
              <a:buFont typeface="Wingdings" pitchFamily="2" charset="2"/>
              <a:buChar char="§"/>
            </a:pPr>
            <a:endParaRPr lang="en-US" sz="2200" dirty="0" smtClean="0">
              <a:latin typeface="Arial" pitchFamily="34" charset="0"/>
              <a:cs typeface="Arial" pitchFamily="34" charset="0"/>
            </a:endParaRPr>
          </a:p>
          <a:p>
            <a:pPr marL="109728" indent="0">
              <a:buNone/>
            </a:pPr>
            <a:endParaRPr lang="en-IN" dirty="0"/>
          </a:p>
        </p:txBody>
      </p:sp>
      <p:pic>
        <p:nvPicPr>
          <p:cNvPr id="7" name="Content Placeholder 6"/>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6611075" y="1726264"/>
            <a:ext cx="4657129" cy="3922981"/>
          </a:xfrm>
          <a:prstGeom prst="rect">
            <a:avLst/>
          </a:prstGeom>
        </p:spPr>
      </p:pic>
    </p:spTree>
    <p:extLst>
      <p:ext uri="{BB962C8B-B14F-4D97-AF65-F5344CB8AC3E}">
        <p14:creationId xmlns:p14="http://schemas.microsoft.com/office/powerpoint/2010/main" val="406599389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 calcmode="lin" valueType="num">
                                      <p:cBhvr additive="base">
                                        <p:cTn id="19"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569" y="509954"/>
            <a:ext cx="10972800" cy="1066800"/>
          </a:xfrm>
        </p:spPr>
        <p:txBody>
          <a:bodyPr>
            <a:normAutofit/>
          </a:bodyPr>
          <a:lstStyle/>
          <a:p>
            <a:r>
              <a:rPr lang="en-US" sz="3600" b="1" dirty="0" smtClean="0">
                <a:solidFill>
                  <a:schemeClr val="accent6"/>
                </a:solidFill>
                <a:latin typeface="Arial" pitchFamily="34" charset="0"/>
                <a:cs typeface="Arial" pitchFamily="34" charset="0"/>
              </a:rPr>
              <a:t>Implementation Details</a:t>
            </a:r>
            <a:endParaRPr lang="en-IN" sz="3600" b="1" dirty="0">
              <a:solidFill>
                <a:schemeClr val="accent6"/>
              </a:solidFill>
              <a:latin typeface="Arial" pitchFamily="34" charset="0"/>
              <a:cs typeface="Arial" pitchFamily="34" charset="0"/>
            </a:endParaRP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5261" y="1687389"/>
            <a:ext cx="6916615" cy="48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9082416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75"/>
                                        </p:tgtEl>
                                        <p:attrNameLst>
                                          <p:attrName>style.visibility</p:attrName>
                                        </p:attrNameLst>
                                      </p:cBhvr>
                                      <p:to>
                                        <p:strVal val="visible"/>
                                      </p:to>
                                    </p:set>
                                    <p:anim calcmode="lin" valueType="num">
                                      <p:cBhvr additive="base">
                                        <p:cTn id="13" dur="500" fill="hold"/>
                                        <p:tgtEl>
                                          <p:spTgt spid="3075"/>
                                        </p:tgtEl>
                                        <p:attrNameLst>
                                          <p:attrName>ppt_x</p:attrName>
                                        </p:attrNameLst>
                                      </p:cBhvr>
                                      <p:tavLst>
                                        <p:tav tm="0">
                                          <p:val>
                                            <p:strVal val="#ppt_x"/>
                                          </p:val>
                                        </p:tav>
                                        <p:tav tm="100000">
                                          <p:val>
                                            <p:strVal val="#ppt_x"/>
                                          </p:val>
                                        </p:tav>
                                      </p:tavLst>
                                    </p:anim>
                                    <p:anim calcmode="lin" valueType="num">
                                      <p:cBhvr additive="base">
                                        <p:cTn id="14" dur="500" fill="hold"/>
                                        <p:tgtEl>
                                          <p:spTgt spid="30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5815" y="937846"/>
            <a:ext cx="10972800" cy="5449121"/>
          </a:xfrm>
        </p:spPr>
        <p:txBody>
          <a:bodyPr>
            <a:normAutofit fontScale="47500" lnSpcReduction="20000"/>
          </a:bodyPr>
          <a:lstStyle/>
          <a:p>
            <a:pPr marL="109728" indent="0">
              <a:buNone/>
            </a:pPr>
            <a:r>
              <a:rPr lang="en-US" b="1" dirty="0"/>
              <a:t>import twitter4j.*;</a:t>
            </a:r>
          </a:p>
          <a:p>
            <a:pPr marL="109728" indent="0">
              <a:buNone/>
            </a:pPr>
            <a:r>
              <a:rPr lang="en-US" b="1" dirty="0"/>
              <a:t>import </a:t>
            </a:r>
            <a:r>
              <a:rPr lang="en-US" b="1" u="sng" dirty="0"/>
              <a:t>twitter4j.auth.OAuth2Token;</a:t>
            </a:r>
          </a:p>
          <a:p>
            <a:pPr marL="109728" indent="0">
              <a:buNone/>
            </a:pPr>
            <a:r>
              <a:rPr lang="en-US" b="1" dirty="0"/>
              <a:t>import twitter4j.conf.ConfigurationBuilder;</a:t>
            </a:r>
          </a:p>
          <a:p>
            <a:pPr marL="109728" indent="0">
              <a:buNone/>
            </a:pPr>
            <a:r>
              <a:rPr lang="en-US" b="1" dirty="0" smtClean="0"/>
              <a:t>import </a:t>
            </a:r>
            <a:r>
              <a:rPr lang="en-US" b="1" dirty="0" err="1"/>
              <a:t>java.io.BufferedWriter</a:t>
            </a:r>
            <a:r>
              <a:rPr lang="en-US" b="1" dirty="0"/>
              <a:t>;</a:t>
            </a:r>
          </a:p>
          <a:p>
            <a:pPr marL="109728" indent="0">
              <a:buNone/>
            </a:pPr>
            <a:r>
              <a:rPr lang="en-US" b="1" dirty="0"/>
              <a:t>import </a:t>
            </a:r>
            <a:r>
              <a:rPr lang="en-US" b="1" dirty="0" err="1"/>
              <a:t>java.io.FileWriter</a:t>
            </a:r>
            <a:r>
              <a:rPr lang="en-US" b="1" dirty="0"/>
              <a:t>;</a:t>
            </a:r>
          </a:p>
          <a:p>
            <a:pPr marL="109728" indent="0">
              <a:buNone/>
            </a:pPr>
            <a:r>
              <a:rPr lang="en-US" b="1" dirty="0"/>
              <a:t>import </a:t>
            </a:r>
            <a:r>
              <a:rPr lang="en-US" b="1" dirty="0" err="1"/>
              <a:t>java.io.IOException</a:t>
            </a:r>
            <a:r>
              <a:rPr lang="en-US" b="1" dirty="0"/>
              <a:t>;</a:t>
            </a:r>
          </a:p>
          <a:p>
            <a:pPr marL="109728" indent="0">
              <a:buNone/>
            </a:pPr>
            <a:r>
              <a:rPr lang="en-US" b="1" dirty="0"/>
              <a:t>import </a:t>
            </a:r>
            <a:r>
              <a:rPr lang="en-US" b="1" dirty="0" err="1"/>
              <a:t>java.util.List</a:t>
            </a:r>
            <a:r>
              <a:rPr lang="en-US" b="1" dirty="0"/>
              <a:t>;</a:t>
            </a:r>
          </a:p>
          <a:p>
            <a:pPr marL="109728" indent="0">
              <a:buNone/>
            </a:pPr>
            <a:r>
              <a:rPr lang="en-US" b="1" dirty="0"/>
              <a:t>import </a:t>
            </a:r>
            <a:r>
              <a:rPr lang="en-US" b="1" u="sng" dirty="0" err="1"/>
              <a:t>java.util.Map</a:t>
            </a:r>
            <a:r>
              <a:rPr lang="en-US" b="1" u="sng" dirty="0"/>
              <a:t>;</a:t>
            </a:r>
          </a:p>
          <a:p>
            <a:pPr marL="109728" indent="0">
              <a:buNone/>
            </a:pPr>
            <a:endParaRPr lang="en-US" dirty="0"/>
          </a:p>
          <a:p>
            <a:pPr marL="109728" indent="0">
              <a:buNone/>
            </a:pPr>
            <a:r>
              <a:rPr lang="en-US" b="1" dirty="0"/>
              <a:t>public class </a:t>
            </a:r>
            <a:r>
              <a:rPr lang="en-US" b="1" dirty="0" err="1" smtClean="0"/>
              <a:t>TwitterProject</a:t>
            </a:r>
            <a:r>
              <a:rPr lang="en-US" b="1" dirty="0" smtClean="0"/>
              <a:t> </a:t>
            </a:r>
            <a:r>
              <a:rPr lang="en-US" b="1" dirty="0"/>
              <a:t>{ </a:t>
            </a:r>
          </a:p>
          <a:p>
            <a:pPr marL="109728" indent="0">
              <a:buNone/>
            </a:pPr>
            <a:r>
              <a:rPr lang="en-US" b="1" dirty="0"/>
              <a:t>public static void main(String [] </a:t>
            </a:r>
            <a:r>
              <a:rPr lang="en-US" b="1" dirty="0" err="1"/>
              <a:t>args</a:t>
            </a:r>
            <a:r>
              <a:rPr lang="en-US" b="1" dirty="0"/>
              <a:t>) throws </a:t>
            </a:r>
            <a:r>
              <a:rPr lang="en-US" b="1" dirty="0" err="1"/>
              <a:t>TwitterException</a:t>
            </a:r>
            <a:r>
              <a:rPr lang="en-US" b="1" dirty="0"/>
              <a:t>, </a:t>
            </a:r>
            <a:r>
              <a:rPr lang="en-US" b="1" dirty="0" err="1"/>
              <a:t>IOException</a:t>
            </a:r>
            <a:r>
              <a:rPr lang="en-US" b="1" dirty="0"/>
              <a:t>{</a:t>
            </a:r>
          </a:p>
          <a:p>
            <a:pPr marL="109728" indent="0">
              <a:buNone/>
            </a:pPr>
            <a:endParaRPr lang="en-US" dirty="0"/>
          </a:p>
          <a:p>
            <a:pPr marL="109728" indent="0">
              <a:buNone/>
            </a:pPr>
            <a:r>
              <a:rPr lang="en-US" dirty="0"/>
              <a:t>    </a:t>
            </a:r>
            <a:r>
              <a:rPr lang="en-US" dirty="0" err="1"/>
              <a:t>ConfigurationBuilder</a:t>
            </a:r>
            <a:r>
              <a:rPr lang="en-US" dirty="0"/>
              <a:t> </a:t>
            </a:r>
            <a:r>
              <a:rPr lang="en-US" dirty="0" err="1"/>
              <a:t>cb</a:t>
            </a:r>
            <a:r>
              <a:rPr lang="en-US" dirty="0"/>
              <a:t> = </a:t>
            </a:r>
            <a:r>
              <a:rPr lang="en-US" b="1" dirty="0"/>
              <a:t>new </a:t>
            </a:r>
            <a:r>
              <a:rPr lang="en-US" b="1" dirty="0" err="1"/>
              <a:t>ConfigurationBuilder</a:t>
            </a:r>
            <a:r>
              <a:rPr lang="en-US" b="1" dirty="0"/>
              <a:t>();</a:t>
            </a:r>
          </a:p>
          <a:p>
            <a:pPr marL="109728" indent="0">
              <a:buNone/>
            </a:pPr>
            <a:r>
              <a:rPr lang="en-US" dirty="0"/>
              <a:t>     </a:t>
            </a:r>
            <a:r>
              <a:rPr lang="en-US" dirty="0" err="1"/>
              <a:t>cb.setDebugEnabled</a:t>
            </a:r>
            <a:r>
              <a:rPr lang="en-US" dirty="0"/>
              <a:t> (</a:t>
            </a:r>
            <a:r>
              <a:rPr lang="en-US" b="1" dirty="0"/>
              <a:t>true)</a:t>
            </a:r>
          </a:p>
          <a:p>
            <a:pPr marL="109728" indent="0">
              <a:buNone/>
            </a:pPr>
            <a:r>
              <a:rPr lang="en-US" dirty="0"/>
              <a:t>       .</a:t>
            </a:r>
            <a:r>
              <a:rPr lang="en-US" dirty="0" err="1"/>
              <a:t>setOAuthConsumerKey</a:t>
            </a:r>
            <a:r>
              <a:rPr lang="en-US" dirty="0"/>
              <a:t> ("ExhS1Ua9U8mDgYOR6vFytEWzw")</a:t>
            </a:r>
          </a:p>
          <a:p>
            <a:pPr marL="109728" indent="0">
              <a:buNone/>
            </a:pPr>
            <a:r>
              <a:rPr lang="en-US" dirty="0"/>
              <a:t>       .</a:t>
            </a:r>
            <a:r>
              <a:rPr lang="en-US" dirty="0" err="1"/>
              <a:t>setOAuthConsumerSecret</a:t>
            </a:r>
            <a:r>
              <a:rPr lang="en-US" dirty="0"/>
              <a:t> ("wfRgBtPLVPcrmuF2I9lk55fkp7hvUr706FdBsi9u1NWnuROy3q")</a:t>
            </a:r>
          </a:p>
          <a:p>
            <a:pPr marL="109728" indent="0">
              <a:buNone/>
            </a:pPr>
            <a:r>
              <a:rPr lang="en-US" dirty="0"/>
              <a:t>       .</a:t>
            </a:r>
            <a:r>
              <a:rPr lang="en-US" dirty="0" err="1"/>
              <a:t>setOAuthAccessToken</a:t>
            </a:r>
            <a:r>
              <a:rPr lang="en-US" dirty="0"/>
              <a:t> ("1047828476626124800-E6Z7c4elvTLVHsSrYdgOYUasSY18d3")</a:t>
            </a:r>
          </a:p>
          <a:p>
            <a:pPr marL="109728" indent="0">
              <a:buNone/>
            </a:pPr>
            <a:r>
              <a:rPr lang="en-US" dirty="0"/>
              <a:t>       .</a:t>
            </a:r>
            <a:r>
              <a:rPr lang="en-US" dirty="0" err="1"/>
              <a:t>setOAuthAccessTokenSecret</a:t>
            </a:r>
            <a:r>
              <a:rPr lang="en-US" dirty="0"/>
              <a:t> ("j8fGHB2E71YvQj3nK8JAI2ZZ4NM3JoXEVg95JHcokjllX");</a:t>
            </a:r>
          </a:p>
          <a:p>
            <a:pPr marL="109728" indent="0">
              <a:buNone/>
            </a:pPr>
            <a:endParaRPr lang="en-US" dirty="0"/>
          </a:p>
          <a:p>
            <a:pPr marL="109728" indent="0">
              <a:buNone/>
            </a:pPr>
            <a:r>
              <a:rPr lang="en-US" dirty="0"/>
              <a:t>    </a:t>
            </a:r>
            <a:r>
              <a:rPr lang="en-US" dirty="0" err="1"/>
              <a:t>TwitterFactory</a:t>
            </a:r>
            <a:r>
              <a:rPr lang="en-US" dirty="0"/>
              <a:t> </a:t>
            </a:r>
            <a:r>
              <a:rPr lang="en-US" dirty="0" err="1"/>
              <a:t>tf</a:t>
            </a:r>
            <a:r>
              <a:rPr lang="en-US" dirty="0"/>
              <a:t> = </a:t>
            </a:r>
            <a:r>
              <a:rPr lang="en-US" b="1" dirty="0"/>
              <a:t>new </a:t>
            </a:r>
            <a:r>
              <a:rPr lang="en-US" b="1" dirty="0" err="1"/>
              <a:t>TwitterFactory</a:t>
            </a:r>
            <a:r>
              <a:rPr lang="en-US" b="1" dirty="0"/>
              <a:t> (</a:t>
            </a:r>
            <a:r>
              <a:rPr lang="en-US" b="1" dirty="0" err="1"/>
              <a:t>cb.build</a:t>
            </a:r>
            <a:r>
              <a:rPr lang="en-US" b="1" dirty="0"/>
              <a:t> ());</a:t>
            </a:r>
          </a:p>
          <a:p>
            <a:pPr marL="109728" indent="0">
              <a:buNone/>
            </a:pPr>
            <a:r>
              <a:rPr lang="en-US" dirty="0"/>
              <a:t>    Twitter </a:t>
            </a:r>
            <a:r>
              <a:rPr lang="en-US" dirty="0" err="1"/>
              <a:t>twitter</a:t>
            </a:r>
            <a:r>
              <a:rPr lang="en-US" dirty="0"/>
              <a:t> = </a:t>
            </a:r>
            <a:r>
              <a:rPr lang="en-US" dirty="0" err="1"/>
              <a:t>tf.getInstance</a:t>
            </a:r>
            <a:r>
              <a:rPr lang="en-US" dirty="0"/>
              <a:t> (); </a:t>
            </a:r>
          </a:p>
          <a:p>
            <a:pPr marL="109728" indent="0">
              <a:buNone/>
            </a:pPr>
            <a:endParaRPr lang="en-US" dirty="0"/>
          </a:p>
          <a:p>
            <a:pPr marL="109728" indent="0">
              <a:buNone/>
            </a:pPr>
            <a:r>
              <a:rPr lang="en-US" dirty="0"/>
              <a:t>    Query </a:t>
            </a:r>
            <a:r>
              <a:rPr lang="en-US" dirty="0" err="1"/>
              <a:t>query</a:t>
            </a:r>
            <a:r>
              <a:rPr lang="en-US" dirty="0"/>
              <a:t> = </a:t>
            </a:r>
            <a:r>
              <a:rPr lang="en-US" b="1" dirty="0"/>
              <a:t>new Query</a:t>
            </a:r>
            <a:r>
              <a:rPr lang="en-US" b="1" dirty="0" smtClean="0"/>
              <a:t>(“</a:t>
            </a:r>
            <a:r>
              <a:rPr lang="en-US" b="1" dirty="0" err="1" smtClean="0"/>
              <a:t>navrathri</a:t>
            </a:r>
            <a:r>
              <a:rPr lang="en-US" b="1" dirty="0" smtClean="0"/>
              <a:t>");</a:t>
            </a:r>
            <a:endParaRPr lang="en-US" b="1" dirty="0"/>
          </a:p>
          <a:p>
            <a:pPr marL="109728" indent="0">
              <a:buNone/>
            </a:pPr>
            <a:r>
              <a:rPr lang="en-US" dirty="0"/>
              <a:t>    </a:t>
            </a:r>
            <a:r>
              <a:rPr lang="en-US" dirty="0" err="1"/>
              <a:t>QueryResult</a:t>
            </a:r>
            <a:r>
              <a:rPr lang="en-US" dirty="0"/>
              <a:t> result = </a:t>
            </a:r>
            <a:r>
              <a:rPr lang="en-US" dirty="0" err="1"/>
              <a:t>twitter.search</a:t>
            </a:r>
            <a:r>
              <a:rPr lang="en-US" dirty="0"/>
              <a:t>(query);</a:t>
            </a:r>
          </a:p>
          <a:p>
            <a:pPr marL="109728" indent="0">
              <a:buNone/>
            </a:pPr>
            <a:endParaRPr lang="en-US" dirty="0"/>
          </a:p>
          <a:p>
            <a:pPr marL="109728" indent="0">
              <a:buNone/>
            </a:pPr>
            <a:r>
              <a:rPr lang="en-US" dirty="0"/>
              <a:t>    </a:t>
            </a:r>
            <a:r>
              <a:rPr lang="en-US" b="1" dirty="0"/>
              <a:t>do{</a:t>
            </a:r>
          </a:p>
          <a:p>
            <a:pPr marL="109728" indent="0">
              <a:buNone/>
            </a:pPr>
            <a:endParaRPr lang="en-US" dirty="0"/>
          </a:p>
        </p:txBody>
      </p:sp>
    </p:spTree>
    <p:extLst>
      <p:ext uri="{BB962C8B-B14F-4D97-AF65-F5344CB8AC3E}">
        <p14:creationId xmlns:p14="http://schemas.microsoft.com/office/powerpoint/2010/main" val="330453086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 calcmode="lin" valueType="num">
                                      <p:cBhvr additive="base">
                                        <p:cTn id="3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 calcmode="lin" valueType="num">
                                      <p:cBhvr additive="base">
                                        <p:cTn id="4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anim calcmode="lin" valueType="num">
                                      <p:cBhvr additive="base">
                                        <p:cTn id="4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3" end="13"/>
                                            </p:txEl>
                                          </p:spTgt>
                                        </p:tgtEl>
                                        <p:attrNameLst>
                                          <p:attrName>style.visibility</p:attrName>
                                        </p:attrNameLst>
                                      </p:cBhvr>
                                      <p:to>
                                        <p:strVal val="visible"/>
                                      </p:to>
                                    </p:set>
                                    <p:anim calcmode="lin" valueType="num">
                                      <p:cBhvr additive="base">
                                        <p:cTn id="5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14" end="14"/>
                                            </p:txEl>
                                          </p:spTgt>
                                        </p:tgtEl>
                                        <p:attrNameLst>
                                          <p:attrName>style.visibility</p:attrName>
                                        </p:attrNameLst>
                                      </p:cBhvr>
                                      <p:to>
                                        <p:strVal val="visible"/>
                                      </p:to>
                                    </p:set>
                                    <p:anim calcmode="lin" valueType="num">
                                      <p:cBhvr additive="base">
                                        <p:cTn id="55"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
                                            <p:txEl>
                                              <p:pRg st="15" end="15"/>
                                            </p:txEl>
                                          </p:spTgt>
                                        </p:tgtEl>
                                        <p:attrNameLst>
                                          <p:attrName>style.visibility</p:attrName>
                                        </p:attrNameLst>
                                      </p:cBhvr>
                                      <p:to>
                                        <p:strVal val="visible"/>
                                      </p:to>
                                    </p:set>
                                    <p:anim calcmode="lin" valueType="num">
                                      <p:cBhvr additive="base">
                                        <p:cTn id="59"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3">
                                            <p:txEl>
                                              <p:pRg st="16" end="16"/>
                                            </p:txEl>
                                          </p:spTgt>
                                        </p:tgtEl>
                                        <p:attrNameLst>
                                          <p:attrName>style.visibility</p:attrName>
                                        </p:attrNameLst>
                                      </p:cBhvr>
                                      <p:to>
                                        <p:strVal val="visible"/>
                                      </p:to>
                                    </p:set>
                                    <p:anim calcmode="lin" valueType="num">
                                      <p:cBhvr additive="base">
                                        <p:cTn id="63"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3">
                                            <p:txEl>
                                              <p:pRg st="17" end="17"/>
                                            </p:txEl>
                                          </p:spTgt>
                                        </p:tgtEl>
                                        <p:attrNameLst>
                                          <p:attrName>style.visibility</p:attrName>
                                        </p:attrNameLst>
                                      </p:cBhvr>
                                      <p:to>
                                        <p:strVal val="visible"/>
                                      </p:to>
                                    </p:set>
                                    <p:anim calcmode="lin" valueType="num">
                                      <p:cBhvr additive="base">
                                        <p:cTn id="67"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3">
                                            <p:txEl>
                                              <p:pRg st="19" end="19"/>
                                            </p:txEl>
                                          </p:spTgt>
                                        </p:tgtEl>
                                        <p:attrNameLst>
                                          <p:attrName>style.visibility</p:attrName>
                                        </p:attrNameLst>
                                      </p:cBhvr>
                                      <p:to>
                                        <p:strVal val="visible"/>
                                      </p:to>
                                    </p:set>
                                    <p:anim calcmode="lin" valueType="num">
                                      <p:cBhvr additive="base">
                                        <p:cTn id="71"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3">
                                            <p:txEl>
                                              <p:pRg st="19" end="19"/>
                                            </p:txEl>
                                          </p:spTgt>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3">
                                            <p:txEl>
                                              <p:pRg st="20" end="20"/>
                                            </p:txEl>
                                          </p:spTgt>
                                        </p:tgtEl>
                                        <p:attrNameLst>
                                          <p:attrName>style.visibility</p:attrName>
                                        </p:attrNameLst>
                                      </p:cBhvr>
                                      <p:to>
                                        <p:strVal val="visible"/>
                                      </p:to>
                                    </p:set>
                                    <p:anim calcmode="lin" valueType="num">
                                      <p:cBhvr additive="base">
                                        <p:cTn id="75" dur="500" fill="hold"/>
                                        <p:tgtEl>
                                          <p:spTgt spid="3">
                                            <p:txEl>
                                              <p:pRg st="20" end="20"/>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3">
                                            <p:txEl>
                                              <p:pRg st="20" end="20"/>
                                            </p:txEl>
                                          </p:spTgt>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3">
                                            <p:txEl>
                                              <p:pRg st="22" end="22"/>
                                            </p:txEl>
                                          </p:spTgt>
                                        </p:tgtEl>
                                        <p:attrNameLst>
                                          <p:attrName>style.visibility</p:attrName>
                                        </p:attrNameLst>
                                      </p:cBhvr>
                                      <p:to>
                                        <p:strVal val="visible"/>
                                      </p:to>
                                    </p:set>
                                    <p:anim calcmode="lin" valueType="num">
                                      <p:cBhvr additive="base">
                                        <p:cTn id="79" dur="500" fill="hold"/>
                                        <p:tgtEl>
                                          <p:spTgt spid="3">
                                            <p:txEl>
                                              <p:pRg st="22" end="2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22" end="22"/>
                                            </p:txEl>
                                          </p:spTgt>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3">
                                            <p:txEl>
                                              <p:pRg st="23" end="23"/>
                                            </p:txEl>
                                          </p:spTgt>
                                        </p:tgtEl>
                                        <p:attrNameLst>
                                          <p:attrName>style.visibility</p:attrName>
                                        </p:attrNameLst>
                                      </p:cBhvr>
                                      <p:to>
                                        <p:strVal val="visible"/>
                                      </p:to>
                                    </p:set>
                                    <p:anim calcmode="lin" valueType="num">
                                      <p:cBhvr additive="base">
                                        <p:cTn id="83" dur="500" fill="hold"/>
                                        <p:tgtEl>
                                          <p:spTgt spid="3">
                                            <p:txEl>
                                              <p:pRg st="23" end="23"/>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3">
                                            <p:txEl>
                                              <p:pRg st="23" end="23"/>
                                            </p:txEl>
                                          </p:spTgt>
                                        </p:tgtEl>
                                        <p:attrNameLst>
                                          <p:attrName>ppt_y</p:attrName>
                                        </p:attrNameLst>
                                      </p:cBhvr>
                                      <p:tavLst>
                                        <p:tav tm="0">
                                          <p:val>
                                            <p:strVal val="1+#ppt_h/2"/>
                                          </p:val>
                                        </p:tav>
                                        <p:tav tm="100000">
                                          <p:val>
                                            <p:strVal val="#ppt_y"/>
                                          </p:val>
                                        </p:tav>
                                      </p:tavLst>
                                    </p:anim>
                                  </p:childTnLst>
                                </p:cTn>
                              </p:par>
                              <p:par>
                                <p:cTn id="85" presetID="2" presetClass="entr" presetSubtype="4" fill="hold" nodeType="withEffect">
                                  <p:stCondLst>
                                    <p:cond delay="0"/>
                                  </p:stCondLst>
                                  <p:childTnLst>
                                    <p:set>
                                      <p:cBhvr>
                                        <p:cTn id="86" dur="1" fill="hold">
                                          <p:stCondLst>
                                            <p:cond delay="0"/>
                                          </p:stCondLst>
                                        </p:cTn>
                                        <p:tgtEl>
                                          <p:spTgt spid="3">
                                            <p:txEl>
                                              <p:pRg st="25" end="25"/>
                                            </p:txEl>
                                          </p:spTgt>
                                        </p:tgtEl>
                                        <p:attrNameLst>
                                          <p:attrName>style.visibility</p:attrName>
                                        </p:attrNameLst>
                                      </p:cBhvr>
                                      <p:to>
                                        <p:strVal val="visible"/>
                                      </p:to>
                                    </p:set>
                                    <p:anim calcmode="lin" valueType="num">
                                      <p:cBhvr additive="base">
                                        <p:cTn id="87" dur="500" fill="hold"/>
                                        <p:tgtEl>
                                          <p:spTgt spid="3">
                                            <p:txEl>
                                              <p:pRg st="25" end="25"/>
                                            </p:txEl>
                                          </p:spTgt>
                                        </p:tgtEl>
                                        <p:attrNameLst>
                                          <p:attrName>ppt_x</p:attrName>
                                        </p:attrNameLst>
                                      </p:cBhvr>
                                      <p:tavLst>
                                        <p:tav tm="0">
                                          <p:val>
                                            <p:strVal val="#ppt_x"/>
                                          </p:val>
                                        </p:tav>
                                        <p:tav tm="100000">
                                          <p:val>
                                            <p:strVal val="#ppt_x"/>
                                          </p:val>
                                        </p:tav>
                                      </p:tavLst>
                                    </p:anim>
                                    <p:anim calcmode="lin" valueType="num">
                                      <p:cBhvr additive="base">
                                        <p:cTn id="88" dur="500" fill="hold"/>
                                        <p:tgtEl>
                                          <p:spTgt spid="3">
                                            <p:txEl>
                                              <p:pRg st="25" end="2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38555"/>
            <a:ext cx="10972800" cy="5931876"/>
          </a:xfrm>
        </p:spPr>
        <p:txBody>
          <a:bodyPr>
            <a:noAutofit/>
          </a:bodyPr>
          <a:lstStyle/>
          <a:p>
            <a:r>
              <a:rPr lang="en-US" sz="1400" dirty="0">
                <a:latin typeface="Arial" pitchFamily="34" charset="0"/>
                <a:cs typeface="Arial" pitchFamily="34" charset="0"/>
              </a:rPr>
              <a:t> </a:t>
            </a:r>
            <a:r>
              <a:rPr lang="en-US" sz="1400" dirty="0" smtClean="0">
                <a:latin typeface="Arial" pitchFamily="34" charset="0"/>
                <a:cs typeface="Arial" pitchFamily="34" charset="0"/>
              </a:rPr>
              <a:t>             List&lt;Status</a:t>
            </a:r>
            <a:r>
              <a:rPr lang="en-US" sz="1400" dirty="0">
                <a:latin typeface="Arial" pitchFamily="34" charset="0"/>
                <a:cs typeface="Arial" pitchFamily="34" charset="0"/>
              </a:rPr>
              <a:t>&gt; tweets = </a:t>
            </a:r>
            <a:r>
              <a:rPr lang="en-US" sz="1400" dirty="0" err="1">
                <a:latin typeface="Arial" pitchFamily="34" charset="0"/>
                <a:cs typeface="Arial" pitchFamily="34" charset="0"/>
              </a:rPr>
              <a:t>result.getTweets</a:t>
            </a:r>
            <a:r>
              <a:rPr lang="en-US" sz="1400" dirty="0">
                <a:latin typeface="Arial" pitchFamily="34" charset="0"/>
                <a:cs typeface="Arial" pitchFamily="34" charset="0"/>
              </a:rPr>
              <a:t>();</a:t>
            </a:r>
            <a:br>
              <a:rPr lang="en-US" sz="1400" dirty="0">
                <a:latin typeface="Arial" pitchFamily="34" charset="0"/>
                <a:cs typeface="Arial" pitchFamily="34" charset="0"/>
              </a:rPr>
            </a:br>
            <a:r>
              <a:rPr lang="en-US" sz="1400" dirty="0">
                <a:latin typeface="Arial" pitchFamily="34" charset="0"/>
                <a:cs typeface="Arial" pitchFamily="34" charset="0"/>
              </a:rPr>
              <a:t/>
            </a:r>
            <a:br>
              <a:rPr lang="en-US" sz="1400" dirty="0">
                <a:latin typeface="Arial" pitchFamily="34" charset="0"/>
                <a:cs typeface="Arial" pitchFamily="34" charset="0"/>
              </a:rPr>
            </a:br>
            <a:r>
              <a:rPr lang="en-US" sz="1400" dirty="0">
                <a:latin typeface="Arial" pitchFamily="34" charset="0"/>
                <a:cs typeface="Arial" pitchFamily="34" charset="0"/>
              </a:rPr>
              <a:t>              </a:t>
            </a:r>
            <a:r>
              <a:rPr lang="en-US" sz="1400" dirty="0" err="1">
                <a:latin typeface="Arial" pitchFamily="34" charset="0"/>
                <a:cs typeface="Arial" pitchFamily="34" charset="0"/>
              </a:rPr>
              <a:t>StringBuilder</a:t>
            </a:r>
            <a:r>
              <a:rPr lang="en-US" sz="1400" dirty="0">
                <a:latin typeface="Arial" pitchFamily="34" charset="0"/>
                <a:cs typeface="Arial" pitchFamily="34" charset="0"/>
              </a:rPr>
              <a:t> </a:t>
            </a:r>
            <a:r>
              <a:rPr lang="en-US" sz="1400" dirty="0" err="1">
                <a:latin typeface="Arial" pitchFamily="34" charset="0"/>
                <a:cs typeface="Arial" pitchFamily="34" charset="0"/>
              </a:rPr>
              <a:t>sb</a:t>
            </a:r>
            <a:r>
              <a:rPr lang="en-US" sz="1400" dirty="0">
                <a:latin typeface="Arial" pitchFamily="34" charset="0"/>
                <a:cs typeface="Arial" pitchFamily="34" charset="0"/>
              </a:rPr>
              <a:t> = </a:t>
            </a:r>
            <a:r>
              <a:rPr lang="en-US" sz="1400" b="1" dirty="0">
                <a:latin typeface="Arial" pitchFamily="34" charset="0"/>
                <a:cs typeface="Arial" pitchFamily="34" charset="0"/>
              </a:rPr>
              <a:t>new </a:t>
            </a:r>
            <a:r>
              <a:rPr lang="en-US" sz="1400" b="1" dirty="0" err="1">
                <a:latin typeface="Arial" pitchFamily="34" charset="0"/>
                <a:cs typeface="Arial" pitchFamily="34" charset="0"/>
              </a:rPr>
              <a:t>StringBuilder</a:t>
            </a:r>
            <a:r>
              <a:rPr lang="en-US" sz="1400" b="1" dirty="0">
                <a:latin typeface="Arial" pitchFamily="34" charset="0"/>
                <a:cs typeface="Arial" pitchFamily="34" charset="0"/>
              </a:rPr>
              <a:t>();</a:t>
            </a:r>
            <a:br>
              <a:rPr lang="en-US" sz="1400" b="1" dirty="0">
                <a:latin typeface="Arial" pitchFamily="34" charset="0"/>
                <a:cs typeface="Arial" pitchFamily="34" charset="0"/>
              </a:rPr>
            </a:br>
            <a:r>
              <a:rPr lang="en-US" sz="1400" dirty="0">
                <a:latin typeface="Arial" pitchFamily="34" charset="0"/>
                <a:cs typeface="Arial" pitchFamily="34" charset="0"/>
              </a:rPr>
              <a:t>              </a:t>
            </a:r>
            <a:r>
              <a:rPr lang="en-US" sz="1400" b="1" dirty="0">
                <a:latin typeface="Arial" pitchFamily="34" charset="0"/>
                <a:cs typeface="Arial" pitchFamily="34" charset="0"/>
              </a:rPr>
              <a:t>for(Status tweet: tweets){</a:t>
            </a:r>
            <a:br>
              <a:rPr lang="en-US" sz="1400" b="1" dirty="0">
                <a:latin typeface="Arial" pitchFamily="34" charset="0"/>
                <a:cs typeface="Arial" pitchFamily="34" charset="0"/>
              </a:rPr>
            </a:br>
            <a:r>
              <a:rPr lang="en-US" sz="1400" dirty="0">
                <a:latin typeface="Arial" pitchFamily="34" charset="0"/>
                <a:cs typeface="Arial" pitchFamily="34" charset="0"/>
              </a:rPr>
              <a:t>                   </a:t>
            </a:r>
            <a:r>
              <a:rPr lang="en-US" sz="1400" dirty="0" err="1">
                <a:latin typeface="Arial" pitchFamily="34" charset="0"/>
                <a:cs typeface="Arial" pitchFamily="34" charset="0"/>
              </a:rPr>
              <a:t>System.</a:t>
            </a:r>
            <a:r>
              <a:rPr lang="en-US" sz="1400" b="1" i="1" dirty="0" err="1">
                <a:latin typeface="Arial" pitchFamily="34" charset="0"/>
                <a:cs typeface="Arial" pitchFamily="34" charset="0"/>
              </a:rPr>
              <a:t>out.println</a:t>
            </a:r>
            <a:r>
              <a:rPr lang="en-US" sz="1400" b="1" i="1" dirty="0">
                <a:latin typeface="Arial" pitchFamily="34" charset="0"/>
                <a:cs typeface="Arial" pitchFamily="34" charset="0"/>
              </a:rPr>
              <a:t>("User: "+</a:t>
            </a:r>
            <a:r>
              <a:rPr lang="en-US" sz="1400" b="1" i="1" dirty="0" err="1">
                <a:latin typeface="Arial" pitchFamily="34" charset="0"/>
                <a:cs typeface="Arial" pitchFamily="34" charset="0"/>
              </a:rPr>
              <a:t>tweet.getUser</a:t>
            </a:r>
            <a:r>
              <a:rPr lang="en-US" sz="1400" b="1" i="1" dirty="0">
                <a:latin typeface="Arial" pitchFamily="34" charset="0"/>
                <a:cs typeface="Arial" pitchFamily="34" charset="0"/>
              </a:rPr>
              <a:t>().</a:t>
            </a:r>
            <a:r>
              <a:rPr lang="en-US" sz="1400" b="1" i="1" dirty="0" err="1">
                <a:latin typeface="Arial" pitchFamily="34" charset="0"/>
                <a:cs typeface="Arial" pitchFamily="34" charset="0"/>
              </a:rPr>
              <a:t>getScreenName</a:t>
            </a:r>
            <a:r>
              <a:rPr lang="en-US" sz="1400" b="1" i="1" dirty="0">
                <a:latin typeface="Arial" pitchFamily="34" charset="0"/>
                <a:cs typeface="Arial" pitchFamily="34" charset="0"/>
              </a:rPr>
              <a:t>() + " Tweet: "+</a:t>
            </a:r>
            <a:r>
              <a:rPr lang="en-US" sz="1400" b="1" i="1" dirty="0" err="1">
                <a:latin typeface="Arial" pitchFamily="34" charset="0"/>
                <a:cs typeface="Arial" pitchFamily="34" charset="0"/>
              </a:rPr>
              <a:t>tweet.getText</a:t>
            </a:r>
            <a:r>
              <a:rPr lang="en-US" sz="1400" b="1" i="1" dirty="0">
                <a:latin typeface="Arial" pitchFamily="34" charset="0"/>
                <a:cs typeface="Arial" pitchFamily="34" charset="0"/>
              </a:rPr>
              <a:t>());</a:t>
            </a:r>
            <a:br>
              <a:rPr lang="en-US" sz="1400" b="1" i="1" dirty="0">
                <a:latin typeface="Arial" pitchFamily="34" charset="0"/>
                <a:cs typeface="Arial" pitchFamily="34" charset="0"/>
              </a:rPr>
            </a:br>
            <a:r>
              <a:rPr lang="en-US" sz="1400" dirty="0">
                <a:latin typeface="Arial" pitchFamily="34" charset="0"/>
                <a:cs typeface="Arial" pitchFamily="34" charset="0"/>
              </a:rPr>
              <a:t>                   </a:t>
            </a:r>
            <a:r>
              <a:rPr lang="en-US" sz="1400" b="1" dirty="0">
                <a:latin typeface="Arial" pitchFamily="34" charset="0"/>
                <a:cs typeface="Arial" pitchFamily="34" charset="0"/>
              </a:rPr>
              <a:t>try(</a:t>
            </a:r>
            <a:r>
              <a:rPr lang="en-US" sz="1400" b="1" dirty="0" err="1">
                <a:latin typeface="Arial" pitchFamily="34" charset="0"/>
                <a:cs typeface="Arial" pitchFamily="34" charset="0"/>
              </a:rPr>
              <a:t>BufferedWriter</a:t>
            </a:r>
            <a:r>
              <a:rPr lang="en-US" sz="1400" b="1" dirty="0">
                <a:latin typeface="Arial" pitchFamily="34" charset="0"/>
                <a:cs typeface="Arial" pitchFamily="34" charset="0"/>
              </a:rPr>
              <a:t> </a:t>
            </a:r>
            <a:r>
              <a:rPr lang="en-US" sz="1400" b="1" dirty="0" err="1">
                <a:latin typeface="Arial" pitchFamily="34" charset="0"/>
                <a:cs typeface="Arial" pitchFamily="34" charset="0"/>
              </a:rPr>
              <a:t>bw</a:t>
            </a:r>
            <a:r>
              <a:rPr lang="en-US" sz="1400" b="1" dirty="0">
                <a:latin typeface="Arial" pitchFamily="34" charset="0"/>
                <a:cs typeface="Arial" pitchFamily="34" charset="0"/>
              </a:rPr>
              <a:t> = new </a:t>
            </a:r>
            <a:r>
              <a:rPr lang="en-US" sz="1400" b="1" dirty="0" err="1" smtClean="0">
                <a:latin typeface="Arial" pitchFamily="34" charset="0"/>
                <a:cs typeface="Arial" pitchFamily="34" charset="0"/>
              </a:rPr>
              <a:t>BufferedWriter</a:t>
            </a:r>
            <a:r>
              <a:rPr lang="en-US" sz="1400" b="1" dirty="0" smtClean="0">
                <a:latin typeface="Arial" pitchFamily="34" charset="0"/>
                <a:cs typeface="Arial" pitchFamily="34" charset="0"/>
              </a:rPr>
              <a:t>(new </a:t>
            </a:r>
            <a:r>
              <a:rPr lang="en-US" sz="1400" b="1" dirty="0" err="1" smtClean="0">
                <a:latin typeface="Arial" pitchFamily="34" charset="0"/>
                <a:cs typeface="Arial" pitchFamily="34" charset="0"/>
              </a:rPr>
              <a:t>FileWriter</a:t>
            </a:r>
            <a:r>
              <a:rPr lang="en-US" sz="1400" b="1" dirty="0">
                <a:latin typeface="Arial" pitchFamily="34" charset="0"/>
                <a:cs typeface="Arial" pitchFamily="34" charset="0"/>
              </a:rPr>
              <a:t>("C:\\Users\\User\\Desktop\\results4.csv</a:t>
            </a:r>
            <a:r>
              <a:rPr lang="en-US" sz="1400" b="1" dirty="0" smtClean="0">
                <a:latin typeface="Arial" pitchFamily="34" charset="0"/>
                <a:cs typeface="Arial" pitchFamily="34" charset="0"/>
              </a:rPr>
              <a:t>")))</a:t>
            </a:r>
            <a:br>
              <a:rPr lang="en-US" sz="1400" b="1" dirty="0" smtClean="0">
                <a:latin typeface="Arial" pitchFamily="34" charset="0"/>
                <a:cs typeface="Arial" pitchFamily="34" charset="0"/>
              </a:rPr>
            </a:br>
            <a:r>
              <a:rPr lang="en-US" sz="1400" dirty="0" smtClean="0">
                <a:latin typeface="Arial" pitchFamily="34" charset="0"/>
                <a:cs typeface="Arial" pitchFamily="34" charset="0"/>
              </a:rPr>
              <a:t>{</a:t>
            </a:r>
            <a:r>
              <a:rPr lang="en-US" sz="1400" b="1" dirty="0">
                <a:latin typeface="Arial" pitchFamily="34" charset="0"/>
                <a:cs typeface="Arial" pitchFamily="34" charset="0"/>
              </a:rPr>
              <a:t/>
            </a:r>
            <a:br>
              <a:rPr lang="en-US" sz="1400" b="1" dirty="0">
                <a:latin typeface="Arial" pitchFamily="34" charset="0"/>
                <a:cs typeface="Arial" pitchFamily="34" charset="0"/>
              </a:rPr>
            </a:br>
            <a:r>
              <a:rPr lang="en-US" sz="1400" dirty="0">
                <a:latin typeface="Arial" pitchFamily="34" charset="0"/>
                <a:cs typeface="Arial" pitchFamily="34" charset="0"/>
              </a:rPr>
              <a:t>                   String </a:t>
            </a:r>
            <a:r>
              <a:rPr lang="en-US" sz="1400" dirty="0" err="1">
                <a:latin typeface="Arial" pitchFamily="34" charset="0"/>
                <a:cs typeface="Arial" pitchFamily="34" charset="0"/>
              </a:rPr>
              <a:t>tweetText</a:t>
            </a:r>
            <a:r>
              <a:rPr lang="en-US" sz="1400" dirty="0">
                <a:latin typeface="Arial" pitchFamily="34" charset="0"/>
                <a:cs typeface="Arial" pitchFamily="34" charset="0"/>
              </a:rPr>
              <a:t> = </a:t>
            </a:r>
            <a:r>
              <a:rPr lang="en-US" sz="1400" dirty="0" err="1">
                <a:latin typeface="Arial" pitchFamily="34" charset="0"/>
                <a:cs typeface="Arial" pitchFamily="34" charset="0"/>
              </a:rPr>
              <a:t>tweet.getText</a:t>
            </a:r>
            <a:r>
              <a:rPr lang="en-US" sz="1400" dirty="0">
                <a:latin typeface="Arial" pitchFamily="34" charset="0"/>
                <a:cs typeface="Arial" pitchFamily="34" charset="0"/>
              </a:rPr>
              <a:t>();</a:t>
            </a:r>
            <a:br>
              <a:rPr lang="en-US" sz="1400" dirty="0">
                <a:latin typeface="Arial" pitchFamily="34" charset="0"/>
                <a:cs typeface="Arial" pitchFamily="34" charset="0"/>
              </a:rPr>
            </a:br>
            <a:r>
              <a:rPr lang="en-US" sz="1400" dirty="0">
                <a:latin typeface="Arial" pitchFamily="34" charset="0"/>
                <a:cs typeface="Arial" pitchFamily="34" charset="0"/>
              </a:rPr>
              <a:t>                   String username = </a:t>
            </a:r>
            <a:r>
              <a:rPr lang="en-US" sz="1400" dirty="0" err="1">
                <a:latin typeface="Arial" pitchFamily="34" charset="0"/>
                <a:cs typeface="Arial" pitchFamily="34" charset="0"/>
              </a:rPr>
              <a:t>tweet.getUser</a:t>
            </a:r>
            <a:r>
              <a:rPr lang="en-US" sz="1400" dirty="0">
                <a:latin typeface="Arial" pitchFamily="34" charset="0"/>
                <a:cs typeface="Arial" pitchFamily="34" charset="0"/>
              </a:rPr>
              <a:t>().</a:t>
            </a:r>
            <a:r>
              <a:rPr lang="en-US" sz="1400" dirty="0" err="1">
                <a:latin typeface="Arial" pitchFamily="34" charset="0"/>
                <a:cs typeface="Arial" pitchFamily="34" charset="0"/>
              </a:rPr>
              <a:t>getScreenName</a:t>
            </a:r>
            <a:r>
              <a:rPr lang="en-US" sz="1400" dirty="0">
                <a:latin typeface="Arial" pitchFamily="34" charset="0"/>
                <a:cs typeface="Arial" pitchFamily="34" charset="0"/>
              </a:rPr>
              <a:t>();</a:t>
            </a:r>
            <a:br>
              <a:rPr lang="en-US" sz="1400" dirty="0">
                <a:latin typeface="Arial" pitchFamily="34" charset="0"/>
                <a:cs typeface="Arial" pitchFamily="34" charset="0"/>
              </a:rPr>
            </a:br>
            <a:r>
              <a:rPr lang="en-US" sz="1400" dirty="0">
                <a:latin typeface="Arial" pitchFamily="34" charset="0"/>
                <a:cs typeface="Arial" pitchFamily="34" charset="0"/>
              </a:rPr>
              <a:t>                    </a:t>
            </a:r>
            <a:r>
              <a:rPr lang="en-US" sz="1400" dirty="0" smtClean="0">
                <a:latin typeface="Arial" pitchFamily="34" charset="0"/>
                <a:cs typeface="Arial" pitchFamily="34" charset="0"/>
              </a:rPr>
              <a:t>long </a:t>
            </a:r>
            <a:r>
              <a:rPr lang="en-US" sz="1400" dirty="0" err="1">
                <a:latin typeface="Arial" pitchFamily="34" charset="0"/>
                <a:cs typeface="Arial" pitchFamily="34" charset="0"/>
              </a:rPr>
              <a:t>tweetId</a:t>
            </a:r>
            <a:r>
              <a:rPr lang="en-US" sz="1400" dirty="0">
                <a:latin typeface="Arial" pitchFamily="34" charset="0"/>
                <a:cs typeface="Arial" pitchFamily="34" charset="0"/>
              </a:rPr>
              <a:t> = </a:t>
            </a:r>
            <a:r>
              <a:rPr lang="en-US" sz="1400" dirty="0" err="1">
                <a:latin typeface="Arial" pitchFamily="34" charset="0"/>
                <a:cs typeface="Arial" pitchFamily="34" charset="0"/>
              </a:rPr>
              <a:t>tweet.getId</a:t>
            </a:r>
            <a:r>
              <a:rPr lang="en-US" sz="1400" dirty="0">
                <a:latin typeface="Arial" pitchFamily="34" charset="0"/>
                <a:cs typeface="Arial" pitchFamily="34" charset="0"/>
              </a:rPr>
              <a:t>();</a:t>
            </a:r>
            <a:r>
              <a:rPr lang="en-US" sz="1400" b="1" dirty="0">
                <a:latin typeface="Arial" pitchFamily="34" charset="0"/>
                <a:cs typeface="Arial" pitchFamily="34" charset="0"/>
              </a:rPr>
              <a:t/>
            </a:r>
            <a:br>
              <a:rPr lang="en-US" sz="1400" b="1" dirty="0">
                <a:latin typeface="Arial" pitchFamily="34" charset="0"/>
                <a:cs typeface="Arial" pitchFamily="34" charset="0"/>
              </a:rPr>
            </a:br>
            <a:r>
              <a:rPr lang="en-US" sz="1400" dirty="0">
                <a:latin typeface="Arial" pitchFamily="34" charset="0"/>
                <a:cs typeface="Arial" pitchFamily="34" charset="0"/>
              </a:rPr>
              <a:t>                   </a:t>
            </a:r>
            <a:r>
              <a:rPr lang="en-US" sz="1400" dirty="0" err="1">
                <a:latin typeface="Arial" pitchFamily="34" charset="0"/>
                <a:cs typeface="Arial" pitchFamily="34" charset="0"/>
              </a:rPr>
              <a:t>sb.append</a:t>
            </a:r>
            <a:r>
              <a:rPr lang="en-US" sz="1400" dirty="0">
                <a:latin typeface="Arial" pitchFamily="34" charset="0"/>
                <a:cs typeface="Arial" pitchFamily="34" charset="0"/>
              </a:rPr>
              <a:t>("\n\</a:t>
            </a:r>
            <a:r>
              <a:rPr lang="en-US" sz="1400" dirty="0" err="1">
                <a:latin typeface="Arial" pitchFamily="34" charset="0"/>
                <a:cs typeface="Arial" pitchFamily="34" charset="0"/>
              </a:rPr>
              <a:t>nID</a:t>
            </a:r>
            <a:r>
              <a:rPr lang="en-US" sz="1400" dirty="0">
                <a:latin typeface="Arial" pitchFamily="34" charset="0"/>
                <a:cs typeface="Arial" pitchFamily="34" charset="0"/>
              </a:rPr>
              <a:t>= \n ").append(</a:t>
            </a:r>
            <a:r>
              <a:rPr lang="en-US" sz="1400" dirty="0" err="1">
                <a:latin typeface="Arial" pitchFamily="34" charset="0"/>
                <a:cs typeface="Arial" pitchFamily="34" charset="0"/>
              </a:rPr>
              <a:t>tweetId</a:t>
            </a:r>
            <a:r>
              <a:rPr lang="en-US" sz="1400" dirty="0">
                <a:latin typeface="Arial" pitchFamily="34" charset="0"/>
                <a:cs typeface="Arial" pitchFamily="34" charset="0"/>
              </a:rPr>
              <a:t>).append("\</a:t>
            </a:r>
            <a:r>
              <a:rPr lang="en-US" sz="1400" dirty="0" err="1">
                <a:latin typeface="Arial" pitchFamily="34" charset="0"/>
                <a:cs typeface="Arial" pitchFamily="34" charset="0"/>
              </a:rPr>
              <a:t>nUser</a:t>
            </a:r>
            <a:r>
              <a:rPr lang="en-US" sz="1400" dirty="0">
                <a:latin typeface="Arial" pitchFamily="34" charset="0"/>
                <a:cs typeface="Arial" pitchFamily="34" charset="0"/>
              </a:rPr>
              <a:t>= \n ").append(username).append("\</a:t>
            </a:r>
            <a:r>
              <a:rPr lang="en-US" sz="1400" dirty="0" err="1">
                <a:latin typeface="Arial" pitchFamily="34" charset="0"/>
                <a:cs typeface="Arial" pitchFamily="34" charset="0"/>
              </a:rPr>
              <a:t>nTEXT</a:t>
            </a:r>
            <a:r>
              <a:rPr lang="en-US" sz="1400" dirty="0">
                <a:latin typeface="Arial" pitchFamily="34" charset="0"/>
                <a:cs typeface="Arial" pitchFamily="34" charset="0"/>
              </a:rPr>
              <a:t>= \</a:t>
            </a:r>
            <a:r>
              <a:rPr lang="en-US" sz="1400" dirty="0" smtClean="0">
                <a:latin typeface="Arial" pitchFamily="34" charset="0"/>
                <a:cs typeface="Arial" pitchFamily="34" charset="0"/>
              </a:rPr>
              <a:t>n ").</a:t>
            </a:r>
            <a:r>
              <a:rPr lang="en-US" sz="1400" dirty="0">
                <a:latin typeface="Arial" pitchFamily="34" charset="0"/>
                <a:cs typeface="Arial" pitchFamily="34" charset="0"/>
              </a:rPr>
              <a:t>append(</a:t>
            </a:r>
            <a:r>
              <a:rPr lang="en-US" sz="1400" dirty="0" err="1">
                <a:latin typeface="Arial" pitchFamily="34" charset="0"/>
                <a:cs typeface="Arial" pitchFamily="34" charset="0"/>
              </a:rPr>
              <a:t>tweetText</a:t>
            </a:r>
            <a:r>
              <a:rPr lang="en-US" sz="1400" dirty="0">
                <a:latin typeface="Arial" pitchFamily="34" charset="0"/>
                <a:cs typeface="Arial" pitchFamily="34" charset="0"/>
              </a:rPr>
              <a:t>);</a:t>
            </a:r>
            <a:br>
              <a:rPr lang="en-US" sz="1400" dirty="0">
                <a:latin typeface="Arial" pitchFamily="34" charset="0"/>
                <a:cs typeface="Arial" pitchFamily="34" charset="0"/>
              </a:rPr>
            </a:br>
            <a:r>
              <a:rPr lang="en-US" sz="1400" dirty="0">
                <a:latin typeface="Arial" pitchFamily="34" charset="0"/>
                <a:cs typeface="Arial" pitchFamily="34" charset="0"/>
              </a:rPr>
              <a:t/>
            </a:r>
            <a:br>
              <a:rPr lang="en-US" sz="1400" dirty="0">
                <a:latin typeface="Arial" pitchFamily="34" charset="0"/>
                <a:cs typeface="Arial" pitchFamily="34" charset="0"/>
              </a:rPr>
            </a:br>
            <a:r>
              <a:rPr lang="en-US" sz="1400" dirty="0">
                <a:latin typeface="Arial" pitchFamily="34" charset="0"/>
                <a:cs typeface="Arial" pitchFamily="34" charset="0"/>
              </a:rPr>
              <a:t>                       String </a:t>
            </a:r>
            <a:r>
              <a:rPr lang="en-US" sz="1400" dirty="0" err="1">
                <a:latin typeface="Arial" pitchFamily="34" charset="0"/>
                <a:cs typeface="Arial" pitchFamily="34" charset="0"/>
              </a:rPr>
              <a:t>csvText</a:t>
            </a:r>
            <a:r>
              <a:rPr lang="en-US" sz="1400" dirty="0">
                <a:latin typeface="Arial" pitchFamily="34" charset="0"/>
                <a:cs typeface="Arial" pitchFamily="34" charset="0"/>
              </a:rPr>
              <a:t> = </a:t>
            </a:r>
            <a:r>
              <a:rPr lang="en-US" sz="1400" dirty="0" err="1">
                <a:latin typeface="Arial" pitchFamily="34" charset="0"/>
                <a:cs typeface="Arial" pitchFamily="34" charset="0"/>
              </a:rPr>
              <a:t>sb.toString</a:t>
            </a:r>
            <a:r>
              <a:rPr lang="en-US" sz="1400" dirty="0">
                <a:latin typeface="Arial" pitchFamily="34" charset="0"/>
                <a:cs typeface="Arial" pitchFamily="34" charset="0"/>
              </a:rPr>
              <a:t>();</a:t>
            </a:r>
            <a:br>
              <a:rPr lang="en-US" sz="1400" dirty="0">
                <a:latin typeface="Arial" pitchFamily="34" charset="0"/>
                <a:cs typeface="Arial" pitchFamily="34" charset="0"/>
              </a:rPr>
            </a:br>
            <a:r>
              <a:rPr lang="en-US" sz="1400" dirty="0">
                <a:latin typeface="Arial" pitchFamily="34" charset="0"/>
                <a:cs typeface="Arial" pitchFamily="34" charset="0"/>
              </a:rPr>
              <a:t/>
            </a:r>
            <a:br>
              <a:rPr lang="en-US" sz="1400" dirty="0">
                <a:latin typeface="Arial" pitchFamily="34" charset="0"/>
                <a:cs typeface="Arial" pitchFamily="34" charset="0"/>
              </a:rPr>
            </a:br>
            <a:r>
              <a:rPr lang="en-US" sz="1400" dirty="0">
                <a:latin typeface="Arial" pitchFamily="34" charset="0"/>
                <a:cs typeface="Arial" pitchFamily="34" charset="0"/>
              </a:rPr>
              <a:t>                       </a:t>
            </a:r>
            <a:r>
              <a:rPr lang="en-US" sz="1400" dirty="0" err="1">
                <a:latin typeface="Arial" pitchFamily="34" charset="0"/>
                <a:cs typeface="Arial" pitchFamily="34" charset="0"/>
              </a:rPr>
              <a:t>bw.write</a:t>
            </a:r>
            <a:r>
              <a:rPr lang="en-US" sz="1400" dirty="0">
                <a:latin typeface="Arial" pitchFamily="34" charset="0"/>
                <a:cs typeface="Arial" pitchFamily="34" charset="0"/>
              </a:rPr>
              <a:t>(</a:t>
            </a:r>
            <a:r>
              <a:rPr lang="en-US" sz="1400" dirty="0" err="1">
                <a:latin typeface="Arial" pitchFamily="34" charset="0"/>
                <a:cs typeface="Arial" pitchFamily="34" charset="0"/>
              </a:rPr>
              <a:t>csvText</a:t>
            </a:r>
            <a:r>
              <a:rPr lang="en-US" sz="1400" dirty="0">
                <a:latin typeface="Arial" pitchFamily="34" charset="0"/>
                <a:cs typeface="Arial" pitchFamily="34" charset="0"/>
              </a:rPr>
              <a:t>);</a:t>
            </a:r>
            <a:br>
              <a:rPr lang="en-US" sz="1400" dirty="0">
                <a:latin typeface="Arial" pitchFamily="34" charset="0"/>
                <a:cs typeface="Arial" pitchFamily="34" charset="0"/>
              </a:rPr>
            </a:br>
            <a:r>
              <a:rPr lang="en-US" sz="1400" dirty="0">
                <a:latin typeface="Arial" pitchFamily="34" charset="0"/>
                <a:cs typeface="Arial" pitchFamily="34" charset="0"/>
              </a:rPr>
              <a:t>                       </a:t>
            </a:r>
            <a:r>
              <a:rPr lang="en-US" sz="1400" dirty="0" err="1">
                <a:latin typeface="Arial" pitchFamily="34" charset="0"/>
                <a:cs typeface="Arial" pitchFamily="34" charset="0"/>
              </a:rPr>
              <a:t>bw.newLine</a:t>
            </a:r>
            <a:r>
              <a:rPr lang="en-US" sz="1400" dirty="0">
                <a:latin typeface="Arial" pitchFamily="34" charset="0"/>
                <a:cs typeface="Arial" pitchFamily="34" charset="0"/>
              </a:rPr>
              <a:t>();</a:t>
            </a:r>
            <a:br>
              <a:rPr lang="en-US" sz="1400" dirty="0">
                <a:latin typeface="Arial" pitchFamily="34" charset="0"/>
                <a:cs typeface="Arial" pitchFamily="34" charset="0"/>
              </a:rPr>
            </a:br>
            <a:r>
              <a:rPr lang="en-US" sz="1400" dirty="0">
                <a:latin typeface="Arial" pitchFamily="34" charset="0"/>
                <a:cs typeface="Arial" pitchFamily="34" charset="0"/>
              </a:rPr>
              <a:t/>
            </a:r>
            <a:br>
              <a:rPr lang="en-US" sz="1400" dirty="0">
                <a:latin typeface="Arial" pitchFamily="34" charset="0"/>
                <a:cs typeface="Arial" pitchFamily="34" charset="0"/>
              </a:rPr>
            </a:br>
            <a:r>
              <a:rPr lang="en-US" sz="1400" dirty="0">
                <a:latin typeface="Arial" pitchFamily="34" charset="0"/>
                <a:cs typeface="Arial" pitchFamily="34" charset="0"/>
              </a:rPr>
              <a:t>                   }</a:t>
            </a:r>
            <a:br>
              <a:rPr lang="en-US" sz="1400" dirty="0">
                <a:latin typeface="Arial" pitchFamily="34" charset="0"/>
                <a:cs typeface="Arial" pitchFamily="34" charset="0"/>
              </a:rPr>
            </a:br>
            <a:r>
              <a:rPr lang="en-US" sz="1400" dirty="0">
                <a:latin typeface="Arial" pitchFamily="34" charset="0"/>
                <a:cs typeface="Arial" pitchFamily="34" charset="0"/>
              </a:rPr>
              <a:t>              </a:t>
            </a:r>
            <a:r>
              <a:rPr lang="en-US" sz="1400" dirty="0" smtClean="0">
                <a:latin typeface="Arial" pitchFamily="34" charset="0"/>
                <a:cs typeface="Arial" pitchFamily="34" charset="0"/>
              </a:rPr>
              <a:t>}</a:t>
            </a:r>
            <a:r>
              <a:rPr lang="en-US" sz="1400" dirty="0"/>
              <a:t> query = </a:t>
            </a:r>
            <a:r>
              <a:rPr lang="en-US" sz="1400" dirty="0" err="1"/>
              <a:t>result.nextQuery</a:t>
            </a:r>
            <a:r>
              <a:rPr lang="en-US" sz="1400" dirty="0"/>
              <a:t>();</a:t>
            </a:r>
            <a:br>
              <a:rPr lang="en-US" sz="1400" dirty="0"/>
            </a:br>
            <a:r>
              <a:rPr lang="en-US" sz="1400" dirty="0"/>
              <a:t/>
            </a:r>
            <a:br>
              <a:rPr lang="en-US" sz="1400" dirty="0"/>
            </a:br>
            <a:r>
              <a:rPr lang="en-US" sz="1400" dirty="0"/>
              <a:t>              </a:t>
            </a:r>
            <a:r>
              <a:rPr lang="en-US" sz="1400" b="1" dirty="0"/>
              <a:t>if(query!=null)</a:t>
            </a:r>
            <a:br>
              <a:rPr lang="en-US" sz="1400" b="1" dirty="0"/>
            </a:br>
            <a:r>
              <a:rPr lang="en-US" sz="1400" dirty="0"/>
              <a:t>                   result = </a:t>
            </a:r>
            <a:r>
              <a:rPr lang="en-US" sz="1400" dirty="0" err="1"/>
              <a:t>twitter.search</a:t>
            </a:r>
            <a:r>
              <a:rPr lang="en-US" sz="1400" dirty="0"/>
              <a:t>(query);</a:t>
            </a:r>
            <a:br>
              <a:rPr lang="en-US" sz="1400" dirty="0"/>
            </a:br>
            <a:r>
              <a:rPr lang="en-US" sz="1400" dirty="0"/>
              <a:t>    }</a:t>
            </a:r>
            <a:r>
              <a:rPr lang="en-US" sz="1400" b="1" dirty="0"/>
              <a:t>while(query!=null);</a:t>
            </a:r>
            <a:br>
              <a:rPr lang="en-US" sz="1400" b="1" dirty="0"/>
            </a:br>
            <a:r>
              <a:rPr lang="en-US" sz="1400" dirty="0"/>
              <a:t>}</a:t>
            </a:r>
            <a:br>
              <a:rPr lang="en-US" sz="1400" dirty="0"/>
            </a:br>
            <a:r>
              <a:rPr lang="en-US" sz="1400" dirty="0"/>
              <a:t>}</a:t>
            </a:r>
            <a:endParaRPr lang="en-US" sz="1400" dirty="0">
              <a:latin typeface="Arial" pitchFamily="34" charset="0"/>
              <a:cs typeface="Arial" pitchFamily="34" charset="0"/>
            </a:endParaRPr>
          </a:p>
        </p:txBody>
      </p:sp>
    </p:spTree>
    <p:extLst>
      <p:ext uri="{BB962C8B-B14F-4D97-AF65-F5344CB8AC3E}">
        <p14:creationId xmlns:p14="http://schemas.microsoft.com/office/powerpoint/2010/main" val="86660756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093" y="1430216"/>
            <a:ext cx="11107981" cy="5029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a:xfrm>
            <a:off x="234462" y="513558"/>
            <a:ext cx="10972800" cy="811150"/>
          </a:xfrm>
        </p:spPr>
        <p:txBody>
          <a:bodyPr>
            <a:normAutofit/>
          </a:bodyPr>
          <a:lstStyle/>
          <a:p>
            <a:r>
              <a:rPr lang="en-US" sz="2800" b="1" dirty="0" smtClean="0">
                <a:solidFill>
                  <a:schemeClr val="accent6"/>
                </a:solidFill>
                <a:latin typeface="Arial" pitchFamily="34" charset="0"/>
                <a:cs typeface="Arial" pitchFamily="34" charset="0"/>
              </a:rPr>
              <a:t>Extracted Real Time Tweets:</a:t>
            </a:r>
            <a:endParaRPr lang="en-US" sz="2800" b="1" dirty="0">
              <a:solidFill>
                <a:schemeClr val="accent6"/>
              </a:solidFill>
              <a:latin typeface="Arial" pitchFamily="34" charset="0"/>
              <a:cs typeface="Arial" pitchFamily="34" charset="0"/>
            </a:endParaRPr>
          </a:p>
        </p:txBody>
      </p:sp>
    </p:spTree>
    <p:extLst>
      <p:ext uri="{BB962C8B-B14F-4D97-AF65-F5344CB8AC3E}">
        <p14:creationId xmlns:p14="http://schemas.microsoft.com/office/powerpoint/2010/main" val="256207988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99"/>
                                        </p:tgtEl>
                                        <p:attrNameLst>
                                          <p:attrName>style.visibility</p:attrName>
                                        </p:attrNameLst>
                                      </p:cBhvr>
                                      <p:to>
                                        <p:strVal val="visible"/>
                                      </p:to>
                                    </p:set>
                                    <p:anim calcmode="lin" valueType="num">
                                      <p:cBhvr additive="base">
                                        <p:cTn id="7" dur="500" fill="hold"/>
                                        <p:tgtEl>
                                          <p:spTgt spid="4099"/>
                                        </p:tgtEl>
                                        <p:attrNameLst>
                                          <p:attrName>ppt_x</p:attrName>
                                        </p:attrNameLst>
                                      </p:cBhvr>
                                      <p:tavLst>
                                        <p:tav tm="0">
                                          <p:val>
                                            <p:strVal val="#ppt_x"/>
                                          </p:val>
                                        </p:tav>
                                        <p:tav tm="100000">
                                          <p:val>
                                            <p:strVal val="#ppt_x"/>
                                          </p:val>
                                        </p:tav>
                                      </p:tavLst>
                                    </p:anim>
                                    <p:anim calcmode="lin" valueType="num">
                                      <p:cBhvr additive="base">
                                        <p:cTn id="8" dur="500" fill="hold"/>
                                        <p:tgtEl>
                                          <p:spTgt spid="40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7475" y="1207477"/>
            <a:ext cx="9917723" cy="550984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p:spPr>
      </p:pic>
      <p:sp>
        <p:nvSpPr>
          <p:cNvPr id="2" name="Title 1"/>
          <p:cNvSpPr>
            <a:spLocks noGrp="1"/>
          </p:cNvSpPr>
          <p:nvPr>
            <p:ph type="title"/>
          </p:nvPr>
        </p:nvSpPr>
        <p:spPr>
          <a:xfrm>
            <a:off x="152399" y="427892"/>
            <a:ext cx="10972800" cy="662354"/>
          </a:xfrm>
        </p:spPr>
        <p:txBody>
          <a:bodyPr>
            <a:normAutofit/>
          </a:bodyPr>
          <a:lstStyle/>
          <a:p>
            <a:r>
              <a:rPr lang="en-US" sz="2800" b="1" dirty="0" smtClean="0">
                <a:solidFill>
                  <a:schemeClr val="accent6"/>
                </a:solidFill>
                <a:latin typeface="Arial" pitchFamily="34" charset="0"/>
                <a:cs typeface="Arial" pitchFamily="34" charset="0"/>
              </a:rPr>
              <a:t>Official Twitter Snapshot of user:</a:t>
            </a:r>
            <a:endParaRPr lang="en-US" sz="2800" b="1" dirty="0">
              <a:solidFill>
                <a:schemeClr val="accent6"/>
              </a:solidFill>
              <a:latin typeface="Arial" pitchFamily="34" charset="0"/>
              <a:cs typeface="Arial" pitchFamily="34" charset="0"/>
            </a:endParaRPr>
          </a:p>
        </p:txBody>
      </p:sp>
    </p:spTree>
    <p:extLst>
      <p:ext uri="{BB962C8B-B14F-4D97-AF65-F5344CB8AC3E}">
        <p14:creationId xmlns:p14="http://schemas.microsoft.com/office/powerpoint/2010/main" val="114100746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 calcmode="lin" valueType="num">
                                      <p:cBhvr additive="base">
                                        <p:cTn id="7" dur="500" fill="hold"/>
                                        <p:tgtEl>
                                          <p:spTgt spid="5122"/>
                                        </p:tgtEl>
                                        <p:attrNameLst>
                                          <p:attrName>ppt_x</p:attrName>
                                        </p:attrNameLst>
                                      </p:cBhvr>
                                      <p:tavLst>
                                        <p:tav tm="0">
                                          <p:val>
                                            <p:strVal val="#ppt_x"/>
                                          </p:val>
                                        </p:tav>
                                        <p:tav tm="100000">
                                          <p:val>
                                            <p:strVal val="#ppt_x"/>
                                          </p:val>
                                        </p:tav>
                                      </p:tavLst>
                                    </p:anim>
                                    <p:anim calcmode="lin" valueType="num">
                                      <p:cBhvr additive="base">
                                        <p:cTn id="8"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185" y="416170"/>
            <a:ext cx="10972800" cy="1066800"/>
          </a:xfrm>
        </p:spPr>
        <p:txBody>
          <a:bodyPr/>
          <a:lstStyle/>
          <a:p>
            <a:r>
              <a:rPr lang="en-US" b="1" dirty="0">
                <a:solidFill>
                  <a:schemeClr val="accent6"/>
                </a:solidFill>
                <a:latin typeface="Arial" pitchFamily="34" charset="0"/>
                <a:cs typeface="Arial" pitchFamily="34" charset="0"/>
              </a:rPr>
              <a:t>Applications</a:t>
            </a:r>
          </a:p>
        </p:txBody>
      </p:sp>
      <p:sp>
        <p:nvSpPr>
          <p:cNvPr id="3" name="Content Placeholder 2"/>
          <p:cNvSpPr>
            <a:spLocks noGrp="1"/>
          </p:cNvSpPr>
          <p:nvPr>
            <p:ph idx="1"/>
          </p:nvPr>
        </p:nvSpPr>
        <p:spPr>
          <a:xfrm>
            <a:off x="609600" y="1441939"/>
            <a:ext cx="10972800" cy="5132598"/>
          </a:xfrm>
        </p:spPr>
        <p:txBody>
          <a:bodyPr/>
          <a:lstStyle/>
          <a:p>
            <a:pPr>
              <a:buFont typeface="Wingdings" pitchFamily="2" charset="2"/>
              <a:buChar char="§"/>
            </a:pPr>
            <a:r>
              <a:rPr lang="en-US" b="1" dirty="0"/>
              <a:t>Used in Movie reviews</a:t>
            </a:r>
          </a:p>
          <a:p>
            <a:pPr marL="109728" indent="0">
              <a:buNone/>
            </a:pPr>
            <a:endParaRPr lang="en-US"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1169" y="2019300"/>
            <a:ext cx="8639907" cy="4451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018020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3416" y="920262"/>
            <a:ext cx="10972800" cy="1066800"/>
          </a:xfrm>
        </p:spPr>
        <p:txBody>
          <a:bodyPr>
            <a:normAutofit/>
          </a:bodyPr>
          <a:lstStyle/>
          <a:p>
            <a:pPr marL="342900" indent="-342900">
              <a:buFont typeface="Wingdings" pitchFamily="2" charset="2"/>
              <a:buChar char="§"/>
            </a:pPr>
            <a:r>
              <a:rPr lang="en-US" sz="2400" b="1" dirty="0"/>
              <a:t>Knowing public opinion for political leader or their notions about rules and regulations</a:t>
            </a:r>
            <a:endParaRPr lang="en-US" sz="2400" dirty="0"/>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1324709" y="2133600"/>
            <a:ext cx="9050214" cy="4278923"/>
          </a:xfrm>
          <a:prstGeom prst="rect">
            <a:avLst/>
          </a:prstGeom>
        </p:spPr>
      </p:pic>
    </p:spTree>
    <p:extLst>
      <p:ext uri="{BB962C8B-B14F-4D97-AF65-F5344CB8AC3E}">
        <p14:creationId xmlns:p14="http://schemas.microsoft.com/office/powerpoint/2010/main" val="154153707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2030" y="873369"/>
            <a:ext cx="10972800" cy="1066800"/>
          </a:xfrm>
        </p:spPr>
        <p:txBody>
          <a:bodyPr/>
          <a:lstStyle/>
          <a:p>
            <a:r>
              <a:rPr lang="en-US" b="1" dirty="0">
                <a:solidFill>
                  <a:schemeClr val="accent6"/>
                </a:solidFill>
                <a:latin typeface="Arial" pitchFamily="34" charset="0"/>
                <a:cs typeface="Arial" pitchFamily="34" charset="0"/>
              </a:rPr>
              <a:t>Future Work</a:t>
            </a:r>
            <a:endParaRPr lang="en-US" dirty="0">
              <a:solidFill>
                <a:schemeClr val="accent6"/>
              </a:solidFill>
              <a:latin typeface="Arial" pitchFamily="34" charset="0"/>
              <a:cs typeface="Arial" pitchFamily="34" charset="0"/>
            </a:endParaRPr>
          </a:p>
        </p:txBody>
      </p:sp>
      <p:sp>
        <p:nvSpPr>
          <p:cNvPr id="3" name="Content Placeholder 2"/>
          <p:cNvSpPr>
            <a:spLocks noGrp="1"/>
          </p:cNvSpPr>
          <p:nvPr>
            <p:ph idx="1"/>
          </p:nvPr>
        </p:nvSpPr>
        <p:spPr>
          <a:xfrm>
            <a:off x="527538" y="2319762"/>
            <a:ext cx="10972800" cy="4325112"/>
          </a:xfrm>
        </p:spPr>
        <p:txBody>
          <a:bodyPr/>
          <a:lstStyle/>
          <a:p>
            <a:pPr marL="0">
              <a:lnSpc>
                <a:spcPct val="100000"/>
              </a:lnSpc>
            </a:pPr>
            <a:r>
              <a:rPr lang="en-US" spc="10" dirty="0">
                <a:solidFill>
                  <a:srgbClr val="2E2E2E"/>
                </a:solidFill>
                <a:latin typeface="Arial"/>
                <a:cs typeface="Arial"/>
              </a:rPr>
              <a:t>Using different other models and algorithms.</a:t>
            </a:r>
          </a:p>
          <a:p>
            <a:pPr marL="0" indent="0">
              <a:lnSpc>
                <a:spcPct val="100000"/>
              </a:lnSpc>
              <a:buNone/>
            </a:pPr>
            <a:endParaRPr lang="en-US" dirty="0">
              <a:latin typeface="Arial"/>
              <a:cs typeface="Arial"/>
            </a:endParaRPr>
          </a:p>
          <a:p>
            <a:pPr marL="0">
              <a:lnSpc>
                <a:spcPct val="100000"/>
              </a:lnSpc>
            </a:pPr>
            <a:r>
              <a:rPr lang="en-US" spc="10" dirty="0">
                <a:solidFill>
                  <a:srgbClr val="2E2E2E"/>
                </a:solidFill>
                <a:latin typeface="Arial"/>
                <a:cs typeface="Arial"/>
              </a:rPr>
              <a:t>Temporal analysis can be added as a future work in the project.</a:t>
            </a:r>
          </a:p>
          <a:p>
            <a:pPr marL="0" indent="0">
              <a:lnSpc>
                <a:spcPct val="100000"/>
              </a:lnSpc>
              <a:buNone/>
            </a:pPr>
            <a:endParaRPr lang="en-US" dirty="0">
              <a:latin typeface="Arial"/>
              <a:cs typeface="Arial"/>
            </a:endParaRPr>
          </a:p>
          <a:p>
            <a:pPr marL="0">
              <a:lnSpc>
                <a:spcPct val="100000"/>
              </a:lnSpc>
            </a:pPr>
            <a:r>
              <a:rPr lang="en-US" spc="10" dirty="0">
                <a:solidFill>
                  <a:srgbClr val="2E2E2E"/>
                </a:solidFill>
                <a:latin typeface="Arial"/>
                <a:cs typeface="Arial"/>
              </a:rPr>
              <a:t>Consideration of </a:t>
            </a:r>
            <a:r>
              <a:rPr lang="en-US" spc="10" dirty="0" err="1">
                <a:solidFill>
                  <a:srgbClr val="2E2E2E"/>
                </a:solidFill>
                <a:latin typeface="Arial"/>
                <a:cs typeface="Arial"/>
              </a:rPr>
              <a:t>Retweets</a:t>
            </a:r>
            <a:r>
              <a:rPr lang="en-US" spc="10" dirty="0">
                <a:solidFill>
                  <a:srgbClr val="2E2E2E"/>
                </a:solidFill>
                <a:latin typeface="Arial"/>
                <a:cs typeface="Arial"/>
              </a:rPr>
              <a:t> as a factor.</a:t>
            </a:r>
            <a:endParaRPr lang="en-US" dirty="0">
              <a:latin typeface="Arial"/>
              <a:cs typeface="Arial"/>
            </a:endParaRPr>
          </a:p>
          <a:p>
            <a:pPr marL="109728" indent="0">
              <a:buNone/>
            </a:pPr>
            <a:endParaRPr lang="en-US" dirty="0"/>
          </a:p>
        </p:txBody>
      </p:sp>
    </p:spTree>
    <p:extLst>
      <p:ext uri="{BB962C8B-B14F-4D97-AF65-F5344CB8AC3E}">
        <p14:creationId xmlns:p14="http://schemas.microsoft.com/office/powerpoint/2010/main" val="94482373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 :</a:t>
            </a:r>
            <a:endParaRPr lang="en-IN" dirty="0"/>
          </a:p>
        </p:txBody>
      </p:sp>
      <p:sp>
        <p:nvSpPr>
          <p:cNvPr id="3" name="Content Placeholder 2"/>
          <p:cNvSpPr>
            <a:spLocks noGrp="1"/>
          </p:cNvSpPr>
          <p:nvPr>
            <p:ph idx="1"/>
          </p:nvPr>
        </p:nvSpPr>
        <p:spPr/>
        <p:txBody>
          <a:bodyPr/>
          <a:lstStyle/>
          <a:p>
            <a:pPr marL="109728" indent="0">
              <a:buNone/>
            </a:pPr>
            <a:r>
              <a:rPr lang="en-US" dirty="0" smtClean="0"/>
              <a:t>????</a:t>
            </a:r>
            <a:endParaRPr lang="en-IN" dirty="0"/>
          </a:p>
        </p:txBody>
      </p:sp>
    </p:spTree>
    <p:extLst>
      <p:ext uri="{BB962C8B-B14F-4D97-AF65-F5344CB8AC3E}">
        <p14:creationId xmlns:p14="http://schemas.microsoft.com/office/powerpoint/2010/main" val="28466829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9675" y="484188"/>
            <a:ext cx="7231063" cy="555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74300180"/>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337</TotalTime>
  <Words>818</Words>
  <Application>Microsoft Office PowerPoint</Application>
  <PresentationFormat>Widescreen</PresentationFormat>
  <Paragraphs>121</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Algerian</vt:lpstr>
      <vt:lpstr>Arial</vt:lpstr>
      <vt:lpstr>Georgia</vt:lpstr>
      <vt:lpstr>Times New Roman</vt:lpstr>
      <vt:lpstr>Trebuchet MS</vt:lpstr>
      <vt:lpstr>Wingdings</vt:lpstr>
      <vt:lpstr>Wingdings 2</vt:lpstr>
      <vt:lpstr>Urban</vt:lpstr>
      <vt:lpstr>Emotion Detection From Tweets And Emoticons</vt:lpstr>
      <vt:lpstr>Abstract</vt:lpstr>
      <vt:lpstr>Problem Statement</vt:lpstr>
      <vt:lpstr>OBJECTIVE </vt:lpstr>
      <vt:lpstr>PowerPoint Presentation</vt:lpstr>
      <vt:lpstr>Scope :</vt:lpstr>
      <vt:lpstr>Motivation :</vt:lpstr>
      <vt:lpstr>Literature Review :</vt:lpstr>
      <vt:lpstr>PowerPoint Presentation</vt:lpstr>
      <vt:lpstr>PROPOSED SYSTEM </vt:lpstr>
      <vt:lpstr>METHODS AND ALGORITHM </vt:lpstr>
      <vt:lpstr>Implementation Details</vt:lpstr>
      <vt:lpstr>PowerPoint Presentation</vt:lpstr>
      <vt:lpstr>              List&lt;Status&gt; tweets = result.getTweets();                StringBuilder sb = new StringBuilder();               for(Status tweet: tweets){                    System.out.println("User: "+tweet.getUser().getScreenName() + " Tweet: "+tweet.getText());                    try(BufferedWriter bw = new BufferedWriter(new FileWriter("C:\\Users\\User\\Desktop\\results4.csv"))) {                    String tweetText = tweet.getText();                    String username = tweet.getUser().getScreenName();                     long tweetId = tweet.getId();                    sb.append("\n\nID= \n ").append(tweetId).append("\nUser= \n ").append(username).append("\nTEXT= \n ").append(tweetText);                         String csvText = sb.toString();                         bw.write(csvText);                        bw.newLine();                     }               } query = result.nextQuery();                if(query!=null)                    result = twitter.search(query);     }while(query!=null); } }</vt:lpstr>
      <vt:lpstr>Extracted Real Time Tweets:</vt:lpstr>
      <vt:lpstr>Official Twitter Snapshot of user:</vt:lpstr>
      <vt:lpstr>Applications</vt:lpstr>
      <vt:lpstr>Knowing public opinion for political leader or their notions about rules and regulations</vt:lpstr>
      <vt:lpstr>Future Work</vt:lpstr>
      <vt:lpstr>Reference :</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Emotion Detection From Tweets And Emoticons</dc:title>
  <dc:creator>Sawan Kshatriya</dc:creator>
  <cp:lastModifiedBy>Sawan Kshatriya</cp:lastModifiedBy>
  <cp:revision>42</cp:revision>
  <dcterms:created xsi:type="dcterms:W3CDTF">2018-10-18T12:19:38Z</dcterms:created>
  <dcterms:modified xsi:type="dcterms:W3CDTF">2018-11-01T15:44:38Z</dcterms:modified>
</cp:coreProperties>
</file>