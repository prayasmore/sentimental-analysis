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4" r:id="rId3"/>
    <p:sldId id="258" r:id="rId4"/>
    <p:sldId id="259" r:id="rId5"/>
    <p:sldId id="268" r:id="rId6"/>
    <p:sldId id="260" r:id="rId7"/>
    <p:sldId id="261" r:id="rId8"/>
    <p:sldId id="271" r:id="rId9"/>
    <p:sldId id="272" r:id="rId10"/>
    <p:sldId id="262" r:id="rId11"/>
    <p:sldId id="269" r:id="rId12"/>
    <p:sldId id="264" r:id="rId13"/>
    <p:sldId id="278" r:id="rId14"/>
    <p:sldId id="279" r:id="rId15"/>
    <p:sldId id="280" r:id="rId16"/>
    <p:sldId id="281" r:id="rId17"/>
    <p:sldId id="276" r:id="rId18"/>
    <p:sldId id="277" r:id="rId19"/>
    <p:sldId id="275"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81" d="100"/>
          <a:sy n="81" d="100"/>
        </p:scale>
        <p:origin x="-30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8940800" y="4206240"/>
            <a:ext cx="1280160" cy="457200"/>
          </a:xfrm>
        </p:spPr>
        <p:txBody>
          <a:bodyPr/>
          <a:lstStyle/>
          <a:p>
            <a:fld id="{E9AB1619-24DE-4F9D-8B10-74E05BEF234B}" type="datetimeFigureOut">
              <a:rPr lang="en-IN" smtClean="0"/>
              <a:t>18-10-2018</a:t>
            </a:fld>
            <a:endParaRPr lang="en-IN"/>
          </a:p>
        </p:txBody>
      </p:sp>
      <p:sp>
        <p:nvSpPr>
          <p:cNvPr id="17" name="Footer Placeholder 16"/>
          <p:cNvSpPr>
            <a:spLocks noGrp="1"/>
          </p:cNvSpPr>
          <p:nvPr>
            <p:ph type="ftr" sz="quarter" idx="11"/>
          </p:nvPr>
        </p:nvSpPr>
        <p:spPr>
          <a:xfrm>
            <a:off x="7213600" y="4205288"/>
            <a:ext cx="1727200" cy="457200"/>
          </a:xfrm>
        </p:spPr>
        <p:txBody>
          <a:bodyPr/>
          <a:lstStyle/>
          <a:p>
            <a:endParaRPr lang="en-IN"/>
          </a:p>
        </p:txBody>
      </p:sp>
      <p:sp>
        <p:nvSpPr>
          <p:cNvPr id="29" name="Slide Number Placehold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C359D7D9-F924-47E1-8959-C402780188D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9AB1619-24DE-4F9D-8B10-74E05BEF234B}" type="datetimeFigureOut">
              <a:rPr lang="en-IN" smtClean="0"/>
              <a:t>18-10-2018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E9AB1619-24DE-4F9D-8B10-74E05BEF234B}" type="datetimeFigureOut">
              <a:rPr lang="en-IN" smtClean="0"/>
              <a:t>18-10-2018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9AB1619-24DE-4F9D-8B10-74E05BEF234B}" type="datetimeFigureOut">
              <a:rPr lang="en-IN" smtClean="0"/>
              <a:t>18-10-2018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1143000"/>
            <a:ext cx="11176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E9AB1619-24DE-4F9D-8B10-74E05BEF234B}" type="datetimeFigureOut">
              <a:rPr lang="en-IN" smtClean="0"/>
              <a:t>18-10-2018</a:t>
            </a:fld>
            <a:endParaRPr lang="en-IN"/>
          </a:p>
        </p:txBody>
      </p:sp>
      <p:sp>
        <p:nvSpPr>
          <p:cNvPr id="27" name="Slide Number Placeholder 26"/>
          <p:cNvSpPr>
            <a:spLocks noGrp="1"/>
          </p:cNvSpPr>
          <p:nvPr>
            <p:ph type="sldNum" sz="quarter" idx="11"/>
          </p:nvPr>
        </p:nvSpPr>
        <p:spPr/>
        <p:txBody>
          <a:bodyPr rtlCol="0"/>
          <a:lstStyle/>
          <a:p>
            <a:fld id="{C359D7D9-F924-47E1-8959-C402780188D9}" type="slidenum">
              <a:rPr lang="en-IN" smtClean="0"/>
              <a:t>‹#›</a:t>
            </a:fld>
            <a:endParaRPr lang="en-IN"/>
          </a:p>
        </p:txBody>
      </p:sp>
      <p:sp>
        <p:nvSpPr>
          <p:cNvPr id="28" name="Footer Placeholder 27"/>
          <p:cNvSpPr>
            <a:spLocks noGrp="1"/>
          </p:cNvSpPr>
          <p:nvPr>
            <p:ph type="ftr" sz="quarter" idx="12"/>
          </p:nvPr>
        </p:nvSpPr>
        <p:spPr/>
        <p:txBody>
          <a:bodyPr rtlCol="0"/>
          <a:lstStyle/>
          <a:p>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8778240" y="612648"/>
            <a:ext cx="1276352" cy="457200"/>
          </a:xfrm>
        </p:spPr>
        <p:txBody>
          <a:bodyPr/>
          <a:lstStyle/>
          <a:p>
            <a:fld id="{E9AB1619-24DE-4F9D-8B10-74E05BEF234B}" type="datetimeFigureOut">
              <a:rPr lang="en-IN" smtClean="0"/>
              <a:t>18-10-2018</a:t>
            </a:fld>
            <a:endParaRPr lang="en-IN"/>
          </a:p>
        </p:txBody>
      </p:sp>
      <p:sp>
        <p:nvSpPr>
          <p:cNvPr id="4" name="Footer Placeholder 3"/>
          <p:cNvSpPr>
            <a:spLocks noGrp="1"/>
          </p:cNvSpPr>
          <p:nvPr>
            <p:ph type="ftr" sz="quarter" idx="11"/>
          </p:nvPr>
        </p:nvSpPr>
        <p:spPr>
          <a:xfrm>
            <a:off x="7010400" y="612648"/>
            <a:ext cx="1767840" cy="457200"/>
          </a:xfrm>
        </p:spPr>
        <p:txBody>
          <a:bodyPr/>
          <a:lstStyle/>
          <a:p>
            <a:endParaRPr lang="en-IN"/>
          </a:p>
        </p:txBody>
      </p:sp>
      <p:sp>
        <p:nvSpPr>
          <p:cNvPr id="5" name="Slide Number Placeholder 4"/>
          <p:cNvSpPr>
            <a:spLocks noGrp="1"/>
          </p:cNvSpPr>
          <p:nvPr>
            <p:ph type="sldNum" sz="quarter" idx="12"/>
          </p:nvPr>
        </p:nvSpPr>
        <p:spPr>
          <a:xfrm>
            <a:off x="10899648" y="2272"/>
            <a:ext cx="1016000" cy="365760"/>
          </a:xfrm>
        </p:spPr>
        <p:txBody>
          <a:bodyPr/>
          <a:lstStyle/>
          <a:p>
            <a:fld id="{C359D7D9-F924-47E1-8959-C402780188D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AB1619-24DE-4F9D-8B10-74E05BEF234B}" type="datetimeFigureOut">
              <a:rPr lang="en-IN" smtClean="0"/>
              <a:t>18-10-2018</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37995" y="1101970"/>
            <a:ext cx="451104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9AB1619-24DE-4F9D-8B10-74E05BEF234B}" type="datetimeFigureOut">
              <a:rPr lang="en-IN" smtClean="0"/>
              <a:t>18-10-2018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E9AB1619-24DE-4F9D-8B10-74E05BEF234B}" type="datetimeFigureOut">
              <a:rPr lang="en-IN" smtClean="0"/>
              <a:t>18-10-2018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9AB1619-24DE-4F9D-8B10-74E05BEF234B}" type="datetimeFigureOut">
              <a:rPr lang="en-IN" smtClean="0"/>
              <a:t>18-10-2018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1143000"/>
            <a:ext cx="2540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1143000"/>
            <a:ext cx="83312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9AB1619-24DE-4F9D-8B10-74E05BEF234B}" type="datetimeFigureOut">
              <a:rPr lang="en-IN" smtClean="0"/>
              <a:t>18-10-2018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609600" y="1143000"/>
            <a:ext cx="109728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fld id="{E9AB1619-24DE-4F9D-8B10-74E05BEF234B}" type="datetimeFigureOut">
              <a:rPr lang="en-IN" smtClean="0"/>
              <a:t>18-10-2018</a:t>
            </a:fld>
            <a:endParaRPr lang="en-IN"/>
          </a:p>
        </p:txBody>
      </p:sp>
      <p:sp>
        <p:nvSpPr>
          <p:cNvPr id="3" name="Footer Placehold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endParaRPr lang="en-IN"/>
          </a:p>
        </p:txBody>
      </p:sp>
      <p:sp>
        <p:nvSpPr>
          <p:cNvPr id="23" name="Slide Number Placehold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C359D7D9-F924-47E1-8959-C402780188D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9846" y="899625"/>
            <a:ext cx="9144000" cy="1826899"/>
          </a:xfrm>
        </p:spPr>
        <p:txBody>
          <a:bodyPr>
            <a:normAutofit/>
          </a:bodyPr>
          <a:lstStyle/>
          <a:p>
            <a:r>
              <a:rPr lang="en-US" sz="5400" dirty="0" smtClean="0">
                <a:latin typeface="Algerian" panose="04020705040A02060702" pitchFamily="82" charset="0"/>
              </a:rPr>
              <a:t>Emotion Detection From Tweets And Emoticons</a:t>
            </a:r>
            <a:endParaRPr lang="en-IN" sz="5400" dirty="0">
              <a:latin typeface="Algerian" panose="04020705040A02060702" pitchFamily="82" charset="0"/>
              <a:cs typeface="Times New Roman" panose="02020603050405020304" pitchFamily="18" charset="0"/>
            </a:endParaRPr>
          </a:p>
        </p:txBody>
      </p:sp>
      <p:sp>
        <p:nvSpPr>
          <p:cNvPr id="3" name="Subtitle 2"/>
          <p:cNvSpPr>
            <a:spLocks noGrp="1"/>
          </p:cNvSpPr>
          <p:nvPr>
            <p:ph type="subTitle" idx="1"/>
          </p:nvPr>
        </p:nvSpPr>
        <p:spPr>
          <a:xfrm>
            <a:off x="2719754" y="3947375"/>
            <a:ext cx="9144000" cy="2910625"/>
          </a:xfrm>
        </p:spPr>
        <p:txBody>
          <a:bodyPr>
            <a:normAutofit/>
          </a:bodyPr>
          <a:lstStyle/>
          <a:p>
            <a:r>
              <a:rPr lang="en-US" b="1" dirty="0" smtClean="0"/>
              <a:t>  		</a:t>
            </a:r>
            <a:endParaRPr lang="en-US" b="1" dirty="0"/>
          </a:p>
          <a:p>
            <a:r>
              <a:rPr lang="en-US" b="1" dirty="0" smtClean="0"/>
              <a:t>                                 </a:t>
            </a:r>
            <a:r>
              <a:rPr lang="en-US" b="1" dirty="0" smtClean="0"/>
              <a:t>                     </a:t>
            </a:r>
            <a:r>
              <a:rPr lang="en-US" b="1" dirty="0" smtClean="0"/>
              <a:t>Made by-</a:t>
            </a:r>
          </a:p>
          <a:p>
            <a:pPr algn="r"/>
            <a:r>
              <a:rPr lang="en-US" dirty="0" smtClean="0"/>
              <a:t>				</a:t>
            </a:r>
            <a:r>
              <a:rPr lang="en-US" dirty="0" smtClean="0"/>
              <a:t>                     Jain </a:t>
            </a:r>
            <a:r>
              <a:rPr lang="en-US" dirty="0" smtClean="0"/>
              <a:t>Rajat Ashok(22)</a:t>
            </a:r>
          </a:p>
          <a:p>
            <a:pPr algn="r"/>
            <a:r>
              <a:rPr lang="en-US" dirty="0" smtClean="0"/>
              <a:t>					  Dubey </a:t>
            </a:r>
            <a:r>
              <a:rPr lang="en-US" dirty="0" err="1" smtClean="0"/>
              <a:t>Arun</a:t>
            </a:r>
            <a:r>
              <a:rPr lang="en-US" dirty="0" smtClean="0"/>
              <a:t> Kumar Vyas (14)</a:t>
            </a:r>
          </a:p>
          <a:p>
            <a:pPr lvl="0" algn="r"/>
            <a:r>
              <a:rPr lang="en-US" dirty="0" smtClean="0"/>
              <a:t>					 Kshatriya Sawan </a:t>
            </a:r>
            <a:r>
              <a:rPr lang="en-US" dirty="0" err="1" smtClean="0"/>
              <a:t>Ranjan</a:t>
            </a:r>
            <a:r>
              <a:rPr lang="en-US" dirty="0" smtClean="0"/>
              <a:t>(32)</a:t>
            </a:r>
          </a:p>
          <a:p>
            <a:pPr algn="r"/>
            <a:r>
              <a:rPr lang="en-US" dirty="0" smtClean="0"/>
              <a:t>					Shukla </a:t>
            </a:r>
            <a:r>
              <a:rPr lang="en-US" dirty="0" err="1" smtClean="0"/>
              <a:t>Pratyush</a:t>
            </a:r>
            <a:r>
              <a:rPr lang="en-US" dirty="0" smtClean="0"/>
              <a:t> Suresh(58)</a:t>
            </a:r>
          </a:p>
          <a:p>
            <a:pPr algn="r"/>
            <a:endParaRPr lang="en-IN" dirty="0"/>
          </a:p>
        </p:txBody>
      </p:sp>
    </p:spTree>
    <p:extLst>
      <p:ext uri="{BB962C8B-B14F-4D97-AF65-F5344CB8AC3E}">
        <p14:creationId xmlns:p14="http://schemas.microsoft.com/office/powerpoint/2010/main" val="283327430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908" y="592015"/>
            <a:ext cx="10972800" cy="1066800"/>
          </a:xfrm>
        </p:spPr>
        <p:txBody>
          <a:bodyPr/>
          <a:lstStyle/>
          <a:p>
            <a:r>
              <a:rPr lang="en-US" b="1" dirty="0" smtClean="0">
                <a:solidFill>
                  <a:schemeClr val="accent6"/>
                </a:solidFill>
                <a:latin typeface="Arial" pitchFamily="34" charset="0"/>
                <a:cs typeface="Arial" pitchFamily="34" charset="0"/>
              </a:rPr>
              <a:t>Abstract</a:t>
            </a:r>
            <a:endParaRPr lang="en-US"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422030" y="1733607"/>
            <a:ext cx="11359662" cy="4960269"/>
          </a:xfrm>
        </p:spPr>
        <p:txBody>
          <a:bodyPr>
            <a:normAutofit/>
          </a:bodyPr>
          <a:lstStyle/>
          <a:p>
            <a:pPr lvl="1">
              <a:buFont typeface="Wingdings" pitchFamily="2" charset="2"/>
              <a:buChar char="§"/>
              <a:tabLst>
                <a:tab pos="180000" algn="l"/>
              </a:tabLst>
            </a:pPr>
            <a:r>
              <a:rPr lang="en-US" sz="2000" dirty="0">
                <a:solidFill>
                  <a:schemeClr val="tx1"/>
                </a:solidFill>
              </a:rPr>
              <a:t>Micro blogging sites have millions of people sharing their thoughts daily because of its characteristic short and simple manner of expression. We propose and investigate a paradigm to mine the sentiment from a popular real-time micro blogging service, Twitter, where users post real time reactions to and opinions about “everything</a:t>
            </a:r>
            <a:r>
              <a:rPr lang="en-US" sz="2000" dirty="0" smtClean="0">
                <a:solidFill>
                  <a:schemeClr val="tx1"/>
                </a:solidFill>
              </a:rPr>
              <a:t>”.</a:t>
            </a:r>
          </a:p>
          <a:p>
            <a:pPr lvl="1">
              <a:buFont typeface="Wingdings" pitchFamily="2" charset="2"/>
              <a:buChar char="§"/>
              <a:tabLst>
                <a:tab pos="180000" algn="l"/>
              </a:tabLst>
            </a:pPr>
            <a:endParaRPr lang="en-US" sz="2000" dirty="0">
              <a:solidFill>
                <a:schemeClr val="tx1"/>
              </a:solidFill>
            </a:endParaRPr>
          </a:p>
          <a:p>
            <a:pPr lvl="1">
              <a:buFont typeface="Wingdings" pitchFamily="2" charset="2"/>
              <a:buChar char="§"/>
              <a:tabLst>
                <a:tab pos="180000" algn="l"/>
              </a:tabLst>
            </a:pPr>
            <a:r>
              <a:rPr lang="en-US" sz="2000" dirty="0">
                <a:solidFill>
                  <a:schemeClr val="tx1"/>
                </a:solidFill>
              </a:rPr>
              <a:t> Social networking sites like twitter, Facebook, etc. are the great source of communication for  internet users. So these become an important source for understanding the opinions, views or emotions of people. </a:t>
            </a:r>
            <a:endParaRPr lang="en-US" sz="2000" dirty="0" smtClean="0">
              <a:solidFill>
                <a:schemeClr val="tx1"/>
              </a:solidFill>
            </a:endParaRPr>
          </a:p>
          <a:p>
            <a:pPr lvl="1">
              <a:buFont typeface="Wingdings" pitchFamily="2" charset="2"/>
              <a:buChar char="§"/>
              <a:tabLst>
                <a:tab pos="180000" algn="l"/>
              </a:tabLst>
            </a:pPr>
            <a:endParaRPr lang="en-US" sz="2000" dirty="0">
              <a:solidFill>
                <a:schemeClr val="tx1"/>
              </a:solidFill>
            </a:endParaRPr>
          </a:p>
          <a:p>
            <a:pPr lvl="1">
              <a:buFont typeface="Wingdings" pitchFamily="2" charset="2"/>
              <a:buChar char="§"/>
              <a:tabLst>
                <a:tab pos="180000" algn="l"/>
              </a:tabLst>
            </a:pPr>
            <a:r>
              <a:rPr lang="en-US" sz="2000" dirty="0">
                <a:solidFill>
                  <a:schemeClr val="tx1"/>
                </a:solidFill>
              </a:rPr>
              <a:t>We extract data, i.e. tweets from Twitter in real time and apply machine learning techniques to convert them into a useful form and then use it for building sentiment classifier. Given a piece of written text, the problem is to categorize the text into one specific sentiment polarity i.e. positive, negative or neutral.</a:t>
            </a:r>
            <a:endParaRPr lang="en-IN" sz="2000" dirty="0">
              <a:solidFill>
                <a:schemeClr val="tx1"/>
              </a:solidFill>
            </a:endParaRPr>
          </a:p>
          <a:p>
            <a:pPr marL="109728" indent="0">
              <a:buNone/>
            </a:pPr>
            <a:endParaRPr lang="en-US" dirty="0"/>
          </a:p>
        </p:txBody>
      </p:sp>
    </p:spTree>
    <p:extLst>
      <p:ext uri="{BB962C8B-B14F-4D97-AF65-F5344CB8AC3E}">
        <p14:creationId xmlns:p14="http://schemas.microsoft.com/office/powerpoint/2010/main" val="28237811"/>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969" y="720970"/>
            <a:ext cx="10972800" cy="1066800"/>
          </a:xfrm>
        </p:spPr>
        <p:txBody>
          <a:bodyPr>
            <a:normAutofit/>
          </a:bodyPr>
          <a:lstStyle/>
          <a:p>
            <a:r>
              <a:rPr lang="en-US" sz="3600" b="1" dirty="0" smtClean="0">
                <a:solidFill>
                  <a:schemeClr val="accent6"/>
                </a:solidFill>
                <a:latin typeface="Arial" pitchFamily="34" charset="0"/>
                <a:cs typeface="Arial" pitchFamily="34" charset="0"/>
              </a:rPr>
              <a:t>Problem Statement</a:t>
            </a:r>
            <a:endParaRPr lang="en-IN" sz="3600"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550984" y="1827393"/>
            <a:ext cx="10972800" cy="4325112"/>
          </a:xfrm>
        </p:spPr>
        <p:txBody>
          <a:bodyPr/>
          <a:lstStyle/>
          <a:p>
            <a:pPr marL="109728" indent="0">
              <a:buNone/>
            </a:pPr>
            <a:r>
              <a:rPr lang="en-US" dirty="0" smtClean="0">
                <a:solidFill>
                  <a:schemeClr val="accent6"/>
                </a:solidFill>
              </a:rPr>
              <a:t>•</a:t>
            </a:r>
            <a:r>
              <a:rPr lang="en-US" dirty="0" smtClean="0"/>
              <a:t> </a:t>
            </a:r>
            <a:r>
              <a:rPr lang="en-US" sz="2600" b="1" dirty="0" smtClean="0"/>
              <a:t>Sentence Level Sentiment Analysis in Twitter:</a:t>
            </a:r>
          </a:p>
          <a:p>
            <a:pPr marL="109728" indent="0">
              <a:buNone/>
            </a:pPr>
            <a:r>
              <a:rPr lang="en-US" sz="2600" dirty="0" smtClean="0"/>
              <a:t>	Given a message, we decide whether the message is of positive  negative or neutral sentiment. </a:t>
            </a:r>
          </a:p>
          <a:p>
            <a:pPr marL="109728" indent="0">
              <a:buNone/>
            </a:pPr>
            <a:r>
              <a:rPr lang="en-US" sz="2600" dirty="0" smtClean="0"/>
              <a:t>For messages conveying both a positive, negative or neutral sentiment, whichever is the stronger sentiment should be chosen</a:t>
            </a:r>
            <a:r>
              <a:rPr lang="en-US" sz="2600" dirty="0" smtClean="0"/>
              <a:t>.</a:t>
            </a:r>
          </a:p>
          <a:p>
            <a:pPr marL="109728" indent="0">
              <a:buNone/>
            </a:pPr>
            <a:endParaRPr lang="en-US" sz="2600" dirty="0" smtClean="0"/>
          </a:p>
          <a:p>
            <a:pPr marL="109728" indent="0">
              <a:buNone/>
            </a:pPr>
            <a:r>
              <a:rPr lang="en-US" sz="2600" dirty="0" smtClean="0">
                <a:solidFill>
                  <a:schemeClr val="accent6"/>
                </a:solidFill>
              </a:rPr>
              <a:t>•</a:t>
            </a:r>
            <a:r>
              <a:rPr lang="en-US" sz="2600" b="1" dirty="0" smtClean="0"/>
              <a:t>Emoticons Level Sentiment Analysis in Twitter:</a:t>
            </a:r>
          </a:p>
          <a:p>
            <a:pPr marL="109728" indent="0">
              <a:buNone/>
            </a:pPr>
            <a:r>
              <a:rPr lang="en-US" sz="2600" dirty="0" smtClean="0"/>
              <a:t>	Given a emoticon whether that instance is positive, negative in that context.</a:t>
            </a:r>
          </a:p>
          <a:p>
            <a:pPr marL="0" indent="0">
              <a:buNone/>
            </a:pPr>
            <a:endParaRPr lang="en-IN" dirty="0"/>
          </a:p>
        </p:txBody>
      </p:sp>
    </p:spTree>
    <p:extLst>
      <p:ext uri="{BB962C8B-B14F-4D97-AF65-F5344CB8AC3E}">
        <p14:creationId xmlns:p14="http://schemas.microsoft.com/office/powerpoint/2010/main" val="421204281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754" y="662353"/>
            <a:ext cx="10972800" cy="1066800"/>
          </a:xfrm>
        </p:spPr>
        <p:txBody>
          <a:bodyPr/>
          <a:lstStyle/>
          <a:p>
            <a:r>
              <a:rPr lang="en-US" b="1" dirty="0" smtClean="0">
                <a:solidFill>
                  <a:schemeClr val="accent6"/>
                </a:solidFill>
                <a:latin typeface="Arial" pitchFamily="34" charset="0"/>
                <a:cs typeface="Arial" pitchFamily="34" charset="0"/>
              </a:rPr>
              <a:t>OBJECTIVE </a:t>
            </a:r>
            <a:endParaRPr lang="en-IN"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550984" y="1921178"/>
            <a:ext cx="11207262" cy="4325112"/>
          </a:xfrm>
        </p:spPr>
        <p:txBody>
          <a:bodyPr>
            <a:normAutofit lnSpcReduction="10000"/>
          </a:bodyPr>
          <a:lstStyle/>
          <a:p>
            <a:pPr>
              <a:buFont typeface="Wingdings" pitchFamily="2" charset="2"/>
              <a:buChar char="§"/>
            </a:pPr>
            <a:r>
              <a:rPr lang="en-US" sz="2600" dirty="0" smtClean="0">
                <a:latin typeface="Arial" pitchFamily="34" charset="0"/>
                <a:cs typeface="Arial" pitchFamily="34" charset="0"/>
              </a:rPr>
              <a:t>To implement an algorithm for automatic classification of text and emoticons into positive, negative or neutral</a:t>
            </a:r>
            <a:r>
              <a:rPr lang="en-US" sz="2600" dirty="0" smtClean="0">
                <a:latin typeface="Arial" pitchFamily="34" charset="0"/>
                <a:cs typeface="Arial" pitchFamily="34" charset="0"/>
              </a:rPr>
              <a:t>.</a:t>
            </a:r>
          </a:p>
          <a:p>
            <a:pPr>
              <a:buFont typeface="Wingdings" pitchFamily="2" charset="2"/>
              <a:buChar char="§"/>
            </a:pPr>
            <a:endParaRPr lang="en-US" sz="2600" dirty="0" smtClean="0">
              <a:latin typeface="Arial" pitchFamily="34" charset="0"/>
              <a:cs typeface="Arial" pitchFamily="34" charset="0"/>
            </a:endParaRPr>
          </a:p>
          <a:p>
            <a:pPr>
              <a:buFont typeface="Wingdings" pitchFamily="2" charset="2"/>
              <a:buChar char="§"/>
            </a:pPr>
            <a:r>
              <a:rPr lang="en-US" sz="2600" dirty="0" smtClean="0">
                <a:latin typeface="Arial" pitchFamily="34" charset="0"/>
                <a:cs typeface="Arial" pitchFamily="34" charset="0"/>
              </a:rPr>
              <a:t>Emotion detection or analysis is to determine the attitude of the mass is positive, negative or neutral towards the subject of interest</a:t>
            </a:r>
            <a:r>
              <a:rPr lang="en-US" sz="2600" dirty="0" smtClean="0">
                <a:latin typeface="Arial" pitchFamily="34" charset="0"/>
                <a:cs typeface="Arial" pitchFamily="34" charset="0"/>
              </a:rPr>
              <a:t>.</a:t>
            </a:r>
          </a:p>
          <a:p>
            <a:pPr>
              <a:buFont typeface="Wingdings" pitchFamily="2" charset="2"/>
              <a:buChar char="§"/>
            </a:pPr>
            <a:endParaRPr lang="en-US" sz="2600" dirty="0" smtClean="0">
              <a:latin typeface="Arial" pitchFamily="34" charset="0"/>
              <a:cs typeface="Arial" pitchFamily="34" charset="0"/>
            </a:endParaRPr>
          </a:p>
          <a:p>
            <a:pPr>
              <a:buFont typeface="Wingdings" pitchFamily="2" charset="2"/>
              <a:buChar char="§"/>
            </a:pPr>
            <a:r>
              <a:rPr lang="en-US" sz="2600" dirty="0" smtClean="0">
                <a:latin typeface="Arial" pitchFamily="34" charset="0"/>
                <a:cs typeface="Arial" pitchFamily="34" charset="0"/>
              </a:rPr>
              <a:t>Sentiment classification is a way to </a:t>
            </a:r>
            <a:r>
              <a:rPr lang="en-US" sz="2600" dirty="0" smtClean="0">
                <a:latin typeface="Arial" pitchFamily="34" charset="0"/>
                <a:cs typeface="Arial" pitchFamily="34" charset="0"/>
              </a:rPr>
              <a:t>analyze </a:t>
            </a:r>
            <a:r>
              <a:rPr lang="en-US" sz="2600" dirty="0" smtClean="0">
                <a:latin typeface="Arial" pitchFamily="34" charset="0"/>
                <a:cs typeface="Arial" pitchFamily="34" charset="0"/>
              </a:rPr>
              <a:t>the subjective information in the text and then determine the opinion. Sentiment analysis is the procedure by which information is extracted from the opinions, appraisals and emotions of people in regards to entities, events and their attributes.  </a:t>
            </a:r>
          </a:p>
        </p:txBody>
      </p:sp>
    </p:spTree>
    <p:extLst>
      <p:ext uri="{BB962C8B-B14F-4D97-AF65-F5344CB8AC3E}">
        <p14:creationId xmlns:p14="http://schemas.microsoft.com/office/powerpoint/2010/main" val="2619690867"/>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4769" y="814754"/>
            <a:ext cx="10972800" cy="1066800"/>
          </a:xfrm>
        </p:spPr>
        <p:txBody>
          <a:bodyPr/>
          <a:lstStyle/>
          <a:p>
            <a:r>
              <a:rPr lang="en-US" b="1" dirty="0" smtClean="0">
                <a:solidFill>
                  <a:schemeClr val="accent6"/>
                </a:solidFill>
                <a:latin typeface="Arial" pitchFamily="34" charset="0"/>
                <a:cs typeface="Arial" pitchFamily="34" charset="0"/>
              </a:rPr>
              <a:t>Objective</a:t>
            </a:r>
            <a:r>
              <a:rPr lang="en-US" b="1" dirty="0" smtClean="0">
                <a:latin typeface="Algerian" panose="04020705040A02060702" pitchFamily="82" charset="0"/>
              </a:rPr>
              <a:t> </a:t>
            </a:r>
            <a:endParaRPr lang="en-IN" b="1" dirty="0"/>
          </a:p>
        </p:txBody>
      </p:sp>
      <p:sp>
        <p:nvSpPr>
          <p:cNvPr id="3" name="Content Placeholder 2"/>
          <p:cNvSpPr>
            <a:spLocks noGrp="1"/>
          </p:cNvSpPr>
          <p:nvPr>
            <p:ph idx="1"/>
          </p:nvPr>
        </p:nvSpPr>
        <p:spPr>
          <a:xfrm>
            <a:off x="492370" y="1780501"/>
            <a:ext cx="10972800" cy="4325112"/>
          </a:xfrm>
        </p:spPr>
        <p:txBody>
          <a:bodyPr/>
          <a:lstStyle/>
          <a:p>
            <a:pPr marL="109728" indent="0">
              <a:buNone/>
            </a:pPr>
            <a:endParaRPr lang="en-US" dirty="0" smtClean="0"/>
          </a:p>
          <a:p>
            <a:pPr>
              <a:buFont typeface="Wingdings" pitchFamily="2" charset="2"/>
              <a:buChar char="§"/>
            </a:pPr>
            <a:r>
              <a:rPr lang="en-US" dirty="0" smtClean="0"/>
              <a:t>The objective of this project is to show how sentimental analysis can be used to recognize user’s mood or emotion using tweets which has been extracted in real time. </a:t>
            </a:r>
          </a:p>
          <a:p>
            <a:pPr>
              <a:buFont typeface="Wingdings" pitchFamily="2" charset="2"/>
              <a:buChar char="§"/>
            </a:pPr>
            <a:endParaRPr lang="en-US" dirty="0" smtClean="0"/>
          </a:p>
          <a:p>
            <a:pPr>
              <a:buFont typeface="Wingdings" pitchFamily="2" charset="2"/>
              <a:buChar char="§"/>
            </a:pPr>
            <a:r>
              <a:rPr lang="en-US" dirty="0" smtClean="0"/>
              <a:t>The learning algorithm will then learn what our emotions are from statistical data then determine the emotion</a:t>
            </a:r>
          </a:p>
          <a:p>
            <a:pPr marL="0" indent="0">
              <a:buNone/>
            </a:pPr>
            <a:endParaRPr lang="en-IN" dirty="0"/>
          </a:p>
        </p:txBody>
      </p:sp>
    </p:spTree>
    <p:extLst>
      <p:ext uri="{BB962C8B-B14F-4D97-AF65-F5344CB8AC3E}">
        <p14:creationId xmlns:p14="http://schemas.microsoft.com/office/powerpoint/2010/main" val="368722234"/>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739" y="744416"/>
            <a:ext cx="10972800" cy="1066800"/>
          </a:xfrm>
        </p:spPr>
        <p:txBody>
          <a:bodyPr/>
          <a:lstStyle/>
          <a:p>
            <a:r>
              <a:rPr lang="en-US" b="1" dirty="0" smtClean="0">
                <a:solidFill>
                  <a:schemeClr val="accent6"/>
                </a:solidFill>
                <a:latin typeface="Arial" pitchFamily="34" charset="0"/>
                <a:cs typeface="Arial" pitchFamily="34" charset="0"/>
              </a:rPr>
              <a:t>Scope and Motivation </a:t>
            </a:r>
            <a:endParaRPr lang="en-IN"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422031" y="1979792"/>
            <a:ext cx="11441722" cy="4585131"/>
          </a:xfrm>
        </p:spPr>
        <p:txBody>
          <a:bodyPr>
            <a:normAutofit fontScale="32500" lnSpcReduction="20000"/>
          </a:bodyPr>
          <a:lstStyle/>
          <a:p>
            <a:pPr marL="0" indent="0">
              <a:buNone/>
            </a:pPr>
            <a:endParaRPr lang="en-US" dirty="0" smtClean="0"/>
          </a:p>
          <a:p>
            <a:pPr marL="0" indent="0">
              <a:buNone/>
            </a:pPr>
            <a:r>
              <a:rPr lang="en-US" sz="6400" dirty="0" smtClean="0">
                <a:latin typeface="Arial" pitchFamily="34" charset="0"/>
                <a:cs typeface="Arial" pitchFamily="34" charset="0"/>
              </a:rPr>
              <a:t>We have chosen to work with twitter since we feel it is a better approximation of public </a:t>
            </a:r>
          </a:p>
          <a:p>
            <a:pPr marL="0" indent="0">
              <a:buNone/>
            </a:pPr>
            <a:r>
              <a:rPr lang="en-US" sz="6400" dirty="0" smtClean="0">
                <a:latin typeface="Arial" pitchFamily="34" charset="0"/>
                <a:cs typeface="Arial" pitchFamily="34" charset="0"/>
              </a:rPr>
              <a:t>sentiment as opposed to conventional internet articles and web blogs. The reason is that the </a:t>
            </a:r>
            <a:r>
              <a:rPr lang="en-US" sz="6400" dirty="0" smtClean="0">
                <a:latin typeface="Arial" pitchFamily="34" charset="0"/>
                <a:cs typeface="Arial" pitchFamily="34" charset="0"/>
              </a:rPr>
              <a:t>amount </a:t>
            </a:r>
            <a:r>
              <a:rPr lang="en-US" sz="6400" dirty="0" smtClean="0">
                <a:latin typeface="Arial" pitchFamily="34" charset="0"/>
                <a:cs typeface="Arial" pitchFamily="34" charset="0"/>
              </a:rPr>
              <a:t>of relevant data is much larger for twitter, as compared to traditional blogging sites. </a:t>
            </a:r>
            <a:endParaRPr lang="en-US" sz="6400" dirty="0" smtClean="0">
              <a:latin typeface="Arial" pitchFamily="34" charset="0"/>
              <a:cs typeface="Arial" pitchFamily="34" charset="0"/>
            </a:endParaRPr>
          </a:p>
          <a:p>
            <a:pPr marL="0" indent="0">
              <a:buNone/>
            </a:pPr>
            <a:endParaRPr lang="en-US" sz="6400" dirty="0" smtClean="0">
              <a:latin typeface="Arial" pitchFamily="34" charset="0"/>
              <a:cs typeface="Arial" pitchFamily="34" charset="0"/>
            </a:endParaRPr>
          </a:p>
          <a:p>
            <a:pPr marL="0" indent="0">
              <a:buNone/>
            </a:pPr>
            <a:r>
              <a:rPr lang="en-US" sz="6400" dirty="0" smtClean="0">
                <a:latin typeface="Arial" pitchFamily="34" charset="0"/>
                <a:cs typeface="Arial" pitchFamily="34" charset="0"/>
              </a:rPr>
              <a:t>Moreover, the response on twitter is more prompt and also more general (since the number of </a:t>
            </a:r>
            <a:r>
              <a:rPr lang="en-US" sz="6400" dirty="0" smtClean="0">
                <a:latin typeface="Arial" pitchFamily="34" charset="0"/>
                <a:cs typeface="Arial" pitchFamily="34" charset="0"/>
              </a:rPr>
              <a:t>users </a:t>
            </a:r>
            <a:r>
              <a:rPr lang="en-US" sz="6400" dirty="0" smtClean="0">
                <a:latin typeface="Arial" pitchFamily="34" charset="0"/>
                <a:cs typeface="Arial" pitchFamily="34" charset="0"/>
              </a:rPr>
              <a:t>who tweet is substantially more than those who write web blogs on a daily basis). </a:t>
            </a:r>
            <a:endParaRPr lang="en-US" sz="6400" dirty="0" smtClean="0">
              <a:latin typeface="Arial" pitchFamily="34" charset="0"/>
              <a:cs typeface="Arial" pitchFamily="34" charset="0"/>
            </a:endParaRPr>
          </a:p>
          <a:p>
            <a:pPr marL="0" indent="0">
              <a:buNone/>
            </a:pPr>
            <a:endParaRPr lang="en-US" sz="6400" dirty="0">
              <a:latin typeface="Arial" pitchFamily="34" charset="0"/>
              <a:cs typeface="Arial" pitchFamily="34" charset="0"/>
            </a:endParaRPr>
          </a:p>
          <a:p>
            <a:pPr marL="0" indent="0">
              <a:buNone/>
            </a:pPr>
            <a:r>
              <a:rPr lang="en-US" sz="6400" dirty="0" smtClean="0">
                <a:latin typeface="Arial" pitchFamily="34" charset="0"/>
                <a:cs typeface="Arial" pitchFamily="34" charset="0"/>
              </a:rPr>
              <a:t>This could </a:t>
            </a:r>
            <a:r>
              <a:rPr lang="en-US" sz="6400" dirty="0" smtClean="0">
                <a:latin typeface="Arial" pitchFamily="34" charset="0"/>
                <a:cs typeface="Arial" pitchFamily="34" charset="0"/>
              </a:rPr>
              <a:t>be done by </a:t>
            </a:r>
            <a:r>
              <a:rPr lang="en-US" sz="6400" dirty="0" smtClean="0">
                <a:latin typeface="Arial" pitchFamily="34" charset="0"/>
                <a:cs typeface="Arial" pitchFamily="34" charset="0"/>
              </a:rPr>
              <a:t>analyzing </a:t>
            </a:r>
            <a:r>
              <a:rPr lang="en-US" sz="6400" dirty="0" smtClean="0">
                <a:latin typeface="Arial" pitchFamily="34" charset="0"/>
                <a:cs typeface="Arial" pitchFamily="34" charset="0"/>
              </a:rPr>
              <a:t>overall public sentiment towards that firm with respect to time and </a:t>
            </a:r>
            <a:r>
              <a:rPr lang="en-US" sz="6400" dirty="0" smtClean="0">
                <a:latin typeface="Arial" pitchFamily="34" charset="0"/>
                <a:cs typeface="Arial" pitchFamily="34" charset="0"/>
              </a:rPr>
              <a:t>using </a:t>
            </a:r>
            <a:r>
              <a:rPr lang="en-US" sz="6400" dirty="0" smtClean="0">
                <a:latin typeface="Arial" pitchFamily="34" charset="0"/>
                <a:cs typeface="Arial" pitchFamily="34" charset="0"/>
              </a:rPr>
              <a:t>economics tools for finding </a:t>
            </a:r>
            <a:r>
              <a:rPr lang="en-US" sz="6400" dirty="0" smtClean="0">
                <a:latin typeface="Arial" pitchFamily="34" charset="0"/>
                <a:cs typeface="Arial" pitchFamily="34" charset="0"/>
              </a:rPr>
              <a:t>the public sentiment. </a:t>
            </a:r>
          </a:p>
          <a:p>
            <a:pPr marL="0" indent="0">
              <a:buNone/>
            </a:pPr>
            <a:endParaRPr lang="en-US" sz="6400" dirty="0">
              <a:latin typeface="Arial" pitchFamily="34" charset="0"/>
              <a:cs typeface="Arial" pitchFamily="34" charset="0"/>
            </a:endParaRPr>
          </a:p>
          <a:p>
            <a:pPr marL="0" indent="0">
              <a:buNone/>
            </a:pPr>
            <a:r>
              <a:rPr lang="en-US" sz="6400" dirty="0" smtClean="0">
                <a:latin typeface="Arial" pitchFamily="34" charset="0"/>
                <a:cs typeface="Arial" pitchFamily="34" charset="0"/>
              </a:rPr>
              <a:t>Firms </a:t>
            </a:r>
            <a:r>
              <a:rPr lang="en-US" sz="6400" dirty="0" smtClean="0">
                <a:latin typeface="Arial" pitchFamily="34" charset="0"/>
                <a:cs typeface="Arial" pitchFamily="34" charset="0"/>
              </a:rPr>
              <a:t>can also estimate how well their </a:t>
            </a:r>
            <a:r>
              <a:rPr lang="en-US" sz="6400" dirty="0" smtClean="0">
                <a:latin typeface="Arial" pitchFamily="34" charset="0"/>
                <a:cs typeface="Arial" pitchFamily="34" charset="0"/>
              </a:rPr>
              <a:t>product </a:t>
            </a:r>
            <a:r>
              <a:rPr lang="en-US" sz="6400" dirty="0" smtClean="0">
                <a:latin typeface="Arial" pitchFamily="34" charset="0"/>
                <a:cs typeface="Arial" pitchFamily="34" charset="0"/>
              </a:rPr>
              <a:t>is responding in the market, which areas of the market is it having a </a:t>
            </a:r>
            <a:r>
              <a:rPr lang="en-US" sz="6400" dirty="0" smtClean="0">
                <a:latin typeface="Arial" pitchFamily="34" charset="0"/>
                <a:cs typeface="Arial" pitchFamily="34" charset="0"/>
              </a:rPr>
              <a:t>favorable response </a:t>
            </a:r>
            <a:r>
              <a:rPr lang="en-US" sz="6400" dirty="0" smtClean="0">
                <a:latin typeface="Arial" pitchFamily="34" charset="0"/>
                <a:cs typeface="Arial" pitchFamily="34" charset="0"/>
              </a:rPr>
              <a:t>and in which a negative response.</a:t>
            </a:r>
            <a:endParaRPr lang="en-IN" sz="6400" dirty="0">
              <a:latin typeface="Arial" pitchFamily="34" charset="0"/>
              <a:cs typeface="Arial" pitchFamily="34" charset="0"/>
            </a:endParaRPr>
          </a:p>
        </p:txBody>
      </p:sp>
    </p:spTree>
    <p:extLst>
      <p:ext uri="{BB962C8B-B14F-4D97-AF65-F5344CB8AC3E}">
        <p14:creationId xmlns:p14="http://schemas.microsoft.com/office/powerpoint/2010/main" val="33489058"/>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969" y="674077"/>
            <a:ext cx="10972800" cy="1066800"/>
          </a:xfrm>
        </p:spPr>
        <p:txBody>
          <a:bodyPr/>
          <a:lstStyle/>
          <a:p>
            <a:r>
              <a:rPr lang="en-US" b="1" dirty="0" smtClean="0">
                <a:solidFill>
                  <a:schemeClr val="accent6"/>
                </a:solidFill>
                <a:latin typeface="Arial" pitchFamily="34" charset="0"/>
                <a:cs typeface="Arial" pitchFamily="34" charset="0"/>
              </a:rPr>
              <a:t>LITRETURE REVIEW </a:t>
            </a:r>
            <a:endParaRPr lang="en-IN"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644770" y="2143917"/>
            <a:ext cx="10972800" cy="4325112"/>
          </a:xfrm>
        </p:spPr>
        <p:txBody>
          <a:bodyPr>
            <a:normAutofit/>
          </a:bodyPr>
          <a:lstStyle/>
          <a:p>
            <a:r>
              <a:rPr lang="en-US" sz="2400" b="1" dirty="0" smtClean="0"/>
              <a:t>Author</a:t>
            </a:r>
            <a:r>
              <a:rPr lang="en-US" sz="2400" dirty="0" smtClean="0"/>
              <a:t> : </a:t>
            </a:r>
            <a:r>
              <a:rPr lang="en-US" sz="2400" dirty="0" err="1" smtClean="0"/>
              <a:t>Sameesksha</a:t>
            </a:r>
            <a:r>
              <a:rPr lang="en-US" sz="2400" dirty="0" smtClean="0"/>
              <a:t> </a:t>
            </a:r>
            <a:r>
              <a:rPr lang="en-US" sz="2400" dirty="0" err="1" smtClean="0"/>
              <a:t>Shrivastava</a:t>
            </a:r>
            <a:r>
              <a:rPr lang="en-US" sz="2400" dirty="0" smtClean="0"/>
              <a:t>, Dr. </a:t>
            </a:r>
            <a:r>
              <a:rPr lang="en-US" sz="2400" dirty="0" err="1" smtClean="0"/>
              <a:t>Pramod</a:t>
            </a:r>
            <a:r>
              <a:rPr lang="en-US" sz="2400" dirty="0" smtClean="0"/>
              <a:t> S. Nair </a:t>
            </a:r>
            <a:endParaRPr lang="en-US" sz="2400" dirty="0" smtClean="0"/>
          </a:p>
          <a:p>
            <a:pPr marL="109728" indent="0">
              <a:buNone/>
            </a:pPr>
            <a:endParaRPr lang="en-US" sz="2400" dirty="0" smtClean="0"/>
          </a:p>
          <a:p>
            <a:r>
              <a:rPr lang="en-US" sz="2400" b="1" dirty="0" smtClean="0"/>
              <a:t>Topic</a:t>
            </a:r>
            <a:r>
              <a:rPr lang="en-US" sz="2400" dirty="0" smtClean="0"/>
              <a:t> </a:t>
            </a:r>
            <a:r>
              <a:rPr lang="en-US" sz="2400" dirty="0" smtClean="0"/>
              <a:t>:Mood Prediction on Tweets Using Classification </a:t>
            </a:r>
            <a:r>
              <a:rPr lang="en-US" sz="2400" dirty="0" smtClean="0"/>
              <a:t>Algorithm</a:t>
            </a:r>
          </a:p>
          <a:p>
            <a:pPr marL="109728" indent="0">
              <a:buNone/>
            </a:pPr>
            <a:r>
              <a:rPr lang="en-US" sz="2400" dirty="0" smtClean="0"/>
              <a:t> </a:t>
            </a:r>
            <a:endParaRPr lang="en-US" sz="2400" dirty="0" smtClean="0"/>
          </a:p>
          <a:p>
            <a:r>
              <a:rPr lang="en-US" sz="2400" b="1" dirty="0" smtClean="0"/>
              <a:t>Abstract</a:t>
            </a:r>
            <a:r>
              <a:rPr lang="en-US" sz="2400" dirty="0" smtClean="0"/>
              <a:t> </a:t>
            </a:r>
            <a:r>
              <a:rPr lang="en-US" sz="2400" dirty="0" smtClean="0"/>
              <a:t>:In this the authors uses identified twitter data set which is used to perform text analysis. Therefore, the entire input data samples are required to classify in two classes namely positive and negative. Therefore, in this paper a binary classifier namely ID3 decision tree and their improved variant is utilized for analysis and performing the classification task</a:t>
            </a:r>
            <a:endParaRPr lang="en-IN" sz="2400" dirty="0" smtClean="0"/>
          </a:p>
        </p:txBody>
      </p:sp>
    </p:spTree>
    <p:extLst>
      <p:ext uri="{BB962C8B-B14F-4D97-AF65-F5344CB8AC3E}">
        <p14:creationId xmlns:p14="http://schemas.microsoft.com/office/powerpoint/2010/main" val="3513834568"/>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970" y="615462"/>
            <a:ext cx="10972800" cy="1066800"/>
          </a:xfrm>
        </p:spPr>
        <p:txBody>
          <a:bodyPr/>
          <a:lstStyle/>
          <a:p>
            <a:r>
              <a:rPr lang="en-US" b="1" dirty="0" smtClean="0">
                <a:solidFill>
                  <a:schemeClr val="accent6"/>
                </a:solidFill>
                <a:latin typeface="Arial" pitchFamily="34" charset="0"/>
                <a:cs typeface="Arial" pitchFamily="34" charset="0"/>
              </a:rPr>
              <a:t>LITRETURE REVIEW </a:t>
            </a:r>
            <a:endParaRPr lang="en-IN"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515816" y="1652954"/>
            <a:ext cx="10972800" cy="4710567"/>
          </a:xfrm>
        </p:spPr>
        <p:txBody>
          <a:bodyPr>
            <a:normAutofit/>
          </a:bodyPr>
          <a:lstStyle/>
          <a:p>
            <a:r>
              <a:rPr lang="en-US" sz="2400" b="1" dirty="0" smtClean="0">
                <a:latin typeface="Arial" pitchFamily="34" charset="0"/>
                <a:cs typeface="Arial" pitchFamily="34" charset="0"/>
              </a:rPr>
              <a:t>Year : </a:t>
            </a:r>
            <a:r>
              <a:rPr lang="en-US" sz="2400" dirty="0" smtClean="0">
                <a:latin typeface="Arial" pitchFamily="34" charset="0"/>
                <a:cs typeface="Arial" pitchFamily="34" charset="0"/>
              </a:rPr>
              <a:t>2015 </a:t>
            </a:r>
          </a:p>
          <a:p>
            <a:pPr marL="109728" indent="0">
              <a:buNone/>
            </a:pPr>
            <a:endParaRPr lang="en-US" sz="2400" dirty="0" smtClean="0">
              <a:latin typeface="Arial" pitchFamily="34" charset="0"/>
              <a:cs typeface="Arial" pitchFamily="34" charset="0"/>
            </a:endParaRPr>
          </a:p>
          <a:p>
            <a:r>
              <a:rPr lang="en-US" sz="2400" b="1" dirty="0" smtClean="0">
                <a:latin typeface="Arial" pitchFamily="34" charset="0"/>
                <a:cs typeface="Arial" pitchFamily="34" charset="0"/>
              </a:rPr>
              <a:t>Author : </a:t>
            </a:r>
            <a:r>
              <a:rPr lang="en-US" sz="2400" dirty="0" smtClean="0">
                <a:latin typeface="Arial" pitchFamily="34" charset="0"/>
                <a:cs typeface="Arial" pitchFamily="34" charset="0"/>
              </a:rPr>
              <a:t>Brett </a:t>
            </a:r>
            <a:r>
              <a:rPr lang="en-US" sz="2400" dirty="0" smtClean="0">
                <a:latin typeface="Arial" pitchFamily="34" charset="0"/>
                <a:cs typeface="Arial" pitchFamily="34" charset="0"/>
              </a:rPr>
              <a:t>Duncan and Yanqing Zhang </a:t>
            </a:r>
            <a:endParaRPr lang="en-US" sz="2400" dirty="0" smtClean="0">
              <a:latin typeface="Arial" pitchFamily="34" charset="0"/>
              <a:cs typeface="Arial" pitchFamily="34" charset="0"/>
            </a:endParaRPr>
          </a:p>
          <a:p>
            <a:pPr marL="109728" indent="0">
              <a:buNone/>
            </a:pPr>
            <a:endParaRPr lang="en-US" sz="2400" dirty="0" smtClean="0">
              <a:latin typeface="Arial" pitchFamily="34" charset="0"/>
              <a:cs typeface="Arial" pitchFamily="34" charset="0"/>
            </a:endParaRPr>
          </a:p>
          <a:p>
            <a:r>
              <a:rPr lang="en-US" sz="2400" b="1" dirty="0" smtClean="0">
                <a:latin typeface="Arial" pitchFamily="34" charset="0"/>
                <a:cs typeface="Arial" pitchFamily="34" charset="0"/>
              </a:rPr>
              <a:t>Topic : </a:t>
            </a:r>
            <a:r>
              <a:rPr lang="en-US" sz="2400" dirty="0" smtClean="0">
                <a:latin typeface="Arial" pitchFamily="34" charset="0"/>
                <a:cs typeface="Arial" pitchFamily="34" charset="0"/>
              </a:rPr>
              <a:t>Neural </a:t>
            </a:r>
            <a:r>
              <a:rPr lang="en-US" sz="2400" dirty="0" smtClean="0">
                <a:latin typeface="Arial" pitchFamily="34" charset="0"/>
                <a:cs typeface="Arial" pitchFamily="34" charset="0"/>
              </a:rPr>
              <a:t>Networks for Sentiment Analysis on Twitter </a:t>
            </a:r>
            <a:endParaRPr lang="en-US" sz="2400" dirty="0" smtClean="0">
              <a:latin typeface="Arial" pitchFamily="34" charset="0"/>
              <a:cs typeface="Arial" pitchFamily="34" charset="0"/>
            </a:endParaRPr>
          </a:p>
          <a:p>
            <a:pPr marL="109728" indent="0">
              <a:buNone/>
            </a:pPr>
            <a:endParaRPr lang="en-US" sz="2400" dirty="0" smtClean="0">
              <a:latin typeface="Arial" pitchFamily="34" charset="0"/>
              <a:cs typeface="Arial" pitchFamily="34" charset="0"/>
            </a:endParaRPr>
          </a:p>
          <a:p>
            <a:r>
              <a:rPr lang="en-US" sz="2400" b="1" dirty="0" smtClean="0">
                <a:latin typeface="Arial" pitchFamily="34" charset="0"/>
                <a:cs typeface="Arial" pitchFamily="34" charset="0"/>
              </a:rPr>
              <a:t>Abstract: </a:t>
            </a:r>
            <a:r>
              <a:rPr lang="en-US" sz="2400" dirty="0" smtClean="0">
                <a:latin typeface="Arial" pitchFamily="34" charset="0"/>
                <a:cs typeface="Arial" pitchFamily="34" charset="0"/>
              </a:rPr>
              <a:t>Sentiment </a:t>
            </a:r>
            <a:r>
              <a:rPr lang="en-US" sz="2400" dirty="0" smtClean="0">
                <a:latin typeface="Arial" pitchFamily="34" charset="0"/>
                <a:cs typeface="Arial" pitchFamily="34" charset="0"/>
              </a:rPr>
              <a:t>analysis can be used to find out the polarity of an opinion, such as positive, negative, or neutral. Sentiment analysis has applications such as companies getting their customer's opinions on their products, political sentiment analysis, or opinions on movie reviews. In this paper, a feedforward Neural Network is used to classify the text as being positive, negative, or neutral. </a:t>
            </a:r>
          </a:p>
          <a:p>
            <a:pPr marL="0" indent="0">
              <a:buNone/>
            </a:pPr>
            <a:endParaRPr lang="en-IN" dirty="0"/>
          </a:p>
        </p:txBody>
      </p:sp>
    </p:spTree>
    <p:extLst>
      <p:ext uri="{BB962C8B-B14F-4D97-AF65-F5344CB8AC3E}">
        <p14:creationId xmlns:p14="http://schemas.microsoft.com/office/powerpoint/2010/main" val="811339030"/>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584" y="709246"/>
            <a:ext cx="10972800" cy="1066800"/>
          </a:xfrm>
        </p:spPr>
        <p:txBody>
          <a:bodyPr/>
          <a:lstStyle/>
          <a:p>
            <a:r>
              <a:rPr lang="en-US" b="1" dirty="0" smtClean="0">
                <a:solidFill>
                  <a:schemeClr val="accent6"/>
                </a:solidFill>
                <a:latin typeface="Arial" pitchFamily="34" charset="0"/>
                <a:cs typeface="Arial" pitchFamily="34" charset="0"/>
              </a:rPr>
              <a:t>LITRETURE REVIEW </a:t>
            </a:r>
            <a:endParaRPr lang="en-IN"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609600" y="1828800"/>
            <a:ext cx="10972800" cy="4745736"/>
          </a:xfrm>
        </p:spPr>
        <p:txBody>
          <a:bodyPr>
            <a:normAutofit fontScale="92500" lnSpcReduction="10000"/>
          </a:bodyPr>
          <a:lstStyle/>
          <a:p>
            <a:r>
              <a:rPr lang="en-US" sz="2600" b="1" dirty="0" smtClean="0">
                <a:latin typeface="Arial" pitchFamily="34" charset="0"/>
                <a:cs typeface="Arial" pitchFamily="34" charset="0"/>
              </a:rPr>
              <a:t>Year : </a:t>
            </a:r>
            <a:r>
              <a:rPr lang="en-US" sz="2600" dirty="0" smtClean="0">
                <a:latin typeface="Arial" pitchFamily="34" charset="0"/>
                <a:cs typeface="Arial" pitchFamily="34" charset="0"/>
              </a:rPr>
              <a:t>2015 </a:t>
            </a:r>
          </a:p>
          <a:p>
            <a:pPr marL="109728" indent="0">
              <a:buNone/>
            </a:pPr>
            <a:endParaRPr lang="en-US" sz="2600" dirty="0" smtClean="0">
              <a:latin typeface="Arial" pitchFamily="34" charset="0"/>
              <a:cs typeface="Arial" pitchFamily="34" charset="0"/>
            </a:endParaRPr>
          </a:p>
          <a:p>
            <a:r>
              <a:rPr lang="en-US" sz="2600" b="1" dirty="0" smtClean="0">
                <a:latin typeface="Arial" pitchFamily="34" charset="0"/>
                <a:cs typeface="Arial" pitchFamily="34" charset="0"/>
              </a:rPr>
              <a:t>Author : </a:t>
            </a:r>
            <a:r>
              <a:rPr lang="en-US" sz="2600" dirty="0" err="1" smtClean="0">
                <a:latin typeface="Arial" pitchFamily="34" charset="0"/>
                <a:cs typeface="Arial" pitchFamily="34" charset="0"/>
              </a:rPr>
              <a:t>Akshi</a:t>
            </a:r>
            <a:r>
              <a:rPr lang="en-US" sz="2600" dirty="0" smtClean="0">
                <a:latin typeface="Arial" pitchFamily="34" charset="0"/>
                <a:cs typeface="Arial" pitchFamily="34" charset="0"/>
              </a:rPr>
              <a:t> </a:t>
            </a:r>
            <a:r>
              <a:rPr lang="en-US" sz="2600" dirty="0" smtClean="0">
                <a:latin typeface="Arial" pitchFamily="34" charset="0"/>
                <a:cs typeface="Arial" pitchFamily="34" charset="0"/>
              </a:rPr>
              <a:t>Kumar, </a:t>
            </a:r>
            <a:r>
              <a:rPr lang="en-US" sz="2600" dirty="0" err="1" smtClean="0">
                <a:latin typeface="Arial" pitchFamily="34" charset="0"/>
                <a:cs typeface="Arial" pitchFamily="34" charset="0"/>
              </a:rPr>
              <a:t>Prakhar</a:t>
            </a:r>
            <a:r>
              <a:rPr lang="en-US" sz="2600" dirty="0" smtClean="0">
                <a:latin typeface="Arial" pitchFamily="34" charset="0"/>
                <a:cs typeface="Arial" pitchFamily="34" charset="0"/>
              </a:rPr>
              <a:t> Dogra and Vikrant </a:t>
            </a:r>
            <a:r>
              <a:rPr lang="en-US" sz="2600" dirty="0" err="1" smtClean="0">
                <a:latin typeface="Arial" pitchFamily="34" charset="0"/>
                <a:cs typeface="Arial" pitchFamily="34" charset="0"/>
              </a:rPr>
              <a:t>Dabas</a:t>
            </a:r>
            <a:r>
              <a:rPr lang="en-US" sz="2600" dirty="0" smtClean="0">
                <a:latin typeface="Arial" pitchFamily="34" charset="0"/>
                <a:cs typeface="Arial" pitchFamily="34" charset="0"/>
              </a:rPr>
              <a:t> </a:t>
            </a:r>
            <a:endParaRPr lang="en-US" sz="2600" dirty="0" smtClean="0">
              <a:latin typeface="Arial" pitchFamily="34" charset="0"/>
              <a:cs typeface="Arial" pitchFamily="34" charset="0"/>
            </a:endParaRPr>
          </a:p>
          <a:p>
            <a:pPr marL="109728" indent="0">
              <a:buNone/>
            </a:pPr>
            <a:endParaRPr lang="en-US" sz="2600" dirty="0" smtClean="0">
              <a:latin typeface="Arial" pitchFamily="34" charset="0"/>
              <a:cs typeface="Arial" pitchFamily="34" charset="0"/>
            </a:endParaRPr>
          </a:p>
          <a:p>
            <a:r>
              <a:rPr lang="en-US" sz="2600" b="1" dirty="0" smtClean="0">
                <a:latin typeface="Arial" pitchFamily="34" charset="0"/>
                <a:cs typeface="Arial" pitchFamily="34" charset="0"/>
              </a:rPr>
              <a:t>Topic : </a:t>
            </a:r>
            <a:r>
              <a:rPr lang="en-US" sz="2600" dirty="0" smtClean="0">
                <a:latin typeface="Arial" pitchFamily="34" charset="0"/>
                <a:cs typeface="Arial" pitchFamily="34" charset="0"/>
              </a:rPr>
              <a:t>Emotion </a:t>
            </a:r>
            <a:r>
              <a:rPr lang="en-US" sz="2600" dirty="0" smtClean="0">
                <a:latin typeface="Arial" pitchFamily="34" charset="0"/>
                <a:cs typeface="Arial" pitchFamily="34" charset="0"/>
              </a:rPr>
              <a:t>Analysis of Twitter using Opinion Mining </a:t>
            </a:r>
            <a:endParaRPr lang="en-US" sz="2600" dirty="0" smtClean="0">
              <a:latin typeface="Arial" pitchFamily="34" charset="0"/>
              <a:cs typeface="Arial" pitchFamily="34" charset="0"/>
            </a:endParaRPr>
          </a:p>
          <a:p>
            <a:pPr marL="109728" indent="0">
              <a:buNone/>
            </a:pPr>
            <a:endParaRPr lang="en-US" sz="2600" dirty="0" smtClean="0">
              <a:latin typeface="Arial" pitchFamily="34" charset="0"/>
              <a:cs typeface="Arial" pitchFamily="34" charset="0"/>
            </a:endParaRPr>
          </a:p>
          <a:p>
            <a:r>
              <a:rPr lang="en-US" sz="2600" b="1" dirty="0" smtClean="0">
                <a:latin typeface="Arial" pitchFamily="34" charset="0"/>
                <a:cs typeface="Arial" pitchFamily="34" charset="0"/>
              </a:rPr>
              <a:t>Abstract : </a:t>
            </a:r>
            <a:r>
              <a:rPr lang="en-US" sz="2600" dirty="0" smtClean="0">
                <a:latin typeface="Arial" pitchFamily="34" charset="0"/>
                <a:cs typeface="Arial" pitchFamily="34" charset="0"/>
              </a:rPr>
              <a:t>In </a:t>
            </a:r>
            <a:r>
              <a:rPr lang="en-US" sz="2600" dirty="0" smtClean="0">
                <a:latin typeface="Arial" pitchFamily="34" charset="0"/>
                <a:cs typeface="Arial" pitchFamily="34" charset="0"/>
              </a:rPr>
              <a:t>this author intend to categorize the opinion on the basis of five emotions, namely Happiness, Anger, Fear, Sadness &amp; Disgust, which have been globally accepted &amp; defined in human psychology. A two-step approach is proposed, to identify the sentiment; extract the opinion words (a combination of the adjectives along with the verbs and adverbs) in the tweets and subsequently use a novel algorithm to find the emotion values of opinion words. </a:t>
            </a:r>
            <a:endParaRPr lang="en-IN" sz="2600" dirty="0" smtClean="0">
              <a:latin typeface="Arial" pitchFamily="34" charset="0"/>
              <a:cs typeface="Arial" pitchFamily="34" charset="0"/>
            </a:endParaRPr>
          </a:p>
          <a:p>
            <a:endParaRPr lang="en-IN" dirty="0"/>
          </a:p>
        </p:txBody>
      </p:sp>
    </p:spTree>
    <p:extLst>
      <p:ext uri="{BB962C8B-B14F-4D97-AF65-F5344CB8AC3E}">
        <p14:creationId xmlns:p14="http://schemas.microsoft.com/office/powerpoint/2010/main" val="1794916890"/>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23" y="592016"/>
            <a:ext cx="10972800" cy="1066800"/>
          </a:xfrm>
        </p:spPr>
        <p:txBody>
          <a:bodyPr/>
          <a:lstStyle/>
          <a:p>
            <a:r>
              <a:rPr lang="en-US" b="1" dirty="0" smtClean="0">
                <a:solidFill>
                  <a:schemeClr val="accent6"/>
                </a:solidFill>
                <a:latin typeface="Arial" pitchFamily="34" charset="0"/>
                <a:cs typeface="Arial" pitchFamily="34" charset="0"/>
              </a:rPr>
              <a:t>PROPOSED SYSTEM </a:t>
            </a:r>
            <a:endParaRPr lang="en-IN" b="1" dirty="0">
              <a:solidFill>
                <a:schemeClr val="accent6"/>
              </a:solidFill>
              <a:latin typeface="Arial" pitchFamily="34" charset="0"/>
              <a:cs typeface="Arial"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1085" y="1647750"/>
            <a:ext cx="9136238" cy="4680895"/>
          </a:xfrm>
        </p:spPr>
      </p:pic>
    </p:spTree>
    <p:extLst>
      <p:ext uri="{BB962C8B-B14F-4D97-AF65-F5344CB8AC3E}">
        <p14:creationId xmlns:p14="http://schemas.microsoft.com/office/powerpoint/2010/main" val="4260470738"/>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431" y="720970"/>
            <a:ext cx="11176000" cy="1069848"/>
          </a:xfrm>
        </p:spPr>
        <p:txBody>
          <a:bodyPr/>
          <a:lstStyle/>
          <a:p>
            <a:r>
              <a:rPr lang="en-US" b="1" dirty="0" smtClean="0">
                <a:solidFill>
                  <a:schemeClr val="accent6"/>
                </a:solidFill>
                <a:latin typeface="Arial" pitchFamily="34" charset="0"/>
                <a:cs typeface="Arial" pitchFamily="34" charset="0"/>
              </a:rPr>
              <a:t>METHODS AND ALGORITHM </a:t>
            </a:r>
            <a:endParaRPr lang="en-IN" b="1" dirty="0">
              <a:solidFill>
                <a:schemeClr val="accent6"/>
              </a:solidFill>
              <a:latin typeface="Arial" pitchFamily="34" charset="0"/>
              <a:cs typeface="Arial" pitchFamily="34" charset="0"/>
            </a:endParaRPr>
          </a:p>
        </p:txBody>
      </p:sp>
      <p:sp>
        <p:nvSpPr>
          <p:cNvPr id="4" name="Content Placeholder 3"/>
          <p:cNvSpPr>
            <a:spLocks noGrp="1"/>
          </p:cNvSpPr>
          <p:nvPr>
            <p:ph sz="quarter" idx="2"/>
          </p:nvPr>
        </p:nvSpPr>
        <p:spPr>
          <a:xfrm>
            <a:off x="382588" y="1909376"/>
            <a:ext cx="5736858" cy="4116164"/>
          </a:xfrm>
        </p:spPr>
        <p:txBody>
          <a:bodyPr>
            <a:normAutofit/>
          </a:bodyPr>
          <a:lstStyle/>
          <a:p>
            <a:pPr>
              <a:buFont typeface="Wingdings" pitchFamily="2" charset="2"/>
              <a:buChar char="§"/>
            </a:pPr>
            <a:r>
              <a:rPr lang="en-US" sz="2200" dirty="0" smtClean="0">
                <a:latin typeface="Arial" pitchFamily="34" charset="0"/>
                <a:cs typeface="Arial" pitchFamily="34" charset="0"/>
              </a:rPr>
              <a:t>An </a:t>
            </a:r>
            <a:r>
              <a:rPr lang="en-US" sz="2200" b="1" dirty="0" smtClean="0">
                <a:latin typeface="Arial" pitchFamily="34" charset="0"/>
                <a:cs typeface="Arial" pitchFamily="34" charset="0"/>
              </a:rPr>
              <a:t>Artificial Neural Network </a:t>
            </a:r>
            <a:r>
              <a:rPr lang="en-US" sz="2200" dirty="0" smtClean="0">
                <a:latin typeface="Arial" pitchFamily="34" charset="0"/>
                <a:cs typeface="Arial" pitchFamily="34" charset="0"/>
              </a:rPr>
              <a:t>(</a:t>
            </a:r>
            <a:r>
              <a:rPr lang="en-US" sz="2200" b="1" dirty="0" smtClean="0">
                <a:latin typeface="Arial" pitchFamily="34" charset="0"/>
                <a:cs typeface="Arial" pitchFamily="34" charset="0"/>
              </a:rPr>
              <a:t>ANN</a:t>
            </a:r>
            <a:r>
              <a:rPr lang="en-US" sz="2200" dirty="0" smtClean="0">
                <a:latin typeface="Arial" pitchFamily="34" charset="0"/>
                <a:cs typeface="Arial" pitchFamily="34" charset="0"/>
              </a:rPr>
              <a:t>) is a computational model. It is based on the structure and functions of biological neural networks. It works like the way human brain processes information. It includes a large number of connected processing units that work together to process </a:t>
            </a:r>
            <a:r>
              <a:rPr lang="en-US" sz="2200" dirty="0" smtClean="0">
                <a:latin typeface="Arial" pitchFamily="34" charset="0"/>
                <a:cs typeface="Arial" pitchFamily="34" charset="0"/>
              </a:rPr>
              <a:t>information</a:t>
            </a:r>
          </a:p>
          <a:p>
            <a:pPr marL="109728" indent="0">
              <a:buNone/>
            </a:pPr>
            <a:endParaRPr lang="en-US" sz="2200" dirty="0" smtClean="0">
              <a:latin typeface="Arial" pitchFamily="34" charset="0"/>
              <a:cs typeface="Arial" pitchFamily="34" charset="0"/>
            </a:endParaRPr>
          </a:p>
          <a:p>
            <a:pPr>
              <a:buFont typeface="Wingdings" pitchFamily="2" charset="2"/>
              <a:buChar char="§"/>
            </a:pPr>
            <a:r>
              <a:rPr lang="en-US" sz="2200" dirty="0" smtClean="0">
                <a:latin typeface="Arial" pitchFamily="34" charset="0"/>
                <a:cs typeface="Arial" pitchFamily="34" charset="0"/>
              </a:rPr>
              <a:t>And Machine Learning Algorithms like Naïve Bayes. </a:t>
            </a:r>
            <a:endParaRPr lang="en-US" sz="2200" dirty="0" smtClean="0">
              <a:latin typeface="Arial" pitchFamily="34" charset="0"/>
              <a:cs typeface="Arial" pitchFamily="34" charset="0"/>
            </a:endParaRPr>
          </a:p>
          <a:p>
            <a:pPr marL="109728" indent="0">
              <a:buNone/>
            </a:pPr>
            <a:endParaRPr lang="en-IN" dirty="0"/>
          </a:p>
        </p:txBody>
      </p:sp>
      <p:pic>
        <p:nvPicPr>
          <p:cNvPr id="7" name="Content Placeholder 6"/>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611075" y="1726264"/>
            <a:ext cx="4657129" cy="3922981"/>
          </a:xfrm>
          <a:prstGeom prst="rect">
            <a:avLst/>
          </a:prstGeom>
        </p:spPr>
      </p:pic>
    </p:spTree>
    <p:extLst>
      <p:ext uri="{BB962C8B-B14F-4D97-AF65-F5344CB8AC3E}">
        <p14:creationId xmlns:p14="http://schemas.microsoft.com/office/powerpoint/2010/main" val="406599389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462" y="580293"/>
            <a:ext cx="10972800" cy="1066800"/>
          </a:xfrm>
        </p:spPr>
        <p:txBody>
          <a:bodyPr/>
          <a:lstStyle/>
          <a:p>
            <a:r>
              <a:rPr lang="en-US" b="1" dirty="0" smtClean="0">
                <a:solidFill>
                  <a:schemeClr val="accent6"/>
                </a:solidFill>
                <a:latin typeface="Arial" pitchFamily="34" charset="0"/>
                <a:cs typeface="Arial" pitchFamily="34" charset="0"/>
              </a:rPr>
              <a:t>Implementation Details</a:t>
            </a:r>
            <a:endParaRPr lang="en-IN" b="1" dirty="0">
              <a:solidFill>
                <a:schemeClr val="accent6"/>
              </a:solidFill>
              <a:latin typeface="Arial" pitchFamily="34" charset="0"/>
              <a:cs typeface="Arial" pitchFamily="34" charset="0"/>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5261" y="1687389"/>
            <a:ext cx="6916615" cy="48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0824162"/>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5"/>
                                        </p:tgtEl>
                                        <p:attrNameLst>
                                          <p:attrName>style.visibility</p:attrName>
                                        </p:attrNameLst>
                                      </p:cBhvr>
                                      <p:to>
                                        <p:strVal val="visible"/>
                                      </p:to>
                                    </p:set>
                                    <p:anim calcmode="lin" valueType="num">
                                      <p:cBhvr additive="base">
                                        <p:cTn id="13" dur="500" fill="hold"/>
                                        <p:tgtEl>
                                          <p:spTgt spid="3075"/>
                                        </p:tgtEl>
                                        <p:attrNameLst>
                                          <p:attrName>ppt_x</p:attrName>
                                        </p:attrNameLst>
                                      </p:cBhvr>
                                      <p:tavLst>
                                        <p:tav tm="0">
                                          <p:val>
                                            <p:strVal val="#ppt_x"/>
                                          </p:val>
                                        </p:tav>
                                        <p:tav tm="100000">
                                          <p:val>
                                            <p:strVal val="#ppt_x"/>
                                          </p:val>
                                        </p:tav>
                                      </p:tavLst>
                                    </p:anim>
                                    <p:anim calcmode="lin" valueType="num">
                                      <p:cBhvr additive="base">
                                        <p:cTn id="14"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815" y="937846"/>
            <a:ext cx="10972800" cy="5449121"/>
          </a:xfrm>
        </p:spPr>
        <p:txBody>
          <a:bodyPr>
            <a:normAutofit fontScale="47500" lnSpcReduction="20000"/>
          </a:bodyPr>
          <a:lstStyle/>
          <a:p>
            <a:pPr marL="109728" indent="0">
              <a:buNone/>
            </a:pPr>
            <a:r>
              <a:rPr lang="en-US" b="1" dirty="0"/>
              <a:t>import twitter4j.*;</a:t>
            </a:r>
          </a:p>
          <a:p>
            <a:pPr marL="109728" indent="0">
              <a:buNone/>
            </a:pPr>
            <a:r>
              <a:rPr lang="en-US" b="1" dirty="0"/>
              <a:t>import </a:t>
            </a:r>
            <a:r>
              <a:rPr lang="en-US" b="1" u="sng" dirty="0"/>
              <a:t>twitter4j.auth.OAuth2Token;</a:t>
            </a:r>
          </a:p>
          <a:p>
            <a:pPr marL="109728" indent="0">
              <a:buNone/>
            </a:pPr>
            <a:r>
              <a:rPr lang="en-US" b="1" dirty="0"/>
              <a:t>import twitter4j.conf.ConfigurationBuilder;</a:t>
            </a:r>
          </a:p>
          <a:p>
            <a:pPr marL="109728" indent="0">
              <a:buNone/>
            </a:pPr>
            <a:r>
              <a:rPr lang="en-US" b="1" dirty="0" smtClean="0"/>
              <a:t>import </a:t>
            </a:r>
            <a:r>
              <a:rPr lang="en-US" b="1" dirty="0" err="1"/>
              <a:t>java.io.BufferedWriter</a:t>
            </a:r>
            <a:r>
              <a:rPr lang="en-US" b="1" dirty="0"/>
              <a:t>;</a:t>
            </a:r>
          </a:p>
          <a:p>
            <a:pPr marL="109728" indent="0">
              <a:buNone/>
            </a:pPr>
            <a:r>
              <a:rPr lang="en-US" b="1" dirty="0"/>
              <a:t>import </a:t>
            </a:r>
            <a:r>
              <a:rPr lang="en-US" b="1" dirty="0" err="1"/>
              <a:t>java.io.FileWriter</a:t>
            </a:r>
            <a:r>
              <a:rPr lang="en-US" b="1" dirty="0"/>
              <a:t>;</a:t>
            </a:r>
          </a:p>
          <a:p>
            <a:pPr marL="109728" indent="0">
              <a:buNone/>
            </a:pPr>
            <a:r>
              <a:rPr lang="en-US" b="1" dirty="0"/>
              <a:t>import </a:t>
            </a:r>
            <a:r>
              <a:rPr lang="en-US" b="1" dirty="0" err="1"/>
              <a:t>java.io.IOException</a:t>
            </a:r>
            <a:r>
              <a:rPr lang="en-US" b="1" dirty="0"/>
              <a:t>;</a:t>
            </a:r>
          </a:p>
          <a:p>
            <a:pPr marL="109728" indent="0">
              <a:buNone/>
            </a:pPr>
            <a:r>
              <a:rPr lang="en-US" b="1" dirty="0"/>
              <a:t>import </a:t>
            </a:r>
            <a:r>
              <a:rPr lang="en-US" b="1" dirty="0" err="1"/>
              <a:t>java.util.List</a:t>
            </a:r>
            <a:r>
              <a:rPr lang="en-US" b="1" dirty="0"/>
              <a:t>;</a:t>
            </a:r>
          </a:p>
          <a:p>
            <a:pPr marL="109728" indent="0">
              <a:buNone/>
            </a:pPr>
            <a:r>
              <a:rPr lang="en-US" b="1" dirty="0"/>
              <a:t>import </a:t>
            </a:r>
            <a:r>
              <a:rPr lang="en-US" b="1" u="sng" dirty="0" err="1"/>
              <a:t>java.util.Map</a:t>
            </a:r>
            <a:r>
              <a:rPr lang="en-US" b="1" u="sng" dirty="0"/>
              <a:t>;</a:t>
            </a:r>
          </a:p>
          <a:p>
            <a:pPr marL="109728" indent="0">
              <a:buNone/>
            </a:pPr>
            <a:endParaRPr lang="en-US" dirty="0"/>
          </a:p>
          <a:p>
            <a:pPr marL="109728" indent="0">
              <a:buNone/>
            </a:pPr>
            <a:r>
              <a:rPr lang="en-US" b="1" dirty="0"/>
              <a:t>public class </a:t>
            </a:r>
            <a:r>
              <a:rPr lang="en-US" b="1" dirty="0" err="1"/>
              <a:t>Buscador</a:t>
            </a:r>
            <a:r>
              <a:rPr lang="en-US" b="1" dirty="0"/>
              <a:t> { </a:t>
            </a:r>
          </a:p>
          <a:p>
            <a:pPr marL="109728" indent="0">
              <a:buNone/>
            </a:pPr>
            <a:r>
              <a:rPr lang="en-US" b="1" dirty="0"/>
              <a:t>public static void main(String [] </a:t>
            </a:r>
            <a:r>
              <a:rPr lang="en-US" b="1" dirty="0" err="1"/>
              <a:t>args</a:t>
            </a:r>
            <a:r>
              <a:rPr lang="en-US" b="1" dirty="0"/>
              <a:t>) throws </a:t>
            </a:r>
            <a:r>
              <a:rPr lang="en-US" b="1" dirty="0" err="1"/>
              <a:t>TwitterException</a:t>
            </a:r>
            <a:r>
              <a:rPr lang="en-US" b="1" dirty="0"/>
              <a:t>, </a:t>
            </a:r>
            <a:r>
              <a:rPr lang="en-US" b="1" dirty="0" err="1"/>
              <a:t>IOException</a:t>
            </a:r>
            <a:r>
              <a:rPr lang="en-US" b="1" dirty="0"/>
              <a:t>{</a:t>
            </a:r>
          </a:p>
          <a:p>
            <a:pPr marL="109728" indent="0">
              <a:buNone/>
            </a:pPr>
            <a:endParaRPr lang="en-US" dirty="0"/>
          </a:p>
          <a:p>
            <a:pPr marL="109728" indent="0">
              <a:buNone/>
            </a:pPr>
            <a:r>
              <a:rPr lang="en-US" dirty="0"/>
              <a:t>    </a:t>
            </a:r>
            <a:r>
              <a:rPr lang="en-US" dirty="0" err="1"/>
              <a:t>ConfigurationBuilder</a:t>
            </a:r>
            <a:r>
              <a:rPr lang="en-US" dirty="0"/>
              <a:t> </a:t>
            </a:r>
            <a:r>
              <a:rPr lang="en-US" dirty="0" err="1"/>
              <a:t>cb</a:t>
            </a:r>
            <a:r>
              <a:rPr lang="en-US" dirty="0"/>
              <a:t> = </a:t>
            </a:r>
            <a:r>
              <a:rPr lang="en-US" b="1" dirty="0"/>
              <a:t>new </a:t>
            </a:r>
            <a:r>
              <a:rPr lang="en-US" b="1" dirty="0" err="1"/>
              <a:t>ConfigurationBuilder</a:t>
            </a:r>
            <a:r>
              <a:rPr lang="en-US" b="1" dirty="0"/>
              <a:t>();</a:t>
            </a:r>
          </a:p>
          <a:p>
            <a:pPr marL="109728" indent="0">
              <a:buNone/>
            </a:pPr>
            <a:r>
              <a:rPr lang="en-US" dirty="0"/>
              <a:t>     </a:t>
            </a:r>
            <a:r>
              <a:rPr lang="en-US" dirty="0" err="1"/>
              <a:t>cb.setDebugEnabled</a:t>
            </a:r>
            <a:r>
              <a:rPr lang="en-US" dirty="0"/>
              <a:t> (</a:t>
            </a:r>
            <a:r>
              <a:rPr lang="en-US" b="1" dirty="0"/>
              <a:t>true)</a:t>
            </a:r>
          </a:p>
          <a:p>
            <a:pPr marL="109728" indent="0">
              <a:buNone/>
            </a:pPr>
            <a:r>
              <a:rPr lang="en-US" dirty="0"/>
              <a:t>       .</a:t>
            </a:r>
            <a:r>
              <a:rPr lang="en-US" dirty="0" err="1"/>
              <a:t>setOAuthConsumerKey</a:t>
            </a:r>
            <a:r>
              <a:rPr lang="en-US" dirty="0"/>
              <a:t> ("ExhS1Ua9U8mDgYOR6vFytEWzw")</a:t>
            </a:r>
          </a:p>
          <a:p>
            <a:pPr marL="109728" indent="0">
              <a:buNone/>
            </a:pPr>
            <a:r>
              <a:rPr lang="en-US" dirty="0"/>
              <a:t>       .</a:t>
            </a:r>
            <a:r>
              <a:rPr lang="en-US" dirty="0" err="1"/>
              <a:t>setOAuthConsumerSecret</a:t>
            </a:r>
            <a:r>
              <a:rPr lang="en-US" dirty="0"/>
              <a:t> ("wfRgBtPLVPcrmuF2I9lk55fkp7hvUr706FdBsi9u1NWnuROy3q")</a:t>
            </a:r>
          </a:p>
          <a:p>
            <a:pPr marL="109728" indent="0">
              <a:buNone/>
            </a:pPr>
            <a:r>
              <a:rPr lang="en-US" dirty="0"/>
              <a:t>       .</a:t>
            </a:r>
            <a:r>
              <a:rPr lang="en-US" dirty="0" err="1"/>
              <a:t>setOAuthAccessToken</a:t>
            </a:r>
            <a:r>
              <a:rPr lang="en-US" dirty="0"/>
              <a:t> ("1047828476626124800-E6Z7c4elvTLVHsSrYdgOYUasSY18d3")</a:t>
            </a:r>
          </a:p>
          <a:p>
            <a:pPr marL="109728" indent="0">
              <a:buNone/>
            </a:pPr>
            <a:r>
              <a:rPr lang="en-US" dirty="0"/>
              <a:t>       .</a:t>
            </a:r>
            <a:r>
              <a:rPr lang="en-US" dirty="0" err="1"/>
              <a:t>setOAuthAccessTokenSecret</a:t>
            </a:r>
            <a:r>
              <a:rPr lang="en-US" dirty="0"/>
              <a:t> ("j8fGHB2E71YvQj3nK8JAI2ZZ4NM3JoXEVg95JHcokjllX");</a:t>
            </a:r>
          </a:p>
          <a:p>
            <a:pPr marL="109728" indent="0">
              <a:buNone/>
            </a:pPr>
            <a:endParaRPr lang="en-US" dirty="0"/>
          </a:p>
          <a:p>
            <a:pPr marL="109728" indent="0">
              <a:buNone/>
            </a:pPr>
            <a:r>
              <a:rPr lang="en-US" dirty="0"/>
              <a:t>    </a:t>
            </a:r>
            <a:r>
              <a:rPr lang="en-US" dirty="0" err="1"/>
              <a:t>TwitterFactory</a:t>
            </a:r>
            <a:r>
              <a:rPr lang="en-US" dirty="0"/>
              <a:t> </a:t>
            </a:r>
            <a:r>
              <a:rPr lang="en-US" dirty="0" err="1"/>
              <a:t>tf</a:t>
            </a:r>
            <a:r>
              <a:rPr lang="en-US" dirty="0"/>
              <a:t> = </a:t>
            </a:r>
            <a:r>
              <a:rPr lang="en-US" b="1" dirty="0"/>
              <a:t>new </a:t>
            </a:r>
            <a:r>
              <a:rPr lang="en-US" b="1" dirty="0" err="1"/>
              <a:t>TwitterFactory</a:t>
            </a:r>
            <a:r>
              <a:rPr lang="en-US" b="1" dirty="0"/>
              <a:t> (</a:t>
            </a:r>
            <a:r>
              <a:rPr lang="en-US" b="1" dirty="0" err="1"/>
              <a:t>cb.build</a:t>
            </a:r>
            <a:r>
              <a:rPr lang="en-US" b="1" dirty="0"/>
              <a:t> ());</a:t>
            </a:r>
          </a:p>
          <a:p>
            <a:pPr marL="109728" indent="0">
              <a:buNone/>
            </a:pPr>
            <a:r>
              <a:rPr lang="en-US" dirty="0"/>
              <a:t>    Twitter </a:t>
            </a:r>
            <a:r>
              <a:rPr lang="en-US" dirty="0" err="1"/>
              <a:t>twitter</a:t>
            </a:r>
            <a:r>
              <a:rPr lang="en-US" dirty="0"/>
              <a:t> = </a:t>
            </a:r>
            <a:r>
              <a:rPr lang="en-US" dirty="0" err="1"/>
              <a:t>tf.getInstance</a:t>
            </a:r>
            <a:r>
              <a:rPr lang="en-US" dirty="0"/>
              <a:t> (); </a:t>
            </a:r>
          </a:p>
          <a:p>
            <a:pPr marL="109728" indent="0">
              <a:buNone/>
            </a:pPr>
            <a:endParaRPr lang="en-US" dirty="0"/>
          </a:p>
          <a:p>
            <a:pPr marL="109728" indent="0">
              <a:buNone/>
            </a:pPr>
            <a:r>
              <a:rPr lang="en-US" dirty="0"/>
              <a:t>    Query </a:t>
            </a:r>
            <a:r>
              <a:rPr lang="en-US" dirty="0" err="1"/>
              <a:t>query</a:t>
            </a:r>
            <a:r>
              <a:rPr lang="en-US" dirty="0"/>
              <a:t> = </a:t>
            </a:r>
            <a:r>
              <a:rPr lang="en-US" b="1" dirty="0"/>
              <a:t>new Query</a:t>
            </a:r>
            <a:r>
              <a:rPr lang="en-US" b="1" dirty="0" smtClean="0"/>
              <a:t>(“</a:t>
            </a:r>
            <a:r>
              <a:rPr lang="en-US" b="1" dirty="0" err="1" smtClean="0"/>
              <a:t>navrathri</a:t>
            </a:r>
            <a:r>
              <a:rPr lang="en-US" b="1" dirty="0" smtClean="0"/>
              <a:t>");</a:t>
            </a:r>
            <a:endParaRPr lang="en-US" b="1" dirty="0"/>
          </a:p>
          <a:p>
            <a:pPr marL="109728" indent="0">
              <a:buNone/>
            </a:pPr>
            <a:r>
              <a:rPr lang="en-US" dirty="0"/>
              <a:t>    </a:t>
            </a:r>
            <a:r>
              <a:rPr lang="en-US" dirty="0" err="1"/>
              <a:t>QueryResult</a:t>
            </a:r>
            <a:r>
              <a:rPr lang="en-US" dirty="0"/>
              <a:t> result = </a:t>
            </a:r>
            <a:r>
              <a:rPr lang="en-US" dirty="0" err="1"/>
              <a:t>twitter.search</a:t>
            </a:r>
            <a:r>
              <a:rPr lang="en-US" dirty="0"/>
              <a:t>(query);</a:t>
            </a:r>
          </a:p>
          <a:p>
            <a:pPr marL="109728" indent="0">
              <a:buNone/>
            </a:pPr>
            <a:endParaRPr lang="en-US" dirty="0"/>
          </a:p>
          <a:p>
            <a:pPr marL="109728" indent="0">
              <a:buNone/>
            </a:pPr>
            <a:r>
              <a:rPr lang="en-US" dirty="0"/>
              <a:t>    </a:t>
            </a:r>
            <a:r>
              <a:rPr lang="en-US" b="1" dirty="0"/>
              <a:t>do{</a:t>
            </a:r>
          </a:p>
          <a:p>
            <a:pPr marL="109728" indent="0">
              <a:buNone/>
            </a:pPr>
            <a:endParaRPr lang="en-US" dirty="0"/>
          </a:p>
        </p:txBody>
      </p:sp>
    </p:spTree>
    <p:extLst>
      <p:ext uri="{BB962C8B-B14F-4D97-AF65-F5344CB8AC3E}">
        <p14:creationId xmlns:p14="http://schemas.microsoft.com/office/powerpoint/2010/main" val="330453086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 calcmode="lin" valueType="num">
                                      <p:cBhvr additive="base">
                                        <p:cTn id="4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 calcmode="lin" valueType="num">
                                      <p:cBhvr additive="base">
                                        <p:cTn id="4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anim calcmode="lin" valueType="num">
                                      <p:cBhvr additive="base">
                                        <p:cTn id="5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anim calcmode="lin" valueType="num">
                                      <p:cBhvr additive="base">
                                        <p:cTn id="5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anim calcmode="lin" valueType="num">
                                      <p:cBhvr additive="base">
                                        <p:cTn id="5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anim calcmode="lin" valueType="num">
                                      <p:cBhvr additive="base">
                                        <p:cTn id="6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anim calcmode="lin" valueType="num">
                                      <p:cBhvr additive="base">
                                        <p:cTn id="6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
                                            <p:txEl>
                                              <p:pRg st="19" end="19"/>
                                            </p:txEl>
                                          </p:spTgt>
                                        </p:tgtEl>
                                        <p:attrNameLst>
                                          <p:attrName>style.visibility</p:attrName>
                                        </p:attrNameLst>
                                      </p:cBhvr>
                                      <p:to>
                                        <p:strVal val="visible"/>
                                      </p:to>
                                    </p:set>
                                    <p:anim calcmode="lin" valueType="num">
                                      <p:cBhvr additive="base">
                                        <p:cTn id="7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
                                            <p:txEl>
                                              <p:pRg st="20" end="20"/>
                                            </p:txEl>
                                          </p:spTgt>
                                        </p:tgtEl>
                                        <p:attrNameLst>
                                          <p:attrName>style.visibility</p:attrName>
                                        </p:attrNameLst>
                                      </p:cBhvr>
                                      <p:to>
                                        <p:strVal val="visible"/>
                                      </p:to>
                                    </p:set>
                                    <p:anim calcmode="lin" valueType="num">
                                      <p:cBhvr additive="base">
                                        <p:cTn id="75"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3">
                                            <p:txEl>
                                              <p:pRg st="22" end="22"/>
                                            </p:txEl>
                                          </p:spTgt>
                                        </p:tgtEl>
                                        <p:attrNameLst>
                                          <p:attrName>style.visibility</p:attrName>
                                        </p:attrNameLst>
                                      </p:cBhvr>
                                      <p:to>
                                        <p:strVal val="visible"/>
                                      </p:to>
                                    </p:set>
                                    <p:anim calcmode="lin" valueType="num">
                                      <p:cBhvr additive="base">
                                        <p:cTn id="79"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22" end="22"/>
                                            </p:txEl>
                                          </p:spTgt>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3">
                                            <p:txEl>
                                              <p:pRg st="23" end="23"/>
                                            </p:txEl>
                                          </p:spTgt>
                                        </p:tgtEl>
                                        <p:attrNameLst>
                                          <p:attrName>style.visibility</p:attrName>
                                        </p:attrNameLst>
                                      </p:cBhvr>
                                      <p:to>
                                        <p:strVal val="visible"/>
                                      </p:to>
                                    </p:set>
                                    <p:anim calcmode="lin" valueType="num">
                                      <p:cBhvr additive="base">
                                        <p:cTn id="83" dur="500" fill="hold"/>
                                        <p:tgtEl>
                                          <p:spTgt spid="3">
                                            <p:txEl>
                                              <p:pRg st="23" end="23"/>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3">
                                            <p:txEl>
                                              <p:pRg st="23" end="23"/>
                                            </p:txEl>
                                          </p:spTgt>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3">
                                            <p:txEl>
                                              <p:pRg st="25" end="25"/>
                                            </p:txEl>
                                          </p:spTgt>
                                        </p:tgtEl>
                                        <p:attrNameLst>
                                          <p:attrName>style.visibility</p:attrName>
                                        </p:attrNameLst>
                                      </p:cBhvr>
                                      <p:to>
                                        <p:strVal val="visible"/>
                                      </p:to>
                                    </p:set>
                                    <p:anim calcmode="lin" valueType="num">
                                      <p:cBhvr additive="base">
                                        <p:cTn id="87" dur="500" fill="hold"/>
                                        <p:tgtEl>
                                          <p:spTgt spid="3">
                                            <p:txEl>
                                              <p:pRg st="25" end="25"/>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3">
                                            <p:txEl>
                                              <p:pRg st="25" end="2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38555"/>
            <a:ext cx="10972800" cy="5931876"/>
          </a:xfrm>
        </p:spPr>
        <p:txBody>
          <a:bodyPr>
            <a:noAutofit/>
          </a:bodyPr>
          <a:lstStyle/>
          <a:p>
            <a:r>
              <a:rPr lang="en-US" sz="1400" dirty="0">
                <a:latin typeface="Arial" pitchFamily="34" charset="0"/>
                <a:cs typeface="Arial" pitchFamily="34" charset="0"/>
              </a:rPr>
              <a:t> </a:t>
            </a:r>
            <a:r>
              <a:rPr lang="en-US" sz="1400" dirty="0" smtClean="0">
                <a:latin typeface="Arial" pitchFamily="34" charset="0"/>
                <a:cs typeface="Arial" pitchFamily="34" charset="0"/>
              </a:rPr>
              <a:t>             List&lt;Status</a:t>
            </a:r>
            <a:r>
              <a:rPr lang="en-US" sz="1400" dirty="0">
                <a:latin typeface="Arial" pitchFamily="34" charset="0"/>
                <a:cs typeface="Arial" pitchFamily="34" charset="0"/>
              </a:rPr>
              <a:t>&gt; tweets = </a:t>
            </a:r>
            <a:r>
              <a:rPr lang="en-US" sz="1400" dirty="0" err="1">
                <a:latin typeface="Arial" pitchFamily="34" charset="0"/>
                <a:cs typeface="Arial" pitchFamily="34" charset="0"/>
              </a:rPr>
              <a:t>result.getTweets</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r>
            <a:br>
              <a:rPr lang="en-US" sz="1400" dirty="0">
                <a:latin typeface="Arial" pitchFamily="34" charset="0"/>
                <a:cs typeface="Arial" pitchFamily="34" charset="0"/>
              </a:rPr>
            </a:br>
            <a:r>
              <a:rPr lang="en-US" sz="1400" dirty="0">
                <a:latin typeface="Arial" pitchFamily="34" charset="0"/>
                <a:cs typeface="Arial" pitchFamily="34" charset="0"/>
              </a:rPr>
              <a:t>              </a:t>
            </a:r>
            <a:r>
              <a:rPr lang="en-US" sz="1400" dirty="0" err="1">
                <a:latin typeface="Arial" pitchFamily="34" charset="0"/>
                <a:cs typeface="Arial" pitchFamily="34" charset="0"/>
              </a:rPr>
              <a:t>StringBuilder</a:t>
            </a:r>
            <a:r>
              <a:rPr lang="en-US" sz="1400" dirty="0">
                <a:latin typeface="Arial" pitchFamily="34" charset="0"/>
                <a:cs typeface="Arial" pitchFamily="34" charset="0"/>
              </a:rPr>
              <a:t> </a:t>
            </a:r>
            <a:r>
              <a:rPr lang="en-US" sz="1400" dirty="0" err="1">
                <a:latin typeface="Arial" pitchFamily="34" charset="0"/>
                <a:cs typeface="Arial" pitchFamily="34" charset="0"/>
              </a:rPr>
              <a:t>sb</a:t>
            </a:r>
            <a:r>
              <a:rPr lang="en-US" sz="1400" dirty="0">
                <a:latin typeface="Arial" pitchFamily="34" charset="0"/>
                <a:cs typeface="Arial" pitchFamily="34" charset="0"/>
              </a:rPr>
              <a:t> = </a:t>
            </a:r>
            <a:r>
              <a:rPr lang="en-US" sz="1400" b="1" dirty="0">
                <a:latin typeface="Arial" pitchFamily="34" charset="0"/>
                <a:cs typeface="Arial" pitchFamily="34" charset="0"/>
              </a:rPr>
              <a:t>new </a:t>
            </a:r>
            <a:r>
              <a:rPr lang="en-US" sz="1400" b="1" dirty="0" err="1">
                <a:latin typeface="Arial" pitchFamily="34" charset="0"/>
                <a:cs typeface="Arial" pitchFamily="34" charset="0"/>
              </a:rPr>
              <a:t>StringBuilder</a:t>
            </a:r>
            <a:r>
              <a:rPr lang="en-US" sz="1400" b="1" dirty="0">
                <a:latin typeface="Arial" pitchFamily="34" charset="0"/>
                <a:cs typeface="Arial" pitchFamily="34" charset="0"/>
              </a:rPr>
              <a:t>();</a:t>
            </a:r>
            <a:br>
              <a:rPr lang="en-US" sz="1400" b="1" dirty="0">
                <a:latin typeface="Arial" pitchFamily="34" charset="0"/>
                <a:cs typeface="Arial" pitchFamily="34" charset="0"/>
              </a:rPr>
            </a:br>
            <a:r>
              <a:rPr lang="en-US" sz="1400" dirty="0">
                <a:latin typeface="Arial" pitchFamily="34" charset="0"/>
                <a:cs typeface="Arial" pitchFamily="34" charset="0"/>
              </a:rPr>
              <a:t>              </a:t>
            </a:r>
            <a:r>
              <a:rPr lang="en-US" sz="1400" b="1" dirty="0">
                <a:latin typeface="Arial" pitchFamily="34" charset="0"/>
                <a:cs typeface="Arial" pitchFamily="34" charset="0"/>
              </a:rPr>
              <a:t>for(Status tweet: tweets){</a:t>
            </a:r>
            <a:br>
              <a:rPr lang="en-US" sz="1400" b="1" dirty="0">
                <a:latin typeface="Arial" pitchFamily="34" charset="0"/>
                <a:cs typeface="Arial" pitchFamily="34" charset="0"/>
              </a:rPr>
            </a:br>
            <a:r>
              <a:rPr lang="en-US" sz="1400" dirty="0">
                <a:latin typeface="Arial" pitchFamily="34" charset="0"/>
                <a:cs typeface="Arial" pitchFamily="34" charset="0"/>
              </a:rPr>
              <a:t>                   </a:t>
            </a:r>
            <a:r>
              <a:rPr lang="en-US" sz="1400" dirty="0" err="1">
                <a:latin typeface="Arial" pitchFamily="34" charset="0"/>
                <a:cs typeface="Arial" pitchFamily="34" charset="0"/>
              </a:rPr>
              <a:t>System.</a:t>
            </a:r>
            <a:r>
              <a:rPr lang="en-US" sz="1400" b="1" i="1" dirty="0" err="1">
                <a:latin typeface="Arial" pitchFamily="34" charset="0"/>
                <a:cs typeface="Arial" pitchFamily="34" charset="0"/>
              </a:rPr>
              <a:t>out.println</a:t>
            </a:r>
            <a:r>
              <a:rPr lang="en-US" sz="1400" b="1" i="1" dirty="0">
                <a:latin typeface="Arial" pitchFamily="34" charset="0"/>
                <a:cs typeface="Arial" pitchFamily="34" charset="0"/>
              </a:rPr>
              <a:t>("User: "+</a:t>
            </a:r>
            <a:r>
              <a:rPr lang="en-US" sz="1400" b="1" i="1" dirty="0" err="1">
                <a:latin typeface="Arial" pitchFamily="34" charset="0"/>
                <a:cs typeface="Arial" pitchFamily="34" charset="0"/>
              </a:rPr>
              <a:t>tweet.getUser</a:t>
            </a:r>
            <a:r>
              <a:rPr lang="en-US" sz="1400" b="1" i="1" dirty="0">
                <a:latin typeface="Arial" pitchFamily="34" charset="0"/>
                <a:cs typeface="Arial" pitchFamily="34" charset="0"/>
              </a:rPr>
              <a:t>().</a:t>
            </a:r>
            <a:r>
              <a:rPr lang="en-US" sz="1400" b="1" i="1" dirty="0" err="1">
                <a:latin typeface="Arial" pitchFamily="34" charset="0"/>
                <a:cs typeface="Arial" pitchFamily="34" charset="0"/>
              </a:rPr>
              <a:t>getScreenName</a:t>
            </a:r>
            <a:r>
              <a:rPr lang="en-US" sz="1400" b="1" i="1" dirty="0">
                <a:latin typeface="Arial" pitchFamily="34" charset="0"/>
                <a:cs typeface="Arial" pitchFamily="34" charset="0"/>
              </a:rPr>
              <a:t>() + " Tweet: "+</a:t>
            </a:r>
            <a:r>
              <a:rPr lang="en-US" sz="1400" b="1" i="1" dirty="0" err="1">
                <a:latin typeface="Arial" pitchFamily="34" charset="0"/>
                <a:cs typeface="Arial" pitchFamily="34" charset="0"/>
              </a:rPr>
              <a:t>tweet.getText</a:t>
            </a:r>
            <a:r>
              <a:rPr lang="en-US" sz="1400" b="1" i="1" dirty="0">
                <a:latin typeface="Arial" pitchFamily="34" charset="0"/>
                <a:cs typeface="Arial" pitchFamily="34" charset="0"/>
              </a:rPr>
              <a:t>());</a:t>
            </a:r>
            <a:br>
              <a:rPr lang="en-US" sz="1400" b="1" i="1" dirty="0">
                <a:latin typeface="Arial" pitchFamily="34" charset="0"/>
                <a:cs typeface="Arial" pitchFamily="34" charset="0"/>
              </a:rPr>
            </a:br>
            <a:r>
              <a:rPr lang="en-US" sz="1400" dirty="0">
                <a:latin typeface="Arial" pitchFamily="34" charset="0"/>
                <a:cs typeface="Arial" pitchFamily="34" charset="0"/>
              </a:rPr>
              <a:t>                   </a:t>
            </a:r>
            <a:r>
              <a:rPr lang="en-US" sz="1400" b="1" dirty="0">
                <a:latin typeface="Arial" pitchFamily="34" charset="0"/>
                <a:cs typeface="Arial" pitchFamily="34" charset="0"/>
              </a:rPr>
              <a:t>try(</a:t>
            </a:r>
            <a:r>
              <a:rPr lang="en-US" sz="1400" b="1" dirty="0" err="1">
                <a:latin typeface="Arial" pitchFamily="34" charset="0"/>
                <a:cs typeface="Arial" pitchFamily="34" charset="0"/>
              </a:rPr>
              <a:t>BufferedWriter</a:t>
            </a:r>
            <a:r>
              <a:rPr lang="en-US" sz="1400" b="1" dirty="0">
                <a:latin typeface="Arial" pitchFamily="34" charset="0"/>
                <a:cs typeface="Arial" pitchFamily="34" charset="0"/>
              </a:rPr>
              <a:t> </a:t>
            </a:r>
            <a:r>
              <a:rPr lang="en-US" sz="1400" b="1" dirty="0" err="1">
                <a:latin typeface="Arial" pitchFamily="34" charset="0"/>
                <a:cs typeface="Arial" pitchFamily="34" charset="0"/>
              </a:rPr>
              <a:t>bw</a:t>
            </a:r>
            <a:r>
              <a:rPr lang="en-US" sz="1400" b="1" dirty="0">
                <a:latin typeface="Arial" pitchFamily="34" charset="0"/>
                <a:cs typeface="Arial" pitchFamily="34" charset="0"/>
              </a:rPr>
              <a:t> = new </a:t>
            </a:r>
            <a:r>
              <a:rPr lang="en-US" sz="1400" b="1" dirty="0" err="1" smtClean="0">
                <a:latin typeface="Arial" pitchFamily="34" charset="0"/>
                <a:cs typeface="Arial" pitchFamily="34" charset="0"/>
              </a:rPr>
              <a:t>BufferedWriter</a:t>
            </a:r>
            <a:r>
              <a:rPr lang="en-US" sz="1400" b="1" dirty="0" smtClean="0">
                <a:latin typeface="Arial" pitchFamily="34" charset="0"/>
                <a:cs typeface="Arial" pitchFamily="34" charset="0"/>
              </a:rPr>
              <a:t>(new </a:t>
            </a:r>
            <a:r>
              <a:rPr lang="en-US" sz="1400" b="1" dirty="0" err="1" smtClean="0">
                <a:latin typeface="Arial" pitchFamily="34" charset="0"/>
                <a:cs typeface="Arial" pitchFamily="34" charset="0"/>
              </a:rPr>
              <a:t>FileWriter</a:t>
            </a:r>
            <a:r>
              <a:rPr lang="en-US" sz="1400" b="1" dirty="0">
                <a:latin typeface="Arial" pitchFamily="34" charset="0"/>
                <a:cs typeface="Arial" pitchFamily="34" charset="0"/>
              </a:rPr>
              <a:t>("C:\\Users\\User\\Desktop\\results4.csv</a:t>
            </a:r>
            <a:r>
              <a:rPr lang="en-US" sz="1400" b="1" dirty="0" smtClean="0">
                <a:latin typeface="Arial" pitchFamily="34" charset="0"/>
                <a:cs typeface="Arial" pitchFamily="34" charset="0"/>
              </a:rPr>
              <a:t>")))</a:t>
            </a:r>
            <a:br>
              <a:rPr lang="en-US" sz="1400" b="1" dirty="0" smtClean="0">
                <a:latin typeface="Arial" pitchFamily="34" charset="0"/>
                <a:cs typeface="Arial" pitchFamily="34" charset="0"/>
              </a:rPr>
            </a:br>
            <a:r>
              <a:rPr lang="en-US" sz="1400" dirty="0" smtClean="0">
                <a:latin typeface="Arial" pitchFamily="34" charset="0"/>
                <a:cs typeface="Arial" pitchFamily="34" charset="0"/>
              </a:rPr>
              <a:t>{</a:t>
            </a:r>
            <a:r>
              <a:rPr lang="en-US" sz="1400" b="1" dirty="0">
                <a:latin typeface="Arial" pitchFamily="34" charset="0"/>
                <a:cs typeface="Arial" pitchFamily="34" charset="0"/>
              </a:rPr>
              <a:t/>
            </a:r>
            <a:br>
              <a:rPr lang="en-US" sz="1400" b="1" dirty="0">
                <a:latin typeface="Arial" pitchFamily="34" charset="0"/>
                <a:cs typeface="Arial" pitchFamily="34" charset="0"/>
              </a:rPr>
            </a:br>
            <a:r>
              <a:rPr lang="en-US" sz="1400" dirty="0">
                <a:latin typeface="Arial" pitchFamily="34" charset="0"/>
                <a:cs typeface="Arial" pitchFamily="34" charset="0"/>
              </a:rPr>
              <a:t>                   String </a:t>
            </a:r>
            <a:r>
              <a:rPr lang="en-US" sz="1400" dirty="0" err="1">
                <a:latin typeface="Arial" pitchFamily="34" charset="0"/>
                <a:cs typeface="Arial" pitchFamily="34" charset="0"/>
              </a:rPr>
              <a:t>tweetText</a:t>
            </a:r>
            <a:r>
              <a:rPr lang="en-US" sz="1400" dirty="0">
                <a:latin typeface="Arial" pitchFamily="34" charset="0"/>
                <a:cs typeface="Arial" pitchFamily="34" charset="0"/>
              </a:rPr>
              <a:t> = </a:t>
            </a:r>
            <a:r>
              <a:rPr lang="en-US" sz="1400" dirty="0" err="1">
                <a:latin typeface="Arial" pitchFamily="34" charset="0"/>
                <a:cs typeface="Arial" pitchFamily="34" charset="0"/>
              </a:rPr>
              <a:t>tweet.getText</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String username = </a:t>
            </a:r>
            <a:r>
              <a:rPr lang="en-US" sz="1400" dirty="0" err="1">
                <a:latin typeface="Arial" pitchFamily="34" charset="0"/>
                <a:cs typeface="Arial" pitchFamily="34" charset="0"/>
              </a:rPr>
              <a:t>tweet.getUser</a:t>
            </a:r>
            <a:r>
              <a:rPr lang="en-US" sz="1400" dirty="0">
                <a:latin typeface="Arial" pitchFamily="34" charset="0"/>
                <a:cs typeface="Arial" pitchFamily="34" charset="0"/>
              </a:rPr>
              <a:t>().</a:t>
            </a:r>
            <a:r>
              <a:rPr lang="en-US" sz="1400" dirty="0" err="1">
                <a:latin typeface="Arial" pitchFamily="34" charset="0"/>
                <a:cs typeface="Arial" pitchFamily="34" charset="0"/>
              </a:rPr>
              <a:t>getScreenName</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t>
            </a:r>
            <a:r>
              <a:rPr lang="en-US" sz="1400" dirty="0" smtClean="0">
                <a:latin typeface="Arial" pitchFamily="34" charset="0"/>
                <a:cs typeface="Arial" pitchFamily="34" charset="0"/>
              </a:rPr>
              <a:t>long </a:t>
            </a:r>
            <a:r>
              <a:rPr lang="en-US" sz="1400" dirty="0" err="1">
                <a:latin typeface="Arial" pitchFamily="34" charset="0"/>
                <a:cs typeface="Arial" pitchFamily="34" charset="0"/>
              </a:rPr>
              <a:t>tweetId</a:t>
            </a:r>
            <a:r>
              <a:rPr lang="en-US" sz="1400" dirty="0">
                <a:latin typeface="Arial" pitchFamily="34" charset="0"/>
                <a:cs typeface="Arial" pitchFamily="34" charset="0"/>
              </a:rPr>
              <a:t> = </a:t>
            </a:r>
            <a:r>
              <a:rPr lang="en-US" sz="1400" dirty="0" err="1">
                <a:latin typeface="Arial" pitchFamily="34" charset="0"/>
                <a:cs typeface="Arial" pitchFamily="34" charset="0"/>
              </a:rPr>
              <a:t>tweet.getId</a:t>
            </a:r>
            <a:r>
              <a:rPr lang="en-US" sz="1400" dirty="0">
                <a:latin typeface="Arial" pitchFamily="34" charset="0"/>
                <a:cs typeface="Arial" pitchFamily="34" charset="0"/>
              </a:rPr>
              <a:t>();</a:t>
            </a:r>
            <a:r>
              <a:rPr lang="en-US" sz="1400" b="1" dirty="0">
                <a:latin typeface="Arial" pitchFamily="34" charset="0"/>
                <a:cs typeface="Arial" pitchFamily="34" charset="0"/>
              </a:rPr>
              <a:t/>
            </a:r>
            <a:br>
              <a:rPr lang="en-US" sz="1400" b="1" dirty="0">
                <a:latin typeface="Arial" pitchFamily="34" charset="0"/>
                <a:cs typeface="Arial" pitchFamily="34" charset="0"/>
              </a:rPr>
            </a:br>
            <a:r>
              <a:rPr lang="en-US" sz="1400" dirty="0">
                <a:latin typeface="Arial" pitchFamily="34" charset="0"/>
                <a:cs typeface="Arial" pitchFamily="34" charset="0"/>
              </a:rPr>
              <a:t>                   </a:t>
            </a:r>
            <a:r>
              <a:rPr lang="en-US" sz="1400" dirty="0" err="1">
                <a:latin typeface="Arial" pitchFamily="34" charset="0"/>
                <a:cs typeface="Arial" pitchFamily="34" charset="0"/>
              </a:rPr>
              <a:t>sb.append</a:t>
            </a:r>
            <a:r>
              <a:rPr lang="en-US" sz="1400" dirty="0">
                <a:latin typeface="Arial" pitchFamily="34" charset="0"/>
                <a:cs typeface="Arial" pitchFamily="34" charset="0"/>
              </a:rPr>
              <a:t>("\n\</a:t>
            </a:r>
            <a:r>
              <a:rPr lang="en-US" sz="1400" dirty="0" err="1">
                <a:latin typeface="Arial" pitchFamily="34" charset="0"/>
                <a:cs typeface="Arial" pitchFamily="34" charset="0"/>
              </a:rPr>
              <a:t>nID</a:t>
            </a:r>
            <a:r>
              <a:rPr lang="en-US" sz="1400" dirty="0">
                <a:latin typeface="Arial" pitchFamily="34" charset="0"/>
                <a:cs typeface="Arial" pitchFamily="34" charset="0"/>
              </a:rPr>
              <a:t>= \n ").append(</a:t>
            </a:r>
            <a:r>
              <a:rPr lang="en-US" sz="1400" dirty="0" err="1">
                <a:latin typeface="Arial" pitchFamily="34" charset="0"/>
                <a:cs typeface="Arial" pitchFamily="34" charset="0"/>
              </a:rPr>
              <a:t>tweetId</a:t>
            </a:r>
            <a:r>
              <a:rPr lang="en-US" sz="1400" dirty="0">
                <a:latin typeface="Arial" pitchFamily="34" charset="0"/>
                <a:cs typeface="Arial" pitchFamily="34" charset="0"/>
              </a:rPr>
              <a:t>).append("\</a:t>
            </a:r>
            <a:r>
              <a:rPr lang="en-US" sz="1400" dirty="0" err="1">
                <a:latin typeface="Arial" pitchFamily="34" charset="0"/>
                <a:cs typeface="Arial" pitchFamily="34" charset="0"/>
              </a:rPr>
              <a:t>nUser</a:t>
            </a:r>
            <a:r>
              <a:rPr lang="en-US" sz="1400" dirty="0">
                <a:latin typeface="Arial" pitchFamily="34" charset="0"/>
                <a:cs typeface="Arial" pitchFamily="34" charset="0"/>
              </a:rPr>
              <a:t>= \n ").append(username).append("\</a:t>
            </a:r>
            <a:r>
              <a:rPr lang="en-US" sz="1400" dirty="0" err="1">
                <a:latin typeface="Arial" pitchFamily="34" charset="0"/>
                <a:cs typeface="Arial" pitchFamily="34" charset="0"/>
              </a:rPr>
              <a:t>nTEXT</a:t>
            </a:r>
            <a:r>
              <a:rPr lang="en-US" sz="1400" dirty="0">
                <a:latin typeface="Arial" pitchFamily="34" charset="0"/>
                <a:cs typeface="Arial" pitchFamily="34" charset="0"/>
              </a:rPr>
              <a:t>= \</a:t>
            </a:r>
            <a:r>
              <a:rPr lang="en-US" sz="1400" dirty="0" smtClean="0">
                <a:latin typeface="Arial" pitchFamily="34" charset="0"/>
                <a:cs typeface="Arial" pitchFamily="34" charset="0"/>
              </a:rPr>
              <a:t>n ").</a:t>
            </a:r>
            <a:r>
              <a:rPr lang="en-US" sz="1400" dirty="0">
                <a:latin typeface="Arial" pitchFamily="34" charset="0"/>
                <a:cs typeface="Arial" pitchFamily="34" charset="0"/>
              </a:rPr>
              <a:t>append(</a:t>
            </a:r>
            <a:r>
              <a:rPr lang="en-US" sz="1400" dirty="0" err="1">
                <a:latin typeface="Arial" pitchFamily="34" charset="0"/>
                <a:cs typeface="Arial" pitchFamily="34" charset="0"/>
              </a:rPr>
              <a:t>tweetText</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r>
            <a:br>
              <a:rPr lang="en-US" sz="1400" dirty="0">
                <a:latin typeface="Arial" pitchFamily="34" charset="0"/>
                <a:cs typeface="Arial" pitchFamily="34" charset="0"/>
              </a:rPr>
            </a:br>
            <a:r>
              <a:rPr lang="en-US" sz="1400" dirty="0">
                <a:latin typeface="Arial" pitchFamily="34" charset="0"/>
                <a:cs typeface="Arial" pitchFamily="34" charset="0"/>
              </a:rPr>
              <a:t>                       String </a:t>
            </a:r>
            <a:r>
              <a:rPr lang="en-US" sz="1400" dirty="0" err="1">
                <a:latin typeface="Arial" pitchFamily="34" charset="0"/>
                <a:cs typeface="Arial" pitchFamily="34" charset="0"/>
              </a:rPr>
              <a:t>csvText</a:t>
            </a:r>
            <a:r>
              <a:rPr lang="en-US" sz="1400" dirty="0">
                <a:latin typeface="Arial" pitchFamily="34" charset="0"/>
                <a:cs typeface="Arial" pitchFamily="34" charset="0"/>
              </a:rPr>
              <a:t> = </a:t>
            </a:r>
            <a:r>
              <a:rPr lang="en-US" sz="1400" dirty="0" err="1">
                <a:latin typeface="Arial" pitchFamily="34" charset="0"/>
                <a:cs typeface="Arial" pitchFamily="34" charset="0"/>
              </a:rPr>
              <a:t>sb.toString</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r>
            <a:br>
              <a:rPr lang="en-US" sz="1400" dirty="0">
                <a:latin typeface="Arial" pitchFamily="34" charset="0"/>
                <a:cs typeface="Arial" pitchFamily="34" charset="0"/>
              </a:rPr>
            </a:br>
            <a:r>
              <a:rPr lang="en-US" sz="1400" dirty="0">
                <a:latin typeface="Arial" pitchFamily="34" charset="0"/>
                <a:cs typeface="Arial" pitchFamily="34" charset="0"/>
              </a:rPr>
              <a:t>                       </a:t>
            </a:r>
            <a:r>
              <a:rPr lang="en-US" sz="1400" dirty="0" err="1">
                <a:latin typeface="Arial" pitchFamily="34" charset="0"/>
                <a:cs typeface="Arial" pitchFamily="34" charset="0"/>
              </a:rPr>
              <a:t>bw.write</a:t>
            </a:r>
            <a:r>
              <a:rPr lang="en-US" sz="1400" dirty="0">
                <a:latin typeface="Arial" pitchFamily="34" charset="0"/>
                <a:cs typeface="Arial" pitchFamily="34" charset="0"/>
              </a:rPr>
              <a:t>(</a:t>
            </a:r>
            <a:r>
              <a:rPr lang="en-US" sz="1400" dirty="0" err="1">
                <a:latin typeface="Arial" pitchFamily="34" charset="0"/>
                <a:cs typeface="Arial" pitchFamily="34" charset="0"/>
              </a:rPr>
              <a:t>csvText</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t>
            </a:r>
            <a:r>
              <a:rPr lang="en-US" sz="1400" dirty="0" err="1">
                <a:latin typeface="Arial" pitchFamily="34" charset="0"/>
                <a:cs typeface="Arial" pitchFamily="34" charset="0"/>
              </a:rPr>
              <a:t>bw.newLine</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r>
            <a:br>
              <a:rPr lang="en-US" sz="1400" dirty="0">
                <a:latin typeface="Arial" pitchFamily="34" charset="0"/>
                <a:cs typeface="Arial" pitchFamily="34" charset="0"/>
              </a:rPr>
            </a:br>
            <a:r>
              <a:rPr lang="en-US" sz="1400" dirty="0">
                <a:latin typeface="Arial" pitchFamily="34" charset="0"/>
                <a:cs typeface="Arial" pitchFamily="34" charset="0"/>
              </a:rPr>
              <a:t>                   }</a:t>
            </a:r>
            <a:br>
              <a:rPr lang="en-US" sz="1400" dirty="0">
                <a:latin typeface="Arial" pitchFamily="34" charset="0"/>
                <a:cs typeface="Arial" pitchFamily="34" charset="0"/>
              </a:rPr>
            </a:br>
            <a:r>
              <a:rPr lang="en-US" sz="1400" dirty="0">
                <a:latin typeface="Arial" pitchFamily="34" charset="0"/>
                <a:cs typeface="Arial" pitchFamily="34" charset="0"/>
              </a:rPr>
              <a:t>              </a:t>
            </a:r>
            <a:r>
              <a:rPr lang="en-US" sz="1400" dirty="0" smtClean="0">
                <a:latin typeface="Arial" pitchFamily="34" charset="0"/>
                <a:cs typeface="Arial" pitchFamily="34" charset="0"/>
              </a:rPr>
              <a:t>}</a:t>
            </a:r>
            <a:r>
              <a:rPr lang="en-US" sz="1400" dirty="0"/>
              <a:t> query = </a:t>
            </a:r>
            <a:r>
              <a:rPr lang="en-US" sz="1400" dirty="0" err="1"/>
              <a:t>result.nextQuery</a:t>
            </a:r>
            <a:r>
              <a:rPr lang="en-US" sz="1400" dirty="0"/>
              <a:t>();</a:t>
            </a:r>
            <a:br>
              <a:rPr lang="en-US" sz="1400" dirty="0"/>
            </a:br>
            <a:r>
              <a:rPr lang="en-US" sz="1400" dirty="0"/>
              <a:t/>
            </a:r>
            <a:br>
              <a:rPr lang="en-US" sz="1400" dirty="0"/>
            </a:br>
            <a:r>
              <a:rPr lang="en-US" sz="1400" dirty="0"/>
              <a:t>              </a:t>
            </a:r>
            <a:r>
              <a:rPr lang="en-US" sz="1400" b="1" dirty="0"/>
              <a:t>if(query!=null)</a:t>
            </a:r>
            <a:br>
              <a:rPr lang="en-US" sz="1400" b="1" dirty="0"/>
            </a:br>
            <a:r>
              <a:rPr lang="en-US" sz="1400" dirty="0"/>
              <a:t>                   result = </a:t>
            </a:r>
            <a:r>
              <a:rPr lang="en-US" sz="1400" dirty="0" err="1"/>
              <a:t>twitter.search</a:t>
            </a:r>
            <a:r>
              <a:rPr lang="en-US" sz="1400" dirty="0"/>
              <a:t>(query);</a:t>
            </a:r>
            <a:br>
              <a:rPr lang="en-US" sz="1400" dirty="0"/>
            </a:br>
            <a:r>
              <a:rPr lang="en-US" sz="1400" dirty="0"/>
              <a:t>    }</a:t>
            </a:r>
            <a:r>
              <a:rPr lang="en-US" sz="1400" b="1" dirty="0"/>
              <a:t>while(query!=null);</a:t>
            </a:r>
            <a:br>
              <a:rPr lang="en-US" sz="1400" b="1" dirty="0"/>
            </a:br>
            <a:r>
              <a:rPr lang="en-US" sz="1400" dirty="0"/>
              <a:t>}</a:t>
            </a:r>
            <a:br>
              <a:rPr lang="en-US" sz="1400" dirty="0"/>
            </a:br>
            <a:r>
              <a:rPr lang="en-US" sz="1400" dirty="0"/>
              <a:t>}</a:t>
            </a:r>
            <a:endParaRPr lang="en-US" sz="1400" dirty="0">
              <a:latin typeface="Arial" pitchFamily="34" charset="0"/>
              <a:cs typeface="Arial" pitchFamily="34" charset="0"/>
            </a:endParaRPr>
          </a:p>
        </p:txBody>
      </p:sp>
    </p:spTree>
    <p:extLst>
      <p:ext uri="{BB962C8B-B14F-4D97-AF65-F5344CB8AC3E}">
        <p14:creationId xmlns:p14="http://schemas.microsoft.com/office/powerpoint/2010/main" val="866607565"/>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265" y="1036759"/>
            <a:ext cx="11107981" cy="51530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207988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 calcmode="lin" valueType="num">
                                      <p:cBhvr additive="base">
                                        <p:cTn id="7" dur="500" fill="hold"/>
                                        <p:tgtEl>
                                          <p:spTgt spid="4099"/>
                                        </p:tgtEl>
                                        <p:attrNameLst>
                                          <p:attrName>ppt_x</p:attrName>
                                        </p:attrNameLst>
                                      </p:cBhvr>
                                      <p:tavLst>
                                        <p:tav tm="0">
                                          <p:val>
                                            <p:strVal val="#ppt_x"/>
                                          </p:val>
                                        </p:tav>
                                        <p:tav tm="100000">
                                          <p:val>
                                            <p:strVal val="#ppt_x"/>
                                          </p:val>
                                        </p:tav>
                                      </p:tavLst>
                                    </p:anim>
                                    <p:anim calcmode="lin" valueType="num">
                                      <p:cBhvr additive="base">
                                        <p:cTn id="8" dur="500" fill="hold"/>
                                        <p:tgtEl>
                                          <p:spTgt spid="40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076" y="867508"/>
            <a:ext cx="9917723" cy="550984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1007460"/>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185" y="416170"/>
            <a:ext cx="10972800" cy="1066800"/>
          </a:xfrm>
        </p:spPr>
        <p:txBody>
          <a:bodyPr/>
          <a:lstStyle/>
          <a:p>
            <a:r>
              <a:rPr lang="en-US" b="1" dirty="0">
                <a:solidFill>
                  <a:schemeClr val="accent6"/>
                </a:solidFill>
                <a:latin typeface="Arial" pitchFamily="34" charset="0"/>
                <a:cs typeface="Arial" pitchFamily="34" charset="0"/>
              </a:rPr>
              <a:t>Applications</a:t>
            </a:r>
          </a:p>
        </p:txBody>
      </p:sp>
      <p:sp>
        <p:nvSpPr>
          <p:cNvPr id="3" name="Content Placeholder 2"/>
          <p:cNvSpPr>
            <a:spLocks noGrp="1"/>
          </p:cNvSpPr>
          <p:nvPr>
            <p:ph idx="1"/>
          </p:nvPr>
        </p:nvSpPr>
        <p:spPr>
          <a:xfrm>
            <a:off x="609600" y="1441939"/>
            <a:ext cx="10972800" cy="5132598"/>
          </a:xfrm>
        </p:spPr>
        <p:txBody>
          <a:bodyPr/>
          <a:lstStyle/>
          <a:p>
            <a:pPr>
              <a:buFont typeface="Wingdings" pitchFamily="2" charset="2"/>
              <a:buChar char="§"/>
            </a:pPr>
            <a:r>
              <a:rPr lang="en-US" b="1" dirty="0"/>
              <a:t>Used in Movie reviews</a:t>
            </a:r>
          </a:p>
          <a:p>
            <a:pPr marL="109728"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2354" y="2198076"/>
            <a:ext cx="6895369" cy="4267200"/>
          </a:xfrm>
          <a:prstGeom prst="rect">
            <a:avLst/>
          </a:prstGeom>
        </p:spPr>
      </p:pic>
    </p:spTree>
    <p:extLst>
      <p:ext uri="{BB962C8B-B14F-4D97-AF65-F5344CB8AC3E}">
        <p14:creationId xmlns:p14="http://schemas.microsoft.com/office/powerpoint/2010/main" val="1810180205"/>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416" y="920262"/>
            <a:ext cx="10972800" cy="1066800"/>
          </a:xfrm>
        </p:spPr>
        <p:txBody>
          <a:bodyPr>
            <a:normAutofit/>
          </a:bodyPr>
          <a:lstStyle/>
          <a:p>
            <a:pPr marL="342900" indent="-342900">
              <a:buFont typeface="Wingdings" pitchFamily="2" charset="2"/>
              <a:buChar char="§"/>
            </a:pPr>
            <a:r>
              <a:rPr lang="en-US" sz="2400" b="1" dirty="0"/>
              <a:t>Knowing public opinion for political leader or their notions about rules and regulations</a:t>
            </a:r>
            <a:endParaRPr lang="en-US" sz="2400"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688123" y="2133600"/>
            <a:ext cx="8686799" cy="4278923"/>
          </a:xfrm>
          <a:prstGeom prst="rect">
            <a:avLst/>
          </a:prstGeom>
        </p:spPr>
      </p:pic>
    </p:spTree>
    <p:extLst>
      <p:ext uri="{BB962C8B-B14F-4D97-AF65-F5344CB8AC3E}">
        <p14:creationId xmlns:p14="http://schemas.microsoft.com/office/powerpoint/2010/main" val="1541537075"/>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030" y="662354"/>
            <a:ext cx="10972800" cy="1066800"/>
          </a:xfrm>
        </p:spPr>
        <p:txBody>
          <a:bodyPr/>
          <a:lstStyle/>
          <a:p>
            <a:r>
              <a:rPr lang="en-US" b="1" dirty="0">
                <a:solidFill>
                  <a:schemeClr val="accent6"/>
                </a:solidFill>
                <a:latin typeface="Arial" pitchFamily="34" charset="0"/>
                <a:cs typeface="Arial" pitchFamily="34" charset="0"/>
              </a:rPr>
              <a:t>Future Work</a:t>
            </a:r>
            <a:endParaRPr lang="en-US"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527538" y="2319762"/>
            <a:ext cx="10972800" cy="4325112"/>
          </a:xfrm>
        </p:spPr>
        <p:txBody>
          <a:bodyPr/>
          <a:lstStyle/>
          <a:p>
            <a:pPr marL="0">
              <a:lnSpc>
                <a:spcPct val="100000"/>
              </a:lnSpc>
            </a:pPr>
            <a:r>
              <a:rPr lang="en-US" spc="10" dirty="0">
                <a:solidFill>
                  <a:srgbClr val="2E2E2E"/>
                </a:solidFill>
                <a:latin typeface="Arial"/>
                <a:cs typeface="Arial"/>
              </a:rPr>
              <a:t>Using different other models and algorithms.</a:t>
            </a:r>
          </a:p>
          <a:p>
            <a:pPr marL="0" indent="0">
              <a:lnSpc>
                <a:spcPct val="100000"/>
              </a:lnSpc>
              <a:buNone/>
            </a:pPr>
            <a:endParaRPr lang="en-US" dirty="0">
              <a:latin typeface="Arial"/>
              <a:cs typeface="Arial"/>
            </a:endParaRPr>
          </a:p>
          <a:p>
            <a:pPr marL="0">
              <a:lnSpc>
                <a:spcPct val="100000"/>
              </a:lnSpc>
            </a:pPr>
            <a:r>
              <a:rPr lang="en-US" spc="10" dirty="0">
                <a:solidFill>
                  <a:srgbClr val="2E2E2E"/>
                </a:solidFill>
                <a:latin typeface="Arial"/>
                <a:cs typeface="Arial"/>
              </a:rPr>
              <a:t>Temporal analysis can be added as a future work in the project.</a:t>
            </a:r>
          </a:p>
          <a:p>
            <a:pPr marL="0" indent="0">
              <a:lnSpc>
                <a:spcPct val="100000"/>
              </a:lnSpc>
              <a:buNone/>
            </a:pPr>
            <a:endParaRPr lang="en-US" dirty="0">
              <a:latin typeface="Arial"/>
              <a:cs typeface="Arial"/>
            </a:endParaRPr>
          </a:p>
          <a:p>
            <a:pPr marL="0">
              <a:lnSpc>
                <a:spcPct val="100000"/>
              </a:lnSpc>
            </a:pPr>
            <a:r>
              <a:rPr lang="en-US" spc="10" dirty="0">
                <a:solidFill>
                  <a:srgbClr val="2E2E2E"/>
                </a:solidFill>
                <a:latin typeface="Arial"/>
                <a:cs typeface="Arial"/>
              </a:rPr>
              <a:t>Consideration of </a:t>
            </a:r>
            <a:r>
              <a:rPr lang="en-US" spc="10" dirty="0" err="1">
                <a:solidFill>
                  <a:srgbClr val="2E2E2E"/>
                </a:solidFill>
                <a:latin typeface="Arial"/>
                <a:cs typeface="Arial"/>
              </a:rPr>
              <a:t>Retweets</a:t>
            </a:r>
            <a:r>
              <a:rPr lang="en-US" spc="10" dirty="0">
                <a:solidFill>
                  <a:srgbClr val="2E2E2E"/>
                </a:solidFill>
                <a:latin typeface="Arial"/>
                <a:cs typeface="Arial"/>
              </a:rPr>
              <a:t> as a factor.</a:t>
            </a:r>
            <a:endParaRPr lang="en-US" dirty="0">
              <a:latin typeface="Arial"/>
              <a:cs typeface="Arial"/>
            </a:endParaRPr>
          </a:p>
          <a:p>
            <a:pPr marL="109728" indent="0">
              <a:buNone/>
            </a:pPr>
            <a:endParaRPr lang="en-US" dirty="0"/>
          </a:p>
        </p:txBody>
      </p:sp>
    </p:spTree>
    <p:extLst>
      <p:ext uri="{BB962C8B-B14F-4D97-AF65-F5344CB8AC3E}">
        <p14:creationId xmlns:p14="http://schemas.microsoft.com/office/powerpoint/2010/main" val="944823732"/>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9675" y="484188"/>
            <a:ext cx="7231063" cy="555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4300180"/>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218</TotalTime>
  <Words>973</Words>
  <Application>Microsoft Office PowerPoint</Application>
  <PresentationFormat>Custom</PresentationFormat>
  <Paragraphs>105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Urban</vt:lpstr>
      <vt:lpstr>Emotion Detection From Tweets And Emoticons</vt:lpstr>
      <vt:lpstr>Abstract</vt:lpstr>
      <vt:lpstr>Problem Statement</vt:lpstr>
      <vt:lpstr>OBJECTIVE </vt:lpstr>
      <vt:lpstr>Objective </vt:lpstr>
      <vt:lpstr>Scope and Motivation </vt:lpstr>
      <vt:lpstr>LITRETURE REVIEW </vt:lpstr>
      <vt:lpstr>LITRETURE REVIEW </vt:lpstr>
      <vt:lpstr>LITRETURE REVIEW </vt:lpstr>
      <vt:lpstr>PROPOSED SYSTEM </vt:lpstr>
      <vt:lpstr>METHODS AND ALGORITHM </vt:lpstr>
      <vt:lpstr>Implementation Details</vt:lpstr>
      <vt:lpstr>PowerPoint Presentation</vt:lpstr>
      <vt:lpstr>              List&lt;Status&gt; tweets = result.getTweets();                StringBuilder sb = new StringBuilder();               for(Status tweet: tweets){                    System.out.println("User: "+tweet.getUser().getScreenName() + " Tweet: "+tweet.getText());                    try(BufferedWriter bw = new BufferedWriter(new FileWriter("C:\\Users\\User\\Desktop\\results4.csv"))) {                    String tweetText = tweet.getText();                    String username = tweet.getUser().getScreenName();                     long tweetId = tweet.getId();                    sb.append("\n\nID= \n ").append(tweetId).append("\nUser= \n ").append(username).append("\nTEXT= \n ").append(tweetText);                         String csvText = sb.toString();                         bw.write(csvText);                        bw.newLine();                     }               } query = result.nextQuery();                if(query!=null)                    result = twitter.search(query);     }while(query!=null); } }</vt:lpstr>
      <vt:lpstr>PowerPoint Presentation</vt:lpstr>
      <vt:lpstr>PowerPoint Presentation</vt:lpstr>
      <vt:lpstr>Applications</vt:lpstr>
      <vt:lpstr>Knowing public opinion for political leader or their notions about rules and regulations</vt:lpstr>
      <vt:lpstr>Future Work</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 Detection From Tweets And Emoticons</dc:title>
  <dc:creator>Sawan Kshatriya</dc:creator>
  <cp:lastModifiedBy>user</cp:lastModifiedBy>
  <cp:revision>25</cp:revision>
  <dcterms:created xsi:type="dcterms:W3CDTF">2018-10-18T12:19:38Z</dcterms:created>
  <dcterms:modified xsi:type="dcterms:W3CDTF">2018-10-18T16:17:37Z</dcterms:modified>
</cp:coreProperties>
</file>