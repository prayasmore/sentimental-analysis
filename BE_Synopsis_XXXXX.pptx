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6" r:id="rId4"/>
    <p:sldId id="258" r:id="rId5"/>
    <p:sldId id="259"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2" autoAdjust="0"/>
    <p:restoredTop sz="94673" autoAdjust="0"/>
  </p:normalViewPr>
  <p:slideViewPr>
    <p:cSldViewPr>
      <p:cViewPr varScale="1">
        <p:scale>
          <a:sx n="83" d="100"/>
          <a:sy n="83" d="100"/>
        </p:scale>
        <p:origin x="-142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9D8865-CF42-433D-B7CF-74EE7FD04E4E}"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10D42-7CDE-4AE3-A1FF-4F2A6F6FE0A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9D8865-CF42-433D-B7CF-74EE7FD04E4E}" type="datetimeFigureOut">
              <a:rPr lang="en-US" smtClean="0"/>
              <a:pPr/>
              <a:t>11/17/2020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D10D42-7CDE-4AE3-A1FF-4F2A6F6FE0A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001156" cy="530914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3019425" algn="l"/>
              </a:tabLst>
            </a:pPr>
            <a:endParaRPr kumimoji="0" lang="en-US" sz="2400" b="0" i="0" u="none" strike="noStrike" cap="none" normalizeH="0" baseline="0" dirty="0" smtClean="0">
              <a:ln>
                <a:noFill/>
              </a:ln>
              <a:solidFill>
                <a:srgbClr val="FF0000"/>
              </a:solidFill>
              <a:effectLst/>
              <a:latin typeface="Arial" pitchFamily="34" charset="0"/>
              <a:ea typeface="Times New Roman" pitchFamily="18" charset="0"/>
              <a:cs typeface="Arial" pitchFamily="34" charset="0"/>
            </a:endParaRPr>
          </a:p>
          <a:p>
            <a:pPr lvl="0" algn="ctr" fontAlgn="base">
              <a:spcBef>
                <a:spcPct val="0"/>
              </a:spcBef>
              <a:spcAft>
                <a:spcPct val="0"/>
              </a:spcAft>
              <a:tabLst>
                <a:tab pos="3019425" algn="l"/>
              </a:tabLst>
            </a:pPr>
            <a:r>
              <a:rPr lang="en-US" sz="3600" b="1" dirty="0" smtClean="0"/>
              <a:t>Emotion detection by tweets and emoticons using machine learning.</a:t>
            </a:r>
            <a:endParaRPr kumimoji="0" lang="en-US" sz="36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endParaRPr kumimoji="0" lang="en-US" sz="13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Submitted in partial fulfillment of the requirements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of the degree of</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Bachelor of Engineering</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by</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lang="en-US" sz="2000" dirty="0" smtClean="0">
                <a:latin typeface="Arial" pitchFamily="34" charset="0"/>
                <a:cs typeface="Arial" pitchFamily="34" charset="0"/>
              </a:rPr>
              <a:t>Rushikesh Kedari (35)</a:t>
            </a: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Abhishek Kshatriya </a:t>
            </a:r>
            <a:r>
              <a:rPr lang="en-US" sz="2000" dirty="0" smtClean="0">
                <a:latin typeface="Arial" pitchFamily="34" charset="0"/>
                <a:cs typeface="Arial" pitchFamily="34" charset="0"/>
              </a:rPr>
              <a:t>(42)</a:t>
            </a: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000" b="0" i="0" u="none" strike="noStrike" cap="none" normalizeH="0" baseline="0" dirty="0" smtClean="0">
                <a:ln>
                  <a:noFill/>
                </a:ln>
                <a:solidFill>
                  <a:schemeClr val="tx1"/>
                </a:solidFill>
                <a:effectLst/>
                <a:latin typeface="Arial" pitchFamily="34" charset="0"/>
                <a:cs typeface="Arial" pitchFamily="34" charset="0"/>
              </a:rPr>
              <a:t>Prayas More (48)</a:t>
            </a: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endParaRPr kumimoji="0" lang="en-US"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0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Supervisor:</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r>
              <a:rPr kumimoji="0" lang="en-US" sz="2000" b="1"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Prof. Renuka Nagpure</a:t>
            </a:r>
            <a:endParaRPr kumimoji="0" lang="en-US" sz="20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301942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025" name="image1.png" descr="https://lh6.googleusercontent.com/ipKKT2BaivQT3vW2R9nnt2gxZJWDLV42uYVBAkjOYL02ukpSCFL2ezWsHoL2XTExuNKmhA8NGuyLSTMTfFzPjdTJbqg_9i6mdIgxwIhE9V9yq2UCUepPFB-XtIryPmQex4Mf3Y2u"/>
          <p:cNvPicPr>
            <a:picLocks noChangeAspect="1" noChangeArrowheads="1"/>
          </p:cNvPicPr>
          <p:nvPr/>
        </p:nvPicPr>
        <p:blipFill>
          <a:blip r:embed="rId2"/>
          <a:srcRect r="79808"/>
          <a:stretch>
            <a:fillRect/>
          </a:stretch>
        </p:blipFill>
        <p:spPr bwMode="auto">
          <a:xfrm>
            <a:off x="4071934" y="5000636"/>
            <a:ext cx="1143008" cy="1030287"/>
          </a:xfrm>
          <a:prstGeom prst="rect">
            <a:avLst/>
          </a:prstGeom>
          <a:noFill/>
        </p:spPr>
      </p:pic>
      <p:sp>
        <p:nvSpPr>
          <p:cNvPr id="1027" name="Rectangle 3"/>
          <p:cNvSpPr>
            <a:spLocks noChangeArrowheads="1"/>
          </p:cNvSpPr>
          <p:nvPr/>
        </p:nvSpPr>
        <p:spPr bwMode="auto">
          <a:xfrm>
            <a:off x="1000100" y="6000768"/>
            <a:ext cx="6786610" cy="8002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ctr"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Department of Information Technology</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Atharva College of Engineering</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Year: 2020-21</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a:ln>
            <a:solidFill>
              <a:schemeClr val="bg1"/>
            </a:solidFill>
          </a:ln>
        </p:spPr>
        <p:txBody>
          <a:bodyPr>
            <a:normAutofit/>
          </a:bodyPr>
          <a:lstStyle/>
          <a:p>
            <a:r>
              <a:rPr lang="en-US" sz="4000" b="1" dirty="0" smtClean="0">
                <a:solidFill>
                  <a:schemeClr val="tx2"/>
                </a:solidFill>
              </a:rPr>
              <a:t>Abstract</a:t>
            </a:r>
            <a:endParaRPr lang="en-US" sz="4000" b="1" dirty="0">
              <a:solidFill>
                <a:schemeClr val="tx2"/>
              </a:solidFill>
            </a:endParaRPr>
          </a:p>
        </p:txBody>
      </p:sp>
      <p:sp>
        <p:nvSpPr>
          <p:cNvPr id="3" name="Content Placeholder 2"/>
          <p:cNvSpPr>
            <a:spLocks noGrp="1"/>
          </p:cNvSpPr>
          <p:nvPr>
            <p:ph idx="1"/>
          </p:nvPr>
        </p:nvSpPr>
        <p:spPr/>
        <p:txBody>
          <a:bodyPr>
            <a:noAutofit/>
          </a:bodyPr>
          <a:lstStyle/>
          <a:p>
            <a:r>
              <a:rPr lang="en-US" sz="2000" dirty="0" smtClean="0"/>
              <a:t>With the rise of social networking epoch, there has been a surge of user generated content. Micro blogging sites have millions of people sharing their thoughts daily because of its characteristics short and simple manner of expression. We propose and investigate a paradigm to mine the sentiment from a popular real-time micro blogging service, Twitter, where users post real time reactions to and opinions about “everything”. So these became an important source for understanding the opinions, views or emotions of people. </a:t>
            </a:r>
          </a:p>
          <a:p>
            <a:r>
              <a:rPr lang="en-US" sz="2000" dirty="0" smtClean="0"/>
              <a:t>We extract data i.e. tweets from Twitter in real time and apply machine learning techniques to convert them into a useful form and then use it for building sentiment classifier. Given a piece of written text, the problem is to categorize the text into one specific sentiment polarity i.e. positive, negative or neutral.</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b="1" dirty="0" smtClean="0">
                <a:solidFill>
                  <a:schemeClr val="tx2"/>
                </a:solidFill>
              </a:rPr>
              <a:t>Problem Statement</a:t>
            </a:r>
            <a:endParaRPr lang="en-US" sz="4000" b="1" dirty="0">
              <a:solidFill>
                <a:schemeClr val="tx2"/>
              </a:solidFill>
            </a:endParaRPr>
          </a:p>
        </p:txBody>
      </p:sp>
      <p:sp>
        <p:nvSpPr>
          <p:cNvPr id="5" name="Content Placeholder 4"/>
          <p:cNvSpPr>
            <a:spLocks noGrp="1"/>
          </p:cNvSpPr>
          <p:nvPr>
            <p:ph idx="1"/>
          </p:nvPr>
        </p:nvSpPr>
        <p:spPr/>
        <p:txBody>
          <a:bodyPr>
            <a:normAutofit/>
          </a:bodyPr>
          <a:lstStyle/>
          <a:p>
            <a:r>
              <a:rPr lang="en-US" altLang="en-US" sz="2400" dirty="0" smtClean="0"/>
              <a:t>Despite the availability of software to extract data regarding a person’s sentiment on a specific product or service, organizations still face issue regarding the data extraction. With the rapid growth of www, people are using social media such as twitter which generate big volume of opinion texts in the form of tweets which is available for the sentiment analysis. Also prediction of long statements and slang’s are difficult to predict.</a:t>
            </a:r>
          </a:p>
          <a:p>
            <a:r>
              <a:rPr lang="en-US" altLang="en-US" sz="2400" dirty="0" smtClean="0"/>
              <a:t>To overcome this problems we can develop a system using RNN-LSTM which can predict these tweets more accurately and can over perform the traditional models.</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142852"/>
            <a:ext cx="8429684" cy="1071570"/>
          </a:xfrm>
          <a:solidFill>
            <a:schemeClr val="bg1"/>
          </a:solidFill>
          <a:ln>
            <a:solidFill>
              <a:schemeClr val="bg1"/>
            </a:solidFill>
          </a:ln>
        </p:spPr>
        <p:txBody>
          <a:bodyPr>
            <a:normAutofit/>
          </a:bodyPr>
          <a:lstStyle/>
          <a:p>
            <a:r>
              <a:rPr lang="en-US" sz="4000" b="1" i="0" u="none" dirty="0" smtClean="0">
                <a:solidFill>
                  <a:schemeClr val="tx2"/>
                </a:solidFill>
                <a:latin typeface="Libre Franklin" panose="00000500000000000000"/>
                <a:ea typeface="Libre Franklin" panose="00000500000000000000"/>
                <a:cs typeface="Libre Franklin" panose="00000500000000000000"/>
                <a:sym typeface="Libre Franklin" panose="00000500000000000000"/>
              </a:rPr>
              <a:t>Review of literature</a:t>
            </a:r>
            <a:endParaRPr lang="en-US" sz="4000" b="1" dirty="0">
              <a:solidFill>
                <a:schemeClr val="tx2"/>
              </a:solidFill>
            </a:endParaRPr>
          </a:p>
        </p:txBody>
      </p:sp>
      <p:graphicFrame>
        <p:nvGraphicFramePr>
          <p:cNvPr id="4" name="Content Placeholder 3"/>
          <p:cNvGraphicFramePr>
            <a:graphicFrameLocks noGrp="1"/>
          </p:cNvGraphicFramePr>
          <p:nvPr>
            <p:ph idx="1"/>
          </p:nvPr>
        </p:nvGraphicFramePr>
        <p:xfrm>
          <a:off x="357158" y="1357299"/>
          <a:ext cx="8501121" cy="5225589"/>
        </p:xfrm>
        <a:graphic>
          <a:graphicData uri="http://schemas.openxmlformats.org/drawingml/2006/table">
            <a:tbl>
              <a:tblPr firstRow="1" bandRow="1">
                <a:tableStyleId>{5C22544A-7EE6-4342-B048-85BDC9FD1C3A}</a:tableStyleId>
              </a:tblPr>
              <a:tblGrid>
                <a:gridCol w="2125281"/>
                <a:gridCol w="2058865"/>
                <a:gridCol w="1195478"/>
                <a:gridCol w="3121497"/>
              </a:tblGrid>
              <a:tr h="629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Name of</a:t>
                      </a:r>
                      <a:r>
                        <a:rPr lang="en-US" sz="1800" baseline="0" dirty="0" smtClean="0"/>
                        <a:t> the paper</a:t>
                      </a:r>
                      <a:endParaRPr lang="en-US" sz="1800" dirty="0" smtClean="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Authors</a:t>
                      </a:r>
                    </a:p>
                    <a:p>
                      <a:endParaRPr lang="en-US" dirty="0"/>
                    </a:p>
                  </a:txBody>
                  <a:tcPr/>
                </a:tc>
                <a:tc>
                  <a:txBody>
                    <a:bodyPr/>
                    <a:lstStyle/>
                    <a:p>
                      <a:r>
                        <a:rPr lang="en-US" dirty="0" smtClean="0"/>
                        <a:t>Year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Description</a:t>
                      </a:r>
                    </a:p>
                    <a:p>
                      <a:endParaRPr lang="en-US" dirty="0"/>
                    </a:p>
                  </a:txBody>
                  <a:tcPr/>
                </a:tc>
              </a:tr>
              <a:tr h="23954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kern="1200" baseline="0" dirty="0" smtClean="0"/>
                        <a:t>Sentiment Analysis with Long Short-Term Memory networks</a:t>
                      </a:r>
                      <a:endParaRPr kumimoji="0" lang="en-US" sz="1800" b="1" i="0" u="none" strike="noStrike" kern="1200" baseline="0" dirty="0" smtClean="0">
                        <a:solidFill>
                          <a:schemeClr val="dk1"/>
                        </a:solidFill>
                        <a:latin typeface="+mn-lt"/>
                        <a:ea typeface="+mn-ea"/>
                        <a:cs typeface="+mn-cs"/>
                      </a:endParaRP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kern="1200" baseline="0" dirty="0" smtClean="0"/>
                        <a:t>Prof. Fenna Miedema, Dr.Sandjai Bhulai</a:t>
                      </a:r>
                      <a:endParaRPr kumimoji="0" lang="en-US" sz="1800" b="0" i="0" u="none" strike="noStrike" kern="1200" baseline="0" dirty="0" smtClean="0">
                        <a:solidFill>
                          <a:schemeClr val="dk1"/>
                        </a:solidFill>
                        <a:latin typeface="+mn-lt"/>
                        <a:ea typeface="+mn-ea"/>
                        <a:cs typeface="+mn-cs"/>
                      </a:endParaRPr>
                    </a:p>
                    <a:p>
                      <a:endParaRPr lang="en-US" dirty="0"/>
                    </a:p>
                  </a:txBody>
                  <a:tcPr/>
                </a:tc>
                <a:tc>
                  <a:txBody>
                    <a:bodyPr/>
                    <a:lstStyle/>
                    <a:p>
                      <a:r>
                        <a:rPr lang="en-US" dirty="0" smtClean="0"/>
                        <a:t>2018</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kern="1200" baseline="0" dirty="0" smtClean="0"/>
                        <a:t>Here RNN-LSTM are used for sentiment analysis. The goal of these research is to find out why these models works well for sentiment analysis.</a:t>
                      </a:r>
                    </a:p>
                    <a:p>
                      <a:endParaRPr lang="en-US" dirty="0"/>
                    </a:p>
                  </a:txBody>
                  <a:tcPr/>
                </a:tc>
              </a:tr>
              <a:tr h="2190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kern="1200" baseline="0" dirty="0" smtClean="0"/>
                        <a:t>Analyzing and predicting the US Midterm Elections on Twitter with Recurrent Neural Network</a:t>
                      </a:r>
                      <a:endParaRPr lang="en-US" sz="1800" dirty="0" smtClean="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kern="1200" baseline="0" dirty="0" smtClean="0"/>
                        <a:t>Antinio Lopardo, Marco Brambilla</a:t>
                      </a:r>
                      <a:endParaRPr lang="en-US" sz="1800" dirty="0" smtClean="0"/>
                    </a:p>
                    <a:p>
                      <a:endParaRPr lang="en-US" dirty="0"/>
                    </a:p>
                  </a:txBody>
                  <a:tcPr/>
                </a:tc>
                <a:tc>
                  <a:txBody>
                    <a:bodyPr/>
                    <a:lstStyle/>
                    <a:p>
                      <a:r>
                        <a:rPr lang="en-US" dirty="0" smtClean="0"/>
                        <a:t>2018</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This paper shows local support for two major US political parties. The method was able to predict the correct winner on 60%.</a:t>
                      </a:r>
                    </a:p>
                    <a:p>
                      <a:endParaRPr 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42908" y="1285861"/>
          <a:ext cx="7786744" cy="4143403"/>
        </p:xfrm>
        <a:graphic>
          <a:graphicData uri="http://schemas.openxmlformats.org/drawingml/2006/table">
            <a:tbl>
              <a:tblPr firstRow="1" bandRow="1">
                <a:tableStyleId>{5C22544A-7EE6-4342-B048-85BDC9FD1C3A}</a:tableStyleId>
              </a:tblPr>
              <a:tblGrid>
                <a:gridCol w="2000266"/>
                <a:gridCol w="1714512"/>
                <a:gridCol w="1071570"/>
                <a:gridCol w="3000396"/>
              </a:tblGrid>
              <a:tr h="85885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Name of</a:t>
                      </a:r>
                      <a:r>
                        <a:rPr lang="en-US" sz="1800" baseline="0" dirty="0" smtClean="0"/>
                        <a:t> the paper</a:t>
                      </a:r>
                      <a:endParaRPr lang="en-US" sz="1800" dirty="0" smtClean="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Authors</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Year</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Description</a:t>
                      </a:r>
                    </a:p>
                    <a:p>
                      <a:endParaRPr lang="en-US" dirty="0"/>
                    </a:p>
                  </a:txBody>
                  <a:tcPr/>
                </a:tc>
              </a:tr>
              <a:tr h="3284552">
                <a:tc>
                  <a:txBody>
                    <a:bodyPr/>
                    <a:lstStyle/>
                    <a:p>
                      <a:r>
                        <a:rPr lang="en-US" dirty="0" smtClean="0"/>
                        <a:t>Sentimental</a:t>
                      </a:r>
                      <a:r>
                        <a:rPr lang="en-US" baseline="0" dirty="0" smtClean="0"/>
                        <a:t> Analysis With Recurrent Neural Network And Unsupervised Neural Language Model</a:t>
                      </a:r>
                      <a:endParaRPr lang="en-US" dirty="0"/>
                    </a:p>
                  </a:txBody>
                  <a:tcPr/>
                </a:tc>
                <a:tc>
                  <a:txBody>
                    <a:bodyPr/>
                    <a:lstStyle/>
                    <a:p>
                      <a:r>
                        <a:rPr lang="en-US" dirty="0" smtClean="0"/>
                        <a:t>Ph.D. Abdalraouf Hassan, Ausif Mahmood</a:t>
                      </a:r>
                      <a:endParaRPr lang="en-US" dirty="0"/>
                    </a:p>
                  </a:txBody>
                  <a:tcPr/>
                </a:tc>
                <a:tc>
                  <a:txBody>
                    <a:bodyPr/>
                    <a:lstStyle/>
                    <a:p>
                      <a:r>
                        <a:rPr lang="en-US" dirty="0" smtClean="0"/>
                        <a:t>2017</a:t>
                      </a:r>
                      <a:endParaRPr lang="en-US" dirty="0"/>
                    </a:p>
                  </a:txBody>
                  <a:tcPr/>
                </a:tc>
                <a:tc>
                  <a:txBody>
                    <a:bodyPr/>
                    <a:lstStyle/>
                    <a:p>
                      <a:r>
                        <a:rPr lang="en-US" dirty="0" smtClean="0"/>
                        <a:t>Our model employs Recurrent</a:t>
                      </a:r>
                      <a:r>
                        <a:rPr lang="en-US" baseline="0" dirty="0" smtClean="0"/>
                        <a:t> Neural Network Long Short-Term Memory (RNN-LSTM). This model has an extra feature with RNN-LSTM for Natural Language Processing(NLP) system can increase the performance of the system</a:t>
                      </a:r>
                      <a:endParaRPr lang="en-US"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US" sz="4000" b="1" dirty="0" smtClean="0">
                <a:solidFill>
                  <a:schemeClr val="tx2"/>
                </a:solidFill>
              </a:rPr>
              <a:t>Description</a:t>
            </a:r>
            <a:endParaRPr lang="en-US" sz="4000" b="1" dirty="0">
              <a:solidFill>
                <a:schemeClr val="tx2"/>
              </a:solidFill>
            </a:endParaRPr>
          </a:p>
        </p:txBody>
      </p:sp>
      <p:sp>
        <p:nvSpPr>
          <p:cNvPr id="3" name="Content Placeholder 2"/>
          <p:cNvSpPr>
            <a:spLocks noGrp="1"/>
          </p:cNvSpPr>
          <p:nvPr>
            <p:ph idx="1"/>
          </p:nvPr>
        </p:nvSpPr>
        <p:spPr>
          <a:xfrm>
            <a:off x="214282" y="1285860"/>
            <a:ext cx="8715436" cy="5429288"/>
          </a:xfrm>
        </p:spPr>
        <p:txBody>
          <a:bodyPr anchor="ctr" anchorCtr="1">
            <a:normAutofit lnSpcReduction="10000"/>
          </a:bodyPr>
          <a:lstStyle/>
          <a:p>
            <a:r>
              <a:rPr lang="en-US" sz="2400" dirty="0" smtClean="0"/>
              <a:t>Micro blogging websites have evolved to became a source of varied kind of information. This is due to nature of micro blogs on which people post real time messages about their opinions on a variety of topics, discuss current issues, to complain, and express positive sentiment for products they use in daily life. In fact, companies manufacturing such products have started to poll these micro blogs to get a sense of general sentiment for their product.</a:t>
            </a:r>
          </a:p>
          <a:p>
            <a:r>
              <a:rPr lang="en-US" sz="2400" dirty="0" smtClean="0"/>
              <a:t> Many time these companies study user reactions and reply to users on micro blogs. Our project analyzes tweets by people on certain products of companies or brands or performed by political leaders. In order to do this, we analyzed tweets from Twitter. Tweets are a reliable source of information mainly because people tweet about anything and everything they do including buying new products and reviewing them.   </a:t>
            </a:r>
            <a:endParaRPr 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621</Words>
  <Application>Microsoft Office PowerPoint</Application>
  <PresentationFormat>On-screen Show (4:3)</PresentationFormat>
  <Paragraphs>46</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Abstract</vt:lpstr>
      <vt:lpstr>Problem Statement</vt:lpstr>
      <vt:lpstr>Review of literature</vt:lpstr>
      <vt:lpstr>Slide 5</vt:lpstr>
      <vt:lpstr>Description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sedboi</dc:creator>
  <cp:lastModifiedBy>sedboi</cp:lastModifiedBy>
  <cp:revision>2</cp:revision>
  <dcterms:created xsi:type="dcterms:W3CDTF">2020-11-16T15:26:46Z</dcterms:created>
  <dcterms:modified xsi:type="dcterms:W3CDTF">2020-11-17T06:07:01Z</dcterms:modified>
</cp:coreProperties>
</file>